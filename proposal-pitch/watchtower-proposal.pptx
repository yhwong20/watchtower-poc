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8abd375-3333-3a41-0a2a-da8306d9f45d}">
          <p14:sldIdLst>
            <p14:sldId id="256"/>
            <p14:sldId id="257"/>
          </p14:sldIdLst>
        </p14:section>
        <p14:section name="Background" id="{9f0738a5-a2c7-1718-1358-39d504be1ed4}">
          <p14:sldIdLst>
            <p14:sldId id="258"/>
            <p14:sldId id="259"/>
          </p14:sldIdLst>
        </p14:section>
        <p14:section name="Problem and solution" id="{3a7109aa-8066-5bbd-3691-0e70a6474ee3}">
          <p14:sldIdLst>
            <p14:sldId id="260"/>
            <p14:sldId id="261"/>
          </p14:sldIdLst>
        </p14:section>
        <p14:section name="How it works" id="{3d9a9568-81fc-f507-ab2b-aa8addc1a1bd}">
          <p14:sldIdLst>
            <p14:sldId id="262"/>
            <p14:sldId id="263"/>
            <p14:sldId id="264"/>
            <p14:sldId id="265"/>
            <p14:sldId id="266"/>
            <p14:sldId id="269"/>
          </p14:sldIdLst>
        </p14:section>
        <p14:section name="Demo modes" id="{6f3aacaf-2aff-e77f-761a-79682f8dc177}">
          <p14:sldIdLst>
            <p14:sldId id="267"/>
            <p14:sldId id="268"/>
          </p14:sldIdLst>
        </p14:section>
        <p14:section name="How it works" id="{72a46d58-171a-1408-c352-8a7f0fd9987a}">
          <p14:sldIdLst/>
        </p14:section>
        <p14:section name="Landscape" id="{31e0eb68-1524-cb56-a180-82e2979be1ab}">
          <p14:sldIdLst>
            <p14:sldId id="270"/>
          </p14:sldIdLst>
        </p14:section>
        <p14:section name="Builders Day PoC" id="{da2b8715-c924-fc55-4d64-6577b0981a95}">
          <p14:sldIdLst>
            <p14:sldId id="271"/>
            <p14:sldId id="272"/>
            <p14:sldId id="273"/>
            <p14:sldId id="274"/>
          </p14:sldIdLst>
        </p14:section>
        <p14:section name="Next steps" id="{af3dcab9-00e2-4c80-dcab-000a3b23bb47}">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WatchTower does not replace our monitoring tools. It sits above them and helps the people who watch them: it spots issues that are building up, investigates alarms, explains the likely cause with evidence, and tells the SRE what to check next and who to escalate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positioning to land early. The value is in the minutes after something looks odd: pulling evidence from several tools, joining it up, deciding what it means and who to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tool is good inside its own domain. The incidents we care about cross domains: a congested switch port shows up as an unhealthy OpenShift master.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Inferred from the description and OpenShift's default timings (Red Hat worker latency profiles: 10 s status updates, 40 s grace period, 300 s eviction toleration). To confirm against the real incident: the NodeNotReady/NodeReady event times, the node's boot ID before and after, static pod restart counts, and switch drops on the master's port at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out. Everything after this slide answers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one-line architecture: existing tools observe, domain agents investigate, the parent agent connects the dots, WatchTower explains and guides the SRE.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agents query the existing tools first and probe devices only when they need live state. They publish signals to the Parent Agent and answer its evidence requests. The Parent Agent correlates, runs playbooks and scores hypotheses. The Copilot is where the SRE sees watch items and investigations, and asks questions. Everything shares the on-prem Gemma, the playbooks, the escalation matrix, the topology map and an evidence store with a full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principles from the refinement brief. They are also what gets this through security review: read-only, auditable, on-prem model, no new data collection where a tool already has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rulebook for this lives in the PoC kit as contracts/sources.yaml. Probes are capped at three per investigation and rate-limited per device. Reboot and restart checks use the kubelet's Rebooted and Starting events and pod restart events in Splunk, so the OpenShift API is only a fallback when Splunk has a gap. The only probe the node-flap playbook expects is per-queue drops on the switch, which SolarWinds does not poll (unless CBQoS polling is enabled, in which case that is reused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in: proactive watch enters at Detect from weak signals; incident investigation enters at Diagnose when an SRE asks about an alarm. The top row is plain code; the bottom row is where the on-prem Gemma helps. The evidence chain at the bottom is the master-2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Values are the wireframe example, not measured results. The point is that an SRE can see why WatchTower ranked one cause over another, and that a weaker model cannot talk the ranking into something the evidence does not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 and correlate an emerging issue before major service impact. Neither tool would alert: the port averages 46% and the timeouts are a log pattern nobody searches for. Together, and joined by the topology map, they tell a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human SRE asks WatchTower to investigate an alarm. WatchTower picks the node-flap playbook, tasks both domain agents, and answers with the likely cause, the evidence, and what to do next. It does not fix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8 GB demo Mac the PoC uses gemma3:1b (gemma3:4b on a 16 GB machine): same family and far smaller, a harsher test. If a small one copes with these narrow jobs, the on-prem one should. The demo also works with the model switched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are in the Word document. Check Lightspeed's disconnected-mode support against our OCP version; it could complement the OpenShift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kind with three control-plane nodes stands in for OpenShift, so the kubernetes Service really spreads calls across three API servers, which is what the incident needs. Small simulators stand in for the Cisco switches, Splunk and SolarWinds; the agents talk to them through the real API shapes (SPL search, SWIS/SWQL), so pointing at the real tools later is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M2 has no nested virtualisation (Apple added it from M3), so VM-based Cisco images are out. Simulators behave like the real CLI and APIs and are reliable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Presenting: slides and wireframes first, then the replay; finish live if the Mac is behaving. A short version shows only Mode 2 (flap after about 3 minutes). The build is eight phases with a master prompt and four Claude Code skills in the PoC 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Commit after every phase. Record a clean run the evening before so the replay can carry the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no dates beyond the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real risk is trust: if the first watch items are noisy or the first explanations wrong, the team will ignore it. Hence evidence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 open items blocks the PoC; they shape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4630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474720"/>
            <a:ext cx="10698480" cy="2194560"/>
          </a:xfrm>
          <a:prstGeom prst="rect">
            <a:avLst/>
          </a:prstGeom>
          <a:noFill/>
          <a:ln/>
        </p:spPr>
        <p:txBody>
          <a:bodyPr wrap="square" rtlCol="0"/>
          <a:lstStyle>
            <a:lvl1pPr indent="0" marL="0">
              <a:buNone/>
              <a:defRPr lang="en-US" sz="2200" dirty="0">
                <a:solidFill>
                  <a:schemeClr val="accent5"/>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LIS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10698480" cy="10058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1920240"/>
            <a:ext cx="10698480" cy="4206240"/>
          </a:xfrm>
          <a:prstGeom prst="rect">
            <a:avLst/>
          </a:prstGeom>
          <a:noFill/>
          <a:ln/>
        </p:spPr>
        <p:txBody>
          <a:bodyPr wrap="square" rtlCol="0"/>
          <a:lstStyle>
            <a:lvl1pPr indent="0" marL="0">
              <a:buNone/>
              <a:defRPr lang="en-US" sz="2200" dirty="0">
                <a:solidFill>
                  <a:schemeClr val="bg1"/>
                </a:solidFill>
              </a:defRPr>
            </a:lvl1pPr>
          </a:lstStyle>
          <a:p>
            <a:pPr indent="0" marL="0">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WatchTower  ·  ICI Builders Day</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463040"/>
          </a:xfrm>
          <a:prstGeom prst="rect">
            <a:avLst/>
          </a:prstGeom>
          <a:noFill/>
          <a:ln/>
        </p:spPr>
        <p:txBody>
          <a:bodyPr wrap="square" lIns="0" tIns="0" rIns="0" bIns="0" rtlCol="0" anchor="b"/>
          <a:lstStyle/>
          <a:p>
            <a:pPr algn="l" indent="0" marL="0">
              <a:buNone/>
            </a:pPr>
            <a:r>
              <a:rPr lang="en-US" sz="4800" b="1" dirty="0">
                <a:solidFill>
                  <a:schemeClr val="bg1"/>
                </a:solidFill>
              </a:rPr>
              <a:t>WatchTower</a:t>
            </a:r>
            <a:endParaRPr lang="en-US" sz="4800" dirty="0"/>
          </a:p>
        </p:txBody>
      </p:sp>
      <p:sp>
        <p:nvSpPr>
          <p:cNvPr id="3" name="Text 0"/>
          <p:cNvSpPr/>
          <p:nvPr>
            <p:ph idx="101" type="body" hasCustomPrompt="1"/>
          </p:nvPr>
        </p:nvSpPr>
        <p:spPr>
          <a:xfrm>
            <a:off x="731520" y="3474720"/>
            <a:ext cx="10698480" cy="2194560"/>
          </a:xfrm>
          <a:prstGeom prst="rect">
            <a:avLst/>
          </a:prstGeom>
          <a:noFill/>
          <a:ln/>
        </p:spPr>
        <p:txBody>
          <a:bodyPr wrap="square" lIns="0" tIns="0" rIns="0" bIns="0" rtlCol="0" anchor="t"/>
          <a:lstStyle/>
          <a:p>
            <a:pPr indent="0" marL="0">
              <a:buNone/>
            </a:pPr>
            <a:r>
              <a:rPr lang="en-US" sz="2600" dirty="0">
                <a:solidFill>
                  <a:schemeClr val="bg1"/>
                </a:solidFill>
              </a:rPr>
              <a:t>An AI operations copilot for the 24/7 monitoring team</a:t>
            </a:r>
            <a:endParaRPr lang="en-US" sz="2200" dirty="0"/>
          </a:p>
          <a:p>
            <a:pPr indent="0" marL="0">
              <a:buNone/>
            </a:pPr>
            <a:r>
              <a:rPr lang="en-US" sz="2200" dirty="0">
                <a:solidFill>
                  <a:schemeClr val="accent5"/>
                </a:solidFill>
              </a:rPr>
              <a:t>Sits above SolarWinds and Splunk  ·  Cisco and OpenShift first</a:t>
            </a:r>
            <a:endParaRPr lang="en-US" sz="2200" dirty="0"/>
          </a:p>
          <a:p>
            <a:pPr indent="0" marL="0">
              <a:buNone/>
            </a:pPr>
            <a:r>
              <a:rPr lang="en-US" sz="1600" dirty="0">
                <a:solidFill>
                  <a:schemeClr val="tx2"/>
                </a:solidFill>
              </a:rPr>
              <a:t>ICI Builders Day proposal  ·  October 2026  ·  Draft 3</a:t>
            </a:r>
            <a:endParaRPr lang="en-US" sz="2200" dirty="0"/>
          </a:p>
        </p:txBody>
      </p:sp>
      <p:sp>
        <p:nvSpPr>
          <p:cNvPr id="4" name="Shape 2"/>
          <p:cNvSpPr/>
          <p:nvPr/>
        </p:nvSpPr>
        <p:spPr>
          <a:xfrm>
            <a:off x="731520" y="1188720"/>
            <a:ext cx="320040" cy="320040"/>
          </a:xfrm>
          <a:prstGeom prst="ellipse">
            <a:avLst/>
          </a:prstGeom>
          <a:solidFill>
            <a:schemeClr val="accent1"/>
          </a:solidFill>
          <a:ln w="12700">
            <a:solidFill>
              <a:schemeClr val="accent1"/>
            </a:solidFill>
            <a:prstDash val="solid"/>
          </a:ln>
        </p:spPr>
      </p:sp>
      <p:sp>
        <p:nvSpPr>
          <p:cNvPr id="5" name="Text 3"/>
          <p:cNvSpPr txBox="1"/>
          <p:nvPr/>
        </p:nvSpPr>
        <p:spPr>
          <a:xfrm>
            <a:off x="731520" y="1188720"/>
            <a:ext cx="320040" cy="320040"/>
          </a:xfrm>
          <a:prstGeom prst="rect">
            <a:avLst/>
          </a:prstGeom>
          <a:noFill/>
          <a:ln/>
        </p:spPr>
        <p:txBody>
          <a:bodyPr wrap="square" lIns="0" tIns="0" rIns="0" bIns="0" rtlCol="0" anchor="ctr"/>
          <a:lstStyle/>
          <a:p>
            <a:pPr algn="ctr" indent="0" marL="0">
              <a:buNone/>
            </a:pPr>
            <a:endParaRPr lang="en-US" sz="1800" dirty="0"/>
          </a:p>
        </p:txBody>
      </p:sp>
      <p:sp>
        <p:nvSpPr>
          <p:cNvPr id="6" name="Shape 4"/>
          <p:cNvSpPr/>
          <p:nvPr/>
        </p:nvSpPr>
        <p:spPr>
          <a:xfrm>
            <a:off x="1143000" y="1188720"/>
            <a:ext cx="320040" cy="320040"/>
          </a:xfrm>
          <a:prstGeom prst="ellipse">
            <a:avLst/>
          </a:prstGeom>
          <a:solidFill>
            <a:schemeClr val="accent2"/>
          </a:solidFill>
          <a:ln w="12700">
            <a:solidFill>
              <a:schemeClr val="accent2"/>
            </a:solidFill>
            <a:prstDash val="solid"/>
          </a:ln>
        </p:spPr>
      </p:sp>
      <p:sp>
        <p:nvSpPr>
          <p:cNvPr id="7" name="Text 5"/>
          <p:cNvSpPr txBox="1"/>
          <p:nvPr/>
        </p:nvSpPr>
        <p:spPr>
          <a:xfrm>
            <a:off x="1143000" y="1188720"/>
            <a:ext cx="320040" cy="320040"/>
          </a:xfrm>
          <a:prstGeom prst="rect">
            <a:avLst/>
          </a:prstGeom>
          <a:noFill/>
          <a:ln/>
        </p:spPr>
        <p:txBody>
          <a:bodyPr wrap="square" lIns="0" tIns="0" rIns="0" bIns="0" rtlCol="0" anchor="ctr"/>
          <a:lstStyle/>
          <a:p>
            <a:pPr algn="ctr" indent="0" marL="0">
              <a:buNone/>
            </a:pPr>
            <a:endParaRPr lang="en-US" sz="1800" dirty="0"/>
          </a:p>
        </p:txBody>
      </p:sp>
      <p:sp>
        <p:nvSpPr>
          <p:cNvPr id="8" name="Shape 6"/>
          <p:cNvSpPr/>
          <p:nvPr/>
        </p:nvSpPr>
        <p:spPr>
          <a:xfrm>
            <a:off x="1554480" y="1188720"/>
            <a:ext cx="320040" cy="320040"/>
          </a:xfrm>
          <a:prstGeom prst="ellipse">
            <a:avLst/>
          </a:prstGeom>
          <a:solidFill>
            <a:schemeClr val="accent3"/>
          </a:solidFill>
          <a:ln w="12700">
            <a:solidFill>
              <a:schemeClr val="accent3"/>
            </a:solidFill>
            <a:prstDash val="solid"/>
          </a:ln>
        </p:spPr>
      </p:sp>
      <p:sp>
        <p:nvSpPr>
          <p:cNvPr id="9" name="Text 7"/>
          <p:cNvSpPr txBox="1"/>
          <p:nvPr/>
        </p:nvSpPr>
        <p:spPr>
          <a:xfrm>
            <a:off x="1554480" y="1188720"/>
            <a:ext cx="320040" cy="320040"/>
          </a:xfrm>
          <a:prstGeom prst="rect">
            <a:avLst/>
          </a:prstGeom>
          <a:noFill/>
          <a:ln/>
        </p:spPr>
        <p:txBody>
          <a:bodyPr wrap="square" lIns="0" tIns="0" rIns="0" bIns="0" rtlCol="0" anchor="ctr"/>
          <a:lstStyle/>
          <a:p>
            <a:pPr algn="ctr" indent="0" marL="0">
              <a:buNone/>
            </a:pP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What WatchTower is, and what it is not</a:t>
            </a:r>
            <a:endParaRPr lang="en-US" sz="3400" dirty="0"/>
          </a:p>
        </p:txBody>
      </p:sp>
      <p:sp>
        <p:nvSpPr>
          <p:cNvPr id="3" name="is"/>
          <p:cNvSpPr/>
          <p:nvPr/>
        </p:nvSpPr>
        <p:spPr>
          <a:xfrm>
            <a:off x="548640" y="1371600"/>
            <a:ext cx="6675120" cy="4754880"/>
          </a:xfrm>
          <a:prstGeom prst="roundRect">
            <a:avLst>
              <a:gd name="adj" fmla="val 2308"/>
            </a:avLst>
          </a:prstGeom>
          <a:solidFill>
            <a:schemeClr val="bg2"/>
          </a:solidFill>
          <a:ln w="12700">
            <a:solidFill>
              <a:schemeClr val="bg2"/>
            </a:solidFill>
            <a:prstDash val="solid"/>
          </a:ln>
        </p:spPr>
      </p:sp>
      <p:sp>
        <p:nvSpPr>
          <p:cNvPr id="4" name="Text 2"/>
          <p:cNvSpPr txBox="1"/>
          <p:nvPr/>
        </p:nvSpPr>
        <p:spPr>
          <a:xfrm>
            <a:off x="868680" y="1600200"/>
            <a:ext cx="6035040" cy="365760"/>
          </a:xfrm>
          <a:prstGeom prst="rect">
            <a:avLst/>
          </a:prstGeom>
          <a:noFill/>
          <a:ln/>
        </p:spPr>
        <p:txBody>
          <a:bodyPr wrap="square" lIns="0" tIns="0" rIns="0" bIns="0" rtlCol="0" anchor="t"/>
          <a:lstStyle/>
          <a:p>
            <a:pPr indent="0" marL="0">
              <a:buNone/>
            </a:pPr>
            <a:r>
              <a:rPr lang="en-US" sz="1400" b="1" spc="200" kern="0" dirty="0">
                <a:solidFill>
                  <a:schemeClr val="accent1"/>
                </a:solidFill>
              </a:rPr>
              <a:t>AN OPERATIONS COPILOT THAT</a:t>
            </a:r>
            <a:endParaRPr lang="en-US" sz="1400" dirty="0"/>
          </a:p>
        </p:txBody>
      </p:sp>
      <p:sp>
        <p:nvSpPr>
          <p:cNvPr id="5" name="Shape 3"/>
          <p:cNvSpPr/>
          <p:nvPr/>
        </p:nvSpPr>
        <p:spPr>
          <a:xfrm>
            <a:off x="868680" y="2103120"/>
            <a:ext cx="502920" cy="502920"/>
          </a:xfrm>
          <a:prstGeom prst="ellipse">
            <a:avLst/>
          </a:prstGeom>
          <a:solidFill>
            <a:schemeClr val="accent1"/>
          </a:solidFill>
          <a:ln w="12700">
            <a:solidFill>
              <a:schemeClr val="accent1"/>
            </a:solidFill>
            <a:prstDash val="solid"/>
          </a:ln>
        </p:spPr>
      </p:sp>
      <p:sp>
        <p:nvSpPr>
          <p:cNvPr id="6" name="Text 4"/>
          <p:cNvSpPr txBox="1"/>
          <p:nvPr/>
        </p:nvSpPr>
        <p:spPr>
          <a:xfrm>
            <a:off x="868680" y="21031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1600200" y="2066544"/>
            <a:ext cx="5394960" cy="365760"/>
          </a:xfrm>
          <a:prstGeom prst="rect">
            <a:avLst/>
          </a:prstGeom>
          <a:noFill/>
          <a:ln/>
        </p:spPr>
        <p:txBody>
          <a:bodyPr wrap="square" lIns="0" tIns="0" rIns="0" bIns="0" rtlCol="0" anchor="t"/>
          <a:lstStyle/>
          <a:p>
            <a:pPr indent="0" marL="0">
              <a:buNone/>
            </a:pPr>
            <a:r>
              <a:rPr lang="en-US" sz="1800" b="1" dirty="0">
                <a:solidFill>
                  <a:schemeClr val="tx1"/>
                </a:solidFill>
              </a:rPr>
              <a:t>Detects emerging issues</a:t>
            </a:r>
            <a:endParaRPr lang="en-US" sz="1800" dirty="0"/>
          </a:p>
        </p:txBody>
      </p:sp>
      <p:sp>
        <p:nvSpPr>
          <p:cNvPr id="8" name="Text 6"/>
          <p:cNvSpPr txBox="1"/>
          <p:nvPr/>
        </p:nvSpPr>
        <p:spPr>
          <a:xfrm>
            <a:off x="1600200" y="2432304"/>
            <a:ext cx="5394960" cy="457200"/>
          </a:xfrm>
          <a:prstGeom prst="rect">
            <a:avLst/>
          </a:prstGeom>
          <a:noFill/>
          <a:ln/>
        </p:spPr>
        <p:txBody>
          <a:bodyPr wrap="square" lIns="0" tIns="0" rIns="0" bIns="0" rtlCol="0" anchor="t"/>
          <a:lstStyle/>
          <a:p>
            <a:pPr indent="0" marL="0">
              <a:buNone/>
            </a:pPr>
            <a:r>
              <a:rPr lang="en-US" sz="1400" dirty="0">
                <a:solidFill>
                  <a:schemeClr val="tx2"/>
                </a:solidFill>
              </a:rPr>
              <a:t>through weak-signal and cross-domain correlation, before major impact</a:t>
            </a:r>
            <a:endParaRPr lang="en-US" sz="1400" dirty="0"/>
          </a:p>
        </p:txBody>
      </p:sp>
      <p:sp>
        <p:nvSpPr>
          <p:cNvPr id="9" name="Shape 7"/>
          <p:cNvSpPr/>
          <p:nvPr/>
        </p:nvSpPr>
        <p:spPr>
          <a:xfrm>
            <a:off x="868680" y="3063240"/>
            <a:ext cx="502920" cy="502920"/>
          </a:xfrm>
          <a:prstGeom prst="ellipse">
            <a:avLst/>
          </a:prstGeom>
          <a:solidFill>
            <a:schemeClr val="accent1"/>
          </a:solidFill>
          <a:ln w="12700">
            <a:solidFill>
              <a:schemeClr val="accent1"/>
            </a:solidFill>
            <a:prstDash val="solid"/>
          </a:ln>
        </p:spPr>
      </p:sp>
      <p:sp>
        <p:nvSpPr>
          <p:cNvPr id="10" name="Text 8"/>
          <p:cNvSpPr txBox="1"/>
          <p:nvPr/>
        </p:nvSpPr>
        <p:spPr>
          <a:xfrm>
            <a:off x="868680" y="30632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1600200" y="3026664"/>
            <a:ext cx="5394960" cy="365760"/>
          </a:xfrm>
          <a:prstGeom prst="rect">
            <a:avLst/>
          </a:prstGeom>
          <a:noFill/>
          <a:ln/>
        </p:spPr>
        <p:txBody>
          <a:bodyPr wrap="square" lIns="0" tIns="0" rIns="0" bIns="0" rtlCol="0" anchor="t"/>
          <a:lstStyle/>
          <a:p>
            <a:pPr indent="0" marL="0">
              <a:buNone/>
            </a:pPr>
            <a:r>
              <a:rPr lang="en-US" sz="1800" b="1" dirty="0">
                <a:solidFill>
                  <a:schemeClr val="tx1"/>
                </a:solidFill>
              </a:rPr>
              <a:t>Does first-level diagnosis</a:t>
            </a:r>
            <a:endParaRPr lang="en-US" sz="1800" dirty="0"/>
          </a:p>
        </p:txBody>
      </p:sp>
      <p:sp>
        <p:nvSpPr>
          <p:cNvPr id="12" name="Text 10"/>
          <p:cNvSpPr txBox="1"/>
          <p:nvPr/>
        </p:nvSpPr>
        <p:spPr>
          <a:xfrm>
            <a:off x="1600200" y="3392424"/>
            <a:ext cx="5394960" cy="457200"/>
          </a:xfrm>
          <a:prstGeom prst="rect">
            <a:avLst/>
          </a:prstGeom>
          <a:noFill/>
          <a:ln/>
        </p:spPr>
        <p:txBody>
          <a:bodyPr wrap="square" lIns="0" tIns="0" rIns="0" bIns="0" rtlCol="0" anchor="t"/>
          <a:lstStyle/>
          <a:p>
            <a:pPr indent="0" marL="0">
              <a:buNone/>
            </a:pPr>
            <a:r>
              <a:rPr lang="en-US" sz="1400" dirty="0">
                <a:solidFill>
                  <a:schemeClr val="tx2"/>
                </a:solidFill>
              </a:rPr>
              <a:t>when an alarm fires or an SRE asks it to investigate</a:t>
            </a:r>
            <a:endParaRPr lang="en-US" sz="1400" dirty="0"/>
          </a:p>
        </p:txBody>
      </p:sp>
      <p:sp>
        <p:nvSpPr>
          <p:cNvPr id="13" name="Shape 11"/>
          <p:cNvSpPr/>
          <p:nvPr/>
        </p:nvSpPr>
        <p:spPr>
          <a:xfrm>
            <a:off x="868680" y="4023360"/>
            <a:ext cx="502920" cy="502920"/>
          </a:xfrm>
          <a:prstGeom prst="ellipse">
            <a:avLst/>
          </a:prstGeom>
          <a:solidFill>
            <a:schemeClr val="accent1"/>
          </a:solidFill>
          <a:ln w="12700">
            <a:solidFill>
              <a:schemeClr val="accent1"/>
            </a:solidFill>
            <a:prstDash val="solid"/>
          </a:ln>
        </p:spPr>
      </p:sp>
      <p:sp>
        <p:nvSpPr>
          <p:cNvPr id="14" name="Text 12"/>
          <p:cNvSpPr txBox="1"/>
          <p:nvPr/>
        </p:nvSpPr>
        <p:spPr>
          <a:xfrm>
            <a:off x="868680" y="4023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3"/>
          <p:cNvSpPr txBox="1"/>
          <p:nvPr/>
        </p:nvSpPr>
        <p:spPr>
          <a:xfrm>
            <a:off x="1600200" y="3986784"/>
            <a:ext cx="5394960" cy="365760"/>
          </a:xfrm>
          <a:prstGeom prst="rect">
            <a:avLst/>
          </a:prstGeom>
          <a:noFill/>
          <a:ln/>
        </p:spPr>
        <p:txBody>
          <a:bodyPr wrap="square" lIns="0" tIns="0" rIns="0" bIns="0" rtlCol="0" anchor="t"/>
          <a:lstStyle/>
          <a:p>
            <a:pPr indent="0" marL="0">
              <a:buNone/>
            </a:pPr>
            <a:r>
              <a:rPr lang="en-US" sz="1800" b="1" dirty="0">
                <a:solidFill>
                  <a:schemeClr val="tx1"/>
                </a:solidFill>
              </a:rPr>
              <a:t>Explains the likely cause</a:t>
            </a:r>
            <a:endParaRPr lang="en-US" sz="1800" dirty="0"/>
          </a:p>
        </p:txBody>
      </p:sp>
      <p:sp>
        <p:nvSpPr>
          <p:cNvPr id="16" name="Text 14"/>
          <p:cNvSpPr txBox="1"/>
          <p:nvPr/>
        </p:nvSpPr>
        <p:spPr>
          <a:xfrm>
            <a:off x="1600200" y="4352544"/>
            <a:ext cx="5394960" cy="457200"/>
          </a:xfrm>
          <a:prstGeom prst="rect">
            <a:avLst/>
          </a:prstGeom>
          <a:noFill/>
          <a:ln/>
        </p:spPr>
        <p:txBody>
          <a:bodyPr wrap="square" lIns="0" tIns="0" rIns="0" bIns="0" rtlCol="0" anchor="t"/>
          <a:lstStyle/>
          <a:p>
            <a:pPr indent="0" marL="0">
              <a:buNone/>
            </a:pPr>
            <a:r>
              <a:rPr lang="en-US" sz="1400" dirty="0">
                <a:solidFill>
                  <a:schemeClr val="tx2"/>
                </a:solidFill>
              </a:rPr>
              <a:t>with the supporting evidence and where each piece came from</a:t>
            </a:r>
            <a:endParaRPr lang="en-US" sz="1400" dirty="0"/>
          </a:p>
        </p:txBody>
      </p:sp>
      <p:sp>
        <p:nvSpPr>
          <p:cNvPr id="17" name="Shape 15"/>
          <p:cNvSpPr/>
          <p:nvPr/>
        </p:nvSpPr>
        <p:spPr>
          <a:xfrm>
            <a:off x="868680" y="4983480"/>
            <a:ext cx="502920" cy="502920"/>
          </a:xfrm>
          <a:prstGeom prst="ellipse">
            <a:avLst/>
          </a:prstGeom>
          <a:solidFill>
            <a:schemeClr val="accent1"/>
          </a:solidFill>
          <a:ln w="12700">
            <a:solidFill>
              <a:schemeClr val="accent1"/>
            </a:solidFill>
            <a:prstDash val="solid"/>
          </a:ln>
        </p:spPr>
      </p:sp>
      <p:sp>
        <p:nvSpPr>
          <p:cNvPr id="18" name="Text 16"/>
          <p:cNvSpPr txBox="1"/>
          <p:nvPr/>
        </p:nvSpPr>
        <p:spPr>
          <a:xfrm>
            <a:off x="868680" y="49834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9" name="Text 17"/>
          <p:cNvSpPr txBox="1"/>
          <p:nvPr/>
        </p:nvSpPr>
        <p:spPr>
          <a:xfrm>
            <a:off x="1600200" y="4946904"/>
            <a:ext cx="5394960" cy="365760"/>
          </a:xfrm>
          <a:prstGeom prst="rect">
            <a:avLst/>
          </a:prstGeom>
          <a:noFill/>
          <a:ln/>
        </p:spPr>
        <p:txBody>
          <a:bodyPr wrap="square" lIns="0" tIns="0" rIns="0" bIns="0" rtlCol="0" anchor="t"/>
          <a:lstStyle/>
          <a:p>
            <a:pPr indent="0" marL="0">
              <a:buNone/>
            </a:pPr>
            <a:r>
              <a:rPr lang="en-US" sz="1800" b="1" dirty="0">
                <a:solidFill>
                  <a:schemeClr val="tx1"/>
                </a:solidFill>
              </a:rPr>
              <a:t>Recommends next steps</a:t>
            </a:r>
            <a:endParaRPr lang="en-US" sz="1800" dirty="0"/>
          </a:p>
        </p:txBody>
      </p:sp>
      <p:sp>
        <p:nvSpPr>
          <p:cNvPr id="20" name="Text 18"/>
          <p:cNvSpPr txBox="1"/>
          <p:nvPr/>
        </p:nvSpPr>
        <p:spPr>
          <a:xfrm>
            <a:off x="1600200" y="5312664"/>
            <a:ext cx="5394960" cy="457200"/>
          </a:xfrm>
          <a:prstGeom prst="rect">
            <a:avLst/>
          </a:prstGeom>
          <a:noFill/>
          <a:ln/>
        </p:spPr>
        <p:txBody>
          <a:bodyPr wrap="square" lIns="0" tIns="0" rIns="0" bIns="0" rtlCol="0" anchor="t"/>
          <a:lstStyle/>
          <a:p>
            <a:pPr indent="0" marL="0">
              <a:buNone/>
            </a:pPr>
            <a:r>
              <a:rPr lang="en-US" sz="1400" dirty="0">
                <a:solidFill>
                  <a:schemeClr val="tx2"/>
                </a:solidFill>
              </a:rPr>
              <a:t>read-only diagnostic checks and the right escalation</a:t>
            </a:r>
            <a:endParaRPr lang="en-US" sz="1400" dirty="0"/>
          </a:p>
        </p:txBody>
      </p:sp>
      <p:sp>
        <p:nvSpPr>
          <p:cNvPr id="21" name="isnt"/>
          <p:cNvSpPr/>
          <p:nvPr/>
        </p:nvSpPr>
        <p:spPr>
          <a:xfrm>
            <a:off x="7498080" y="1371600"/>
            <a:ext cx="4114800" cy="4754880"/>
          </a:xfrm>
          <a:prstGeom prst="roundRect">
            <a:avLst>
              <a:gd name="adj" fmla="val 2667"/>
            </a:avLst>
          </a:prstGeom>
          <a:solidFill>
            <a:schemeClr val="tx1"/>
          </a:solidFill>
          <a:ln w="12700">
            <a:solidFill>
              <a:schemeClr val="tx1"/>
            </a:solidFill>
            <a:prstDash val="solid"/>
          </a:ln>
        </p:spPr>
      </p:sp>
      <p:sp>
        <p:nvSpPr>
          <p:cNvPr id="22" name="Text 20"/>
          <p:cNvSpPr txBox="1"/>
          <p:nvPr/>
        </p:nvSpPr>
        <p:spPr>
          <a:xfrm>
            <a:off x="7818120" y="1600200"/>
            <a:ext cx="356616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IT IS NOT</a:t>
            </a:r>
            <a:endParaRPr lang="en-US" sz="1400" dirty="0"/>
          </a:p>
        </p:txBody>
      </p:sp>
      <p:sp>
        <p:nvSpPr>
          <p:cNvPr id="23" name="Text 21"/>
          <p:cNvSpPr txBox="1"/>
          <p:nvPr/>
        </p:nvSpPr>
        <p:spPr>
          <a:xfrm>
            <a:off x="7818120" y="2103120"/>
            <a:ext cx="3566160" cy="274320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bg1"/>
                </a:solidFill>
              </a:rPr>
              <a:t>Another monitoring dashboard</a:t>
            </a:r>
            <a:endParaRPr lang="en-US" sz="1800" dirty="0"/>
          </a:p>
          <a:p>
            <a:pPr marL="342900" indent="-342900">
              <a:spcAft>
                <a:spcPts val="1400"/>
              </a:spcAft>
              <a:buSzPct val="100000"/>
              <a:buChar char="•"/>
            </a:pPr>
            <a:r>
              <a:rPr lang="en-US" sz="1800" dirty="0">
                <a:solidFill>
                  <a:schemeClr val="bg1"/>
                </a:solidFill>
              </a:rPr>
              <a:t>A failure-prediction engine</a:t>
            </a:r>
            <a:endParaRPr lang="en-US" sz="1800" dirty="0"/>
          </a:p>
          <a:p>
            <a:pPr marL="342900" indent="-342900">
              <a:spcAft>
                <a:spcPts val="1400"/>
              </a:spcAft>
              <a:buSzPct val="100000"/>
              <a:buChar char="•"/>
            </a:pPr>
            <a:r>
              <a:rPr lang="en-US" sz="1800" dirty="0">
                <a:solidFill>
                  <a:schemeClr val="bg1"/>
                </a:solidFill>
              </a:rPr>
              <a:t>A replacement for SolarWinds or Splunk</a:t>
            </a:r>
            <a:endParaRPr lang="en-US" sz="1800" dirty="0"/>
          </a:p>
          <a:p>
            <a:pPr marL="342900" indent="-342900">
              <a:spcAft>
                <a:spcPts val="1400"/>
              </a:spcAft>
              <a:buSzPct val="100000"/>
              <a:buChar char="•"/>
            </a:pPr>
            <a:r>
              <a:rPr lang="en-US" sz="1800" dirty="0">
                <a:solidFill>
                  <a:schemeClr val="bg1"/>
                </a:solidFill>
              </a:rPr>
              <a:t>An auto-remediation tool: it stops at Recommend</a:t>
            </a:r>
            <a:endParaRPr lang="en-US" sz="1800" dirty="0"/>
          </a:p>
        </p:txBody>
      </p:sp>
      <p:sp>
        <p:nvSpPr>
          <p:cNvPr id="24" name="Text 22"/>
          <p:cNvSpPr txBox="1"/>
          <p:nvPr/>
        </p:nvSpPr>
        <p:spPr>
          <a:xfrm>
            <a:off x="7818120" y="4800600"/>
            <a:ext cx="3566160" cy="1188720"/>
          </a:xfrm>
          <a:prstGeom prst="rect">
            <a:avLst/>
          </a:prstGeom>
          <a:noFill/>
          <a:ln/>
        </p:spPr>
        <p:txBody>
          <a:bodyPr wrap="square" lIns="0" tIns="0" rIns="0" bIns="0" rtlCol="0" anchor="t"/>
          <a:lstStyle/>
          <a:p>
            <a:pPr indent="0" marL="0">
              <a:buNone/>
            </a:pPr>
            <a:r>
              <a:rPr lang="en-US" sz="1400" i="1" dirty="0">
                <a:solidFill>
                  <a:schemeClr val="accent5"/>
                </a:solidFill>
              </a:rPr>
              <a:t>The existing tools keep observing. WatchTower adds the investigation and explanation a person does today by hand.</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Today the tools observe; people connect the dots</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194560"/>
                <a:gridCol w="4297680"/>
                <a:gridCol w="4572000"/>
              </a:tblGrid>
              <a:tr h="804672">
                <a:tc>
                  <a:txBody>
                    <a:bodyPr/>
                    <a:lstStyle/>
                    <a:p>
                      <a:pPr indent="0" marL="0">
                        <a:buNone/>
                      </a:pPr>
                      <a:r>
                        <a:rPr lang="en-US" sz="1400" b="1" dirty="0">
                          <a:solidFill>
                            <a:schemeClr val="bg1"/>
                          </a:solidFill>
                        </a:rPr>
                        <a:t>Tool</a:t>
                      </a:r>
                      <a:endParaRPr lang="en-US" sz="14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What it does well</a:t>
                      </a:r>
                      <a:endParaRPr lang="en-US" sz="14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What is left to the 24/7 team</a:t>
                      </a:r>
                      <a:endParaRPr lang="en-US" sz="14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tx1"/>
                    </a:solidFill>
                  </a:tcPr>
                </a:tc>
              </a:tr>
              <a:tr h="804672">
                <a:tc>
                  <a:txBody>
                    <a:bodyPr/>
                    <a:lstStyle/>
                    <a:p>
                      <a:pPr indent="0" marL="0">
                        <a:buNone/>
                      </a:pPr>
                      <a:r>
                        <a:rPr lang="en-US" sz="1300" b="1" dirty="0">
                          <a:solidFill>
                            <a:schemeClr val="tx1"/>
                          </a:solidFill>
                        </a:rPr>
                        <a:t>SolarWinds</a:t>
                      </a:r>
                      <a:endParaRPr lang="en-US" sz="13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Polls Cisco switches over SNMP: status, utilisation, errors, discards; threshold alerts</a:t>
                      </a:r>
                      <a:endParaRPr lang="en-US" sz="13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Spotting a slow rise that never crosses a threshold; knowing which server a port feeds</a:t>
                      </a:r>
                      <a:endParaRPr lang="en-US" sz="13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r h="804672">
                <a:tc>
                  <a:txBody>
                    <a:bodyPr/>
                    <a:lstStyle/>
                    <a:p>
                      <a:pPr indent="0" marL="0">
                        <a:buNone/>
                      </a:pPr>
                      <a:r>
                        <a:rPr lang="en-US" sz="1300" b="1" dirty="0">
                          <a:solidFill>
                            <a:schemeClr val="tx1"/>
                          </a:solidFill>
                        </a:rPr>
                        <a:t>Splunk</a:t>
                      </a:r>
                      <a:endParaRPr lang="en-US" sz="13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Collects OpenShift and switch logs and events; saved-search alerts</a:t>
                      </a:r>
                      <a:endParaRPr lang="en-US" sz="13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Knowing what to search for, and when; joining log lines to network counters</a:t>
                      </a:r>
                      <a:endParaRPr lang="en-US" sz="13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r h="804672">
                <a:tc>
                  <a:txBody>
                    <a:bodyPr/>
                    <a:lstStyle/>
                    <a:p>
                      <a:pPr indent="0" marL="0">
                        <a:buNone/>
                      </a:pPr>
                      <a:r>
                        <a:rPr lang="en-US" sz="1300" b="1" dirty="0">
                          <a:solidFill>
                            <a:schemeClr val="tx1"/>
                          </a:solidFill>
                        </a:rPr>
                        <a:t>OpenShift console</a:t>
                      </a:r>
                      <a:endParaRPr lang="en-US" sz="13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Node, pod and operator status for one cluster</a:t>
                      </a:r>
                      <a:endParaRPr lang="en-US" sz="13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Seeing the switch port and network path underneath a node</a:t>
                      </a:r>
                      <a:endParaRPr lang="en-US" sz="13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r h="804672">
                <a:tc>
                  <a:txBody>
                    <a:bodyPr/>
                    <a:lstStyle/>
                    <a:p>
                      <a:pPr indent="0" marL="0">
                        <a:buNone/>
                      </a:pPr>
                      <a:r>
                        <a:rPr lang="en-US" sz="1300" b="1" dirty="0">
                          <a:solidFill>
                            <a:schemeClr val="tx1"/>
                          </a:solidFill>
                        </a:rPr>
                        <a:t>The SRE on shift</a:t>
                      </a:r>
                      <a:endParaRPr lang="en-US" sz="13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Judgement, context, owns the decision</a:t>
                      </a:r>
                      <a:endParaRPr lang="en-US" sz="13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Pivoting across consoles at 2 a.m., correlating by hand, picking the right escalation</a:t>
                      </a:r>
                      <a:endParaRPr lang="en-US" sz="13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bl>
          </a:graphicData>
        </a:graphic>
      </p:graphicFrame>
      <p:sp>
        <p:nvSpPr>
          <p:cNvPr id="4" name="scope"/>
          <p:cNvSpPr/>
          <p:nvPr/>
        </p:nvSpPr>
        <p:spPr>
          <a:xfrm>
            <a:off x="548640" y="5486400"/>
            <a:ext cx="11064240" cy="685800"/>
          </a:xfrm>
          <a:prstGeom prst="roundRect">
            <a:avLst>
              <a:gd name="adj" fmla="val 16000"/>
            </a:avLst>
          </a:prstGeom>
          <a:solidFill>
            <a:schemeClr val="bg2"/>
          </a:solidFill>
          <a:ln w="12700">
            <a:solidFill>
              <a:schemeClr val="bg2"/>
            </a:solidFill>
            <a:prstDash val="solid"/>
          </a:ln>
        </p:spPr>
      </p:sp>
      <p:sp>
        <p:nvSpPr>
          <p:cNvPr id="5" name="Text 2"/>
          <p:cNvSpPr txBox="1"/>
          <p:nvPr/>
        </p:nvSpPr>
        <p:spPr>
          <a:xfrm>
            <a:off x="777240" y="5605272"/>
            <a:ext cx="10607040" cy="457200"/>
          </a:xfrm>
          <a:prstGeom prst="rect">
            <a:avLst/>
          </a:prstGeom>
          <a:noFill/>
          <a:ln/>
        </p:spPr>
        <p:txBody>
          <a:bodyPr wrap="square" lIns="0" tIns="0" rIns="0" bIns="0" rtlCol="0" anchor="t"/>
          <a:lstStyle/>
          <a:p>
            <a:pPr indent="0" marL="0">
              <a:buNone/>
            </a:pPr>
            <a:r>
              <a:rPr lang="en-US" sz="1600" b="1" dirty="0">
                <a:solidFill>
                  <a:schemeClr val="accent1"/>
                </a:solidFill>
              </a:rPr>
              <a:t>Scope for now: </a:t>
            </a:r>
            <a:pPr indent="0" marL="0">
              <a:buNone/>
            </a:pPr>
            <a:r>
              <a:rPr lang="en-US" sz="1600" dirty="0">
                <a:solidFill>
                  <a:schemeClr val="tx1"/>
                </a:solidFill>
              </a:rPr>
              <a:t>Cisco switching and Red Hat OpenShift only. Palo Alto and Nutanix follow the same pattern later.</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The OpenShift incident, explained</a:t>
            </a:r>
            <a:endParaRPr lang="en-US" sz="3400" dirty="0"/>
          </a:p>
        </p:txBody>
      </p:sp>
      <p:sp>
        <p:nvSpPr>
          <p:cNvPr id="3" name="Shape 1"/>
          <p:cNvSpPr/>
          <p:nvPr/>
        </p:nvSpPr>
        <p:spPr>
          <a:xfrm>
            <a:off x="822960" y="1737360"/>
            <a:ext cx="10515600" cy="0"/>
          </a:xfrm>
          <a:prstGeom prst="line">
            <a:avLst/>
          </a:prstGeom>
          <a:noFill/>
          <a:ln w="38100">
            <a:solidFill>
              <a:srgbClr val="CFE3EA"/>
            </a:solidFill>
            <a:prstDash val="solid"/>
          </a:ln>
        </p:spPr>
      </p:sp>
      <p:sp>
        <p:nvSpPr>
          <p:cNvPr id="4" name="Shape 2"/>
          <p:cNvSpPr/>
          <p:nvPr/>
        </p:nvSpPr>
        <p:spPr>
          <a:xfrm>
            <a:off x="594360" y="150876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594360"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l0"/>
          <p:cNvSpPr/>
          <p:nvPr/>
        </p:nvSpPr>
        <p:spPr>
          <a:xfrm>
            <a:off x="548640" y="2194560"/>
            <a:ext cx="2606040" cy="2606040"/>
          </a:xfrm>
          <a:prstGeom prst="roundRect">
            <a:avLst>
              <a:gd name="adj" fmla="val 4211"/>
            </a:avLst>
          </a:prstGeom>
          <a:solidFill>
            <a:schemeClr val="bg2"/>
          </a:solidFill>
          <a:ln w="12700">
            <a:solidFill>
              <a:schemeClr val="bg2"/>
            </a:solidFill>
            <a:prstDash val="solid"/>
          </a:ln>
        </p:spPr>
      </p:sp>
      <p:sp>
        <p:nvSpPr>
          <p:cNvPr id="7" name="Text 5"/>
          <p:cNvSpPr txBox="1"/>
          <p:nvPr/>
        </p:nvSpPr>
        <p:spPr>
          <a:xfrm>
            <a:off x="731520" y="2331720"/>
            <a:ext cx="2286000" cy="457200"/>
          </a:xfrm>
          <a:prstGeom prst="rect">
            <a:avLst/>
          </a:prstGeom>
          <a:noFill/>
          <a:ln/>
        </p:spPr>
        <p:txBody>
          <a:bodyPr wrap="square" lIns="0" tIns="0" rIns="0" bIns="0" rtlCol="0" anchor="t"/>
          <a:lstStyle/>
          <a:p>
            <a:pPr indent="0" marL="0">
              <a:buNone/>
            </a:pPr>
            <a:r>
              <a:rPr lang="en-US" sz="1700" b="1" dirty="0">
                <a:solidFill>
                  <a:schemeClr val="accent1"/>
                </a:solidFill>
              </a:rPr>
              <a:t>Network path congests</a:t>
            </a:r>
            <a:endParaRPr lang="en-US" sz="1700" dirty="0"/>
          </a:p>
        </p:txBody>
      </p:sp>
      <p:sp>
        <p:nvSpPr>
          <p:cNvPr id="8" name="Text 6"/>
          <p:cNvSpPr txBox="1"/>
          <p:nvPr/>
        </p:nvSpPr>
        <p:spPr>
          <a:xfrm>
            <a:off x="731520" y="2834640"/>
            <a:ext cx="2286000" cy="1920240"/>
          </a:xfrm>
          <a:prstGeom prst="rect">
            <a:avLst/>
          </a:prstGeom>
          <a:noFill/>
          <a:ln/>
        </p:spPr>
        <p:txBody>
          <a:bodyPr wrap="square" lIns="0" tIns="0" rIns="0" bIns="0" rtlCol="0" anchor="t"/>
          <a:lstStyle/>
          <a:p>
            <a:pPr indent="0" marL="0">
              <a:buNone/>
            </a:pPr>
            <a:r>
              <a:rPr lang="en-US" sz="1350" dirty="0">
                <a:solidFill>
                  <a:schemeClr val="tx1"/>
                </a:solidFill>
              </a:rPr>
              <a:t>Drops build on the switch path to a master node. Average utilisation looks normal, so no alarm.</a:t>
            </a:r>
            <a:endParaRPr lang="en-US" sz="1350" dirty="0"/>
          </a:p>
        </p:txBody>
      </p:sp>
      <p:sp>
        <p:nvSpPr>
          <p:cNvPr id="9" name="Shape 7"/>
          <p:cNvSpPr/>
          <p:nvPr/>
        </p:nvSpPr>
        <p:spPr>
          <a:xfrm>
            <a:off x="3429000" y="1508760"/>
            <a:ext cx="457200" cy="457200"/>
          </a:xfrm>
          <a:prstGeom prst="ellipse">
            <a:avLst/>
          </a:prstGeom>
          <a:solidFill>
            <a:schemeClr val="accent2"/>
          </a:solidFill>
          <a:ln w="12700">
            <a:solidFill>
              <a:schemeClr val="accent2"/>
            </a:solidFill>
            <a:prstDash val="solid"/>
          </a:ln>
        </p:spPr>
      </p:sp>
      <p:sp>
        <p:nvSpPr>
          <p:cNvPr id="10" name="Text 8"/>
          <p:cNvSpPr txBox="1"/>
          <p:nvPr/>
        </p:nvSpPr>
        <p:spPr>
          <a:xfrm>
            <a:off x="3429000"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l1"/>
          <p:cNvSpPr/>
          <p:nvPr/>
        </p:nvSpPr>
        <p:spPr>
          <a:xfrm>
            <a:off x="3383280" y="2194560"/>
            <a:ext cx="2606040" cy="2606040"/>
          </a:xfrm>
          <a:prstGeom prst="roundRect">
            <a:avLst>
              <a:gd name="adj" fmla="val 4211"/>
            </a:avLst>
          </a:prstGeom>
          <a:solidFill>
            <a:schemeClr val="bg2"/>
          </a:solidFill>
          <a:ln w="12700">
            <a:solidFill>
              <a:schemeClr val="bg2"/>
            </a:solidFill>
            <a:prstDash val="solid"/>
          </a:ln>
        </p:spPr>
      </p:sp>
      <p:sp>
        <p:nvSpPr>
          <p:cNvPr id="12" name="Text 10"/>
          <p:cNvSpPr txBox="1"/>
          <p:nvPr/>
        </p:nvSpPr>
        <p:spPr>
          <a:xfrm>
            <a:off x="3566160" y="2331720"/>
            <a:ext cx="2286000" cy="457200"/>
          </a:xfrm>
          <a:prstGeom prst="rect">
            <a:avLst/>
          </a:prstGeom>
          <a:noFill/>
          <a:ln/>
        </p:spPr>
        <p:txBody>
          <a:bodyPr wrap="square" lIns="0" tIns="0" rIns="0" bIns="0" rtlCol="0" anchor="t"/>
          <a:lstStyle/>
          <a:p>
            <a:pPr indent="0" marL="0">
              <a:buNone/>
            </a:pPr>
            <a:r>
              <a:rPr lang="en-US" sz="1700" b="1" dirty="0">
                <a:solidFill>
                  <a:schemeClr val="accent2"/>
                </a:solidFill>
              </a:rPr>
              <a:t>API calls time out</a:t>
            </a:r>
            <a:endParaRPr lang="en-US" sz="1700" dirty="0"/>
          </a:p>
        </p:txBody>
      </p:sp>
      <p:sp>
        <p:nvSpPr>
          <p:cNvPr id="13" name="Text 11"/>
          <p:cNvSpPr txBox="1"/>
          <p:nvPr/>
        </p:nvSpPr>
        <p:spPr>
          <a:xfrm>
            <a:off x="3566160" y="2834640"/>
            <a:ext cx="2286000" cy="1920240"/>
          </a:xfrm>
          <a:prstGeom prst="rect">
            <a:avLst/>
          </a:prstGeom>
          <a:noFill/>
          <a:ln/>
        </p:spPr>
        <p:txBody>
          <a:bodyPr wrap="square" lIns="0" tIns="0" rIns="0" bIns="0" rtlCol="0" anchor="t"/>
          <a:lstStyle/>
          <a:p>
            <a:pPr indent="0" marL="0">
              <a:buNone/>
            </a:pPr>
            <a:r>
              <a:rPr lang="en-US" sz="1350" dirty="0">
                <a:solidFill>
                  <a:schemeClr val="tx1"/>
                </a:solidFill>
              </a:rPr>
              <a:t>The master calls the kubernetes Service (172.30.0.1). It spreads calls across all three API servers, so about 2 in 3 leave the node and some time out.</a:t>
            </a:r>
            <a:endParaRPr lang="en-US" sz="1350" dirty="0"/>
          </a:p>
        </p:txBody>
      </p:sp>
      <p:sp>
        <p:nvSpPr>
          <p:cNvPr id="14" name="Shape 12"/>
          <p:cNvSpPr/>
          <p:nvPr/>
        </p:nvSpPr>
        <p:spPr>
          <a:xfrm>
            <a:off x="6263640" y="1508760"/>
            <a:ext cx="457200" cy="457200"/>
          </a:xfrm>
          <a:prstGeom prst="ellipse">
            <a:avLst/>
          </a:prstGeom>
          <a:solidFill>
            <a:schemeClr val="accent3"/>
          </a:solidFill>
          <a:ln w="12700">
            <a:solidFill>
              <a:schemeClr val="accent3"/>
            </a:solidFill>
            <a:prstDash val="solid"/>
          </a:ln>
        </p:spPr>
      </p:sp>
      <p:sp>
        <p:nvSpPr>
          <p:cNvPr id="15" name="Text 13"/>
          <p:cNvSpPr txBox="1"/>
          <p:nvPr/>
        </p:nvSpPr>
        <p:spPr>
          <a:xfrm>
            <a:off x="6263640"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l2"/>
          <p:cNvSpPr/>
          <p:nvPr/>
        </p:nvSpPr>
        <p:spPr>
          <a:xfrm>
            <a:off x="6217920" y="2194560"/>
            <a:ext cx="2606040" cy="2606040"/>
          </a:xfrm>
          <a:prstGeom prst="roundRect">
            <a:avLst>
              <a:gd name="adj" fmla="val 4211"/>
            </a:avLst>
          </a:prstGeom>
          <a:solidFill>
            <a:schemeClr val="bg2"/>
          </a:solidFill>
          <a:ln w="12700">
            <a:solidFill>
              <a:schemeClr val="bg2"/>
            </a:solidFill>
            <a:prstDash val="solid"/>
          </a:ln>
        </p:spPr>
      </p:sp>
      <p:sp>
        <p:nvSpPr>
          <p:cNvPr id="17" name="Text 15"/>
          <p:cNvSpPr txBox="1"/>
          <p:nvPr/>
        </p:nvSpPr>
        <p:spPr>
          <a:xfrm>
            <a:off x="6400800" y="2331720"/>
            <a:ext cx="2286000" cy="457200"/>
          </a:xfrm>
          <a:prstGeom prst="rect">
            <a:avLst/>
          </a:prstGeom>
          <a:noFill/>
          <a:ln/>
        </p:spPr>
        <p:txBody>
          <a:bodyPr wrap="square" lIns="0" tIns="0" rIns="0" bIns="0" rtlCol="0" anchor="t"/>
          <a:lstStyle/>
          <a:p>
            <a:pPr indent="0" marL="0">
              <a:buNone/>
            </a:pPr>
            <a:r>
              <a:rPr lang="en-US" sz="1700" b="1" dirty="0">
                <a:solidFill>
                  <a:schemeClr val="accent3"/>
                </a:solidFill>
              </a:rPr>
              <a:t>Node marked NotReady</a:t>
            </a:r>
            <a:endParaRPr lang="en-US" sz="1700" dirty="0"/>
          </a:p>
        </p:txBody>
      </p:sp>
      <p:sp>
        <p:nvSpPr>
          <p:cNvPr id="18" name="Text 16"/>
          <p:cNvSpPr txBox="1"/>
          <p:nvPr/>
        </p:nvSpPr>
        <p:spPr>
          <a:xfrm>
            <a:off x="6400800" y="2834640"/>
            <a:ext cx="2286000" cy="1920240"/>
          </a:xfrm>
          <a:prstGeom prst="rect">
            <a:avLst/>
          </a:prstGeom>
          <a:noFill/>
          <a:ln/>
        </p:spPr>
        <p:txBody>
          <a:bodyPr wrap="square" lIns="0" tIns="0" rIns="0" bIns="0" rtlCol="0" anchor="t"/>
          <a:lstStyle/>
          <a:p>
            <a:pPr indent="0" marL="0">
              <a:buNone/>
            </a:pPr>
            <a:r>
              <a:rPr lang="en-US" sz="1350" dirty="0">
                <a:solidFill>
                  <a:schemeClr val="tx1"/>
                </a:solidFill>
              </a:rPr>
              <a:t>The kubelet cannot renew its heartbeat lease (every 10 s). After 40 s without one, the control plane marks the node NotReady.</a:t>
            </a:r>
            <a:endParaRPr lang="en-US" sz="1350" dirty="0"/>
          </a:p>
        </p:txBody>
      </p:sp>
      <p:sp>
        <p:nvSpPr>
          <p:cNvPr id="19" name="Shape 17"/>
          <p:cNvSpPr/>
          <p:nvPr/>
        </p:nvSpPr>
        <p:spPr>
          <a:xfrm>
            <a:off x="9098280" y="1508760"/>
            <a:ext cx="457200" cy="457200"/>
          </a:xfrm>
          <a:prstGeom prst="ellipse">
            <a:avLst/>
          </a:prstGeom>
          <a:solidFill>
            <a:schemeClr val="accent4"/>
          </a:solidFill>
          <a:ln w="12700">
            <a:solidFill>
              <a:schemeClr val="accent4"/>
            </a:solidFill>
            <a:prstDash val="solid"/>
          </a:ln>
        </p:spPr>
      </p:sp>
      <p:sp>
        <p:nvSpPr>
          <p:cNvPr id="20" name="Text 18"/>
          <p:cNvSpPr txBox="1"/>
          <p:nvPr/>
        </p:nvSpPr>
        <p:spPr>
          <a:xfrm>
            <a:off x="9098280"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l3"/>
          <p:cNvSpPr/>
          <p:nvPr/>
        </p:nvSpPr>
        <p:spPr>
          <a:xfrm>
            <a:off x="9052560" y="2194560"/>
            <a:ext cx="2606040" cy="2606040"/>
          </a:xfrm>
          <a:prstGeom prst="roundRect">
            <a:avLst>
              <a:gd name="adj" fmla="val 4211"/>
            </a:avLst>
          </a:prstGeom>
          <a:solidFill>
            <a:schemeClr val="bg2"/>
          </a:solidFill>
          <a:ln w="12700">
            <a:solidFill>
              <a:schemeClr val="bg2"/>
            </a:solidFill>
            <a:prstDash val="solid"/>
          </a:ln>
        </p:spPr>
      </p:sp>
      <p:sp>
        <p:nvSpPr>
          <p:cNvPr id="22" name="Text 20"/>
          <p:cNvSpPr txBox="1"/>
          <p:nvPr/>
        </p:nvSpPr>
        <p:spPr>
          <a:xfrm>
            <a:off x="9235440" y="2331720"/>
            <a:ext cx="2286000" cy="457200"/>
          </a:xfrm>
          <a:prstGeom prst="rect">
            <a:avLst/>
          </a:prstGeom>
          <a:noFill/>
          <a:ln/>
        </p:spPr>
        <p:txBody>
          <a:bodyPr wrap="square" lIns="0" tIns="0" rIns="0" bIns="0" rtlCol="0" anchor="t"/>
          <a:lstStyle/>
          <a:p>
            <a:pPr indent="0" marL="0">
              <a:buNone/>
            </a:pPr>
            <a:r>
              <a:rPr lang="en-US" sz="1700" b="1" dirty="0">
                <a:solidFill>
                  <a:schemeClr val="accent4"/>
                </a:solidFill>
              </a:rPr>
              <a:t>Node comes back</a:t>
            </a:r>
            <a:endParaRPr lang="en-US" sz="1700" dirty="0"/>
          </a:p>
        </p:txBody>
      </p:sp>
      <p:sp>
        <p:nvSpPr>
          <p:cNvPr id="23" name="Text 21"/>
          <p:cNvSpPr txBox="1"/>
          <p:nvPr/>
        </p:nvSpPr>
        <p:spPr>
          <a:xfrm>
            <a:off x="9235440" y="2834640"/>
            <a:ext cx="2286000" cy="1920240"/>
          </a:xfrm>
          <a:prstGeom prst="rect">
            <a:avLst/>
          </a:prstGeom>
          <a:noFill/>
          <a:ln/>
        </p:spPr>
        <p:txBody>
          <a:bodyPr wrap="square" lIns="0" tIns="0" rIns="0" bIns="0" rtlCol="0" anchor="t"/>
          <a:lstStyle/>
          <a:p>
            <a:pPr indent="0" marL="0">
              <a:buNone/>
            </a:pPr>
            <a:r>
              <a:rPr lang="en-US" sz="1350" dirty="0">
                <a:solidFill>
                  <a:schemeClr val="tx1"/>
                </a:solidFill>
              </a:rPr>
              <a:t>Once traffic gets through, the next renewal marks it Ready. No reboot, no restart of key services, no evictions (they start at 300 s).</a:t>
            </a:r>
            <a:endParaRPr lang="en-US" sz="1350" dirty="0"/>
          </a:p>
        </p:txBody>
      </p:sp>
      <p:sp>
        <p:nvSpPr>
          <p:cNvPr id="24" name="name"/>
          <p:cNvSpPr/>
          <p:nvPr/>
        </p:nvSpPr>
        <p:spPr>
          <a:xfrm>
            <a:off x="548640" y="5029200"/>
            <a:ext cx="11064240" cy="1188720"/>
          </a:xfrm>
          <a:prstGeom prst="roundRect">
            <a:avLst>
              <a:gd name="adj" fmla="val 9231"/>
            </a:avLst>
          </a:prstGeom>
          <a:solidFill>
            <a:schemeClr val="tx1"/>
          </a:solidFill>
          <a:ln w="12700">
            <a:solidFill>
              <a:schemeClr val="tx1"/>
            </a:solidFill>
            <a:prstDash val="solid"/>
          </a:ln>
        </p:spPr>
      </p:sp>
      <p:sp>
        <p:nvSpPr>
          <p:cNvPr id="25" name="Text 23"/>
          <p:cNvSpPr txBox="1"/>
          <p:nvPr/>
        </p:nvSpPr>
        <p:spPr>
          <a:xfrm>
            <a:off x="822960" y="5166360"/>
            <a:ext cx="10515600" cy="960120"/>
          </a:xfrm>
          <a:prstGeom prst="rect">
            <a:avLst/>
          </a:prstGeom>
          <a:noFill/>
          <a:ln/>
        </p:spPr>
        <p:txBody>
          <a:bodyPr wrap="square" lIns="0" tIns="0" rIns="0" bIns="0" rtlCol="0" anchor="ctr"/>
          <a:lstStyle/>
          <a:p>
            <a:pPr indent="0" marL="0">
              <a:buNone/>
            </a:pPr>
            <a:r>
              <a:rPr lang="en-US" sz="1550" b="1" dirty="0">
                <a:solidFill>
                  <a:schemeClr val="bg1"/>
                </a:solidFill>
              </a:rPr>
              <a:t>The accurate name: a transient NotReady, or "node flap". </a:t>
            </a:r>
            <a:pPr indent="0" marL="0">
              <a:buNone/>
            </a:pPr>
            <a:r>
              <a:rPr lang="en-US" sz="1550" dirty="0">
                <a:solidFill>
                  <a:schemeClr val="accent5"/>
                </a:solidFill>
              </a:rPr>
              <a:t>The control plane briefly lost contact with the node; the node itself did not go down. This is consistent with what was seen: no physical reboot, key services not fully restarted.</a:t>
            </a:r>
            <a:endParaRPr lang="en-US" sz="15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463040"/>
          </a:xfrm>
          <a:prstGeom prst="rect">
            <a:avLst/>
          </a:prstGeom>
          <a:noFill/>
          <a:ln/>
        </p:spPr>
        <p:txBody>
          <a:bodyPr wrap="square" lIns="0" tIns="0" rIns="0" bIns="0" rtlCol="0" anchor="b"/>
          <a:lstStyle/>
          <a:p>
            <a:pPr algn="l" indent="0" marL="0">
              <a:buNone/>
            </a:pPr>
            <a:r>
              <a:rPr lang="en-US" sz="4800" b="1" dirty="0">
                <a:solidFill>
                  <a:schemeClr val="bg1"/>
                </a:solidFill>
              </a:rPr>
              <a:t>Problem statement</a:t>
            </a:r>
            <a:endParaRPr lang="en-US" sz="4800" dirty="0"/>
          </a:p>
        </p:txBody>
      </p:sp>
      <p:sp>
        <p:nvSpPr>
          <p:cNvPr id="3" name="Text 0"/>
          <p:cNvSpPr/>
          <p:nvPr>
            <p:ph idx="101" type="body" hasCustomPrompt="1"/>
          </p:nvPr>
        </p:nvSpPr>
        <p:spPr>
          <a:xfrm>
            <a:off x="731520" y="3474720"/>
            <a:ext cx="10698480" cy="2194560"/>
          </a:xfrm>
          <a:prstGeom prst="rect">
            <a:avLst/>
          </a:prstGeom>
          <a:noFill/>
          <a:ln/>
        </p:spPr>
        <p:txBody>
          <a:bodyPr wrap="square" lIns="0" tIns="0" rIns="0" bIns="0" rtlCol="0" anchor="t"/>
          <a:lstStyle/>
          <a:p>
            <a:pPr indent="0" marL="0">
              <a:buNone/>
            </a:pPr>
            <a:r>
              <a:rPr lang="en-US" sz="2200" dirty="0">
                <a:solidFill>
                  <a:schemeClr val="accent5"/>
                </a:solidFill>
              </a:rPr>
              <a:t>Our monitoring tools see each domain separately and alert on thresholds. Weak signals that only make sense together, like a congested switch port slowing an OpenShift master, go unnoticed until something breaks. Then first-level diagnosis depends on an SRE pulling evidence from several consoles by hand.</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The end state</a:t>
            </a:r>
            <a:endParaRPr lang="en-US" sz="3400" dirty="0"/>
          </a:p>
        </p:txBody>
      </p:sp>
      <p:sp>
        <p:nvSpPr>
          <p:cNvPr id="3" name="Shape 1"/>
          <p:cNvSpPr/>
          <p:nvPr/>
        </p:nvSpPr>
        <p:spPr>
          <a:xfrm>
            <a:off x="548640" y="1600200"/>
            <a:ext cx="2697480" cy="914400"/>
          </a:xfrm>
          <a:prstGeom prst="chevron">
            <a:avLst/>
          </a:prstGeom>
          <a:solidFill>
            <a:schemeClr val="tx2"/>
          </a:solidFill>
          <a:ln w="12700">
            <a:solidFill>
              <a:schemeClr val="tx2"/>
            </a:solidFill>
            <a:prstDash val="solid"/>
          </a:ln>
        </p:spPr>
      </p:sp>
      <p:sp>
        <p:nvSpPr>
          <p:cNvPr id="4" name="Text 2"/>
          <p:cNvSpPr txBox="1"/>
          <p:nvPr/>
        </p:nvSpPr>
        <p:spPr>
          <a:xfrm>
            <a:off x="822960" y="1600200"/>
            <a:ext cx="2194560" cy="914400"/>
          </a:xfrm>
          <a:prstGeom prst="rect">
            <a:avLst/>
          </a:prstGeom>
          <a:noFill/>
          <a:ln/>
        </p:spPr>
        <p:txBody>
          <a:bodyPr wrap="square" lIns="0" tIns="0" rIns="0" bIns="0" rtlCol="0" anchor="ctr"/>
          <a:lstStyle/>
          <a:p>
            <a:pPr algn="ctr" indent="0" marL="0">
              <a:buNone/>
            </a:pPr>
            <a:r>
              <a:rPr lang="en-US" sz="3000" b="1" dirty="0">
                <a:solidFill>
                  <a:schemeClr val="bg1"/>
                </a:solidFill>
              </a:rPr>
              <a:t>1</a:t>
            </a:r>
            <a:endParaRPr lang="en-US" sz="3000" dirty="0"/>
          </a:p>
        </p:txBody>
      </p:sp>
      <p:sp>
        <p:nvSpPr>
          <p:cNvPr id="5" name="Text 3"/>
          <p:cNvSpPr txBox="1"/>
          <p:nvPr/>
        </p:nvSpPr>
        <p:spPr>
          <a:xfrm>
            <a:off x="548640" y="2743200"/>
            <a:ext cx="2606040" cy="777240"/>
          </a:xfrm>
          <a:prstGeom prst="rect">
            <a:avLst/>
          </a:prstGeom>
          <a:noFill/>
          <a:ln/>
        </p:spPr>
        <p:txBody>
          <a:bodyPr wrap="square" lIns="0" tIns="0" rIns="0" bIns="0" rtlCol="0" anchor="t"/>
          <a:lstStyle/>
          <a:p>
            <a:pPr indent="0" marL="0">
              <a:buNone/>
            </a:pPr>
            <a:r>
              <a:rPr lang="en-US" sz="1900" b="1" dirty="0">
                <a:solidFill>
                  <a:schemeClr val="tx2"/>
                </a:solidFill>
              </a:rPr>
              <a:t>Existing tools observe</a:t>
            </a:r>
            <a:endParaRPr lang="en-US" sz="1900" dirty="0"/>
          </a:p>
        </p:txBody>
      </p:sp>
      <p:sp>
        <p:nvSpPr>
          <p:cNvPr id="6" name="Text 4"/>
          <p:cNvSpPr txBox="1"/>
          <p:nvPr/>
        </p:nvSpPr>
        <p:spPr>
          <a:xfrm>
            <a:off x="548640" y="3566160"/>
            <a:ext cx="2560320" cy="1463040"/>
          </a:xfrm>
          <a:prstGeom prst="rect">
            <a:avLst/>
          </a:prstGeom>
          <a:noFill/>
          <a:ln/>
        </p:spPr>
        <p:txBody>
          <a:bodyPr wrap="square" lIns="0" tIns="0" rIns="0" bIns="0" rtlCol="0" anchor="t"/>
          <a:lstStyle/>
          <a:p>
            <a:pPr indent="0" marL="0">
              <a:buNone/>
            </a:pPr>
            <a:r>
              <a:rPr lang="en-US" sz="1450" dirty="0">
                <a:solidFill>
                  <a:schemeClr val="tx1"/>
                </a:solidFill>
              </a:rPr>
              <a:t>SolarWinds and Splunk keep collecting, baselining and alerting, unchanged.</a:t>
            </a:r>
            <a:endParaRPr lang="en-US" sz="1450" dirty="0"/>
          </a:p>
        </p:txBody>
      </p:sp>
      <p:sp>
        <p:nvSpPr>
          <p:cNvPr id="7" name="Shape 5"/>
          <p:cNvSpPr/>
          <p:nvPr/>
        </p:nvSpPr>
        <p:spPr>
          <a:xfrm>
            <a:off x="3383280" y="1600200"/>
            <a:ext cx="2697480" cy="914400"/>
          </a:xfrm>
          <a:prstGeom prst="chevron">
            <a:avLst/>
          </a:prstGeom>
          <a:solidFill>
            <a:schemeClr val="accent4"/>
          </a:solidFill>
          <a:ln w="12700">
            <a:solidFill>
              <a:schemeClr val="accent4"/>
            </a:solidFill>
            <a:prstDash val="solid"/>
          </a:ln>
        </p:spPr>
      </p:sp>
      <p:sp>
        <p:nvSpPr>
          <p:cNvPr id="8" name="Text 6"/>
          <p:cNvSpPr txBox="1"/>
          <p:nvPr/>
        </p:nvSpPr>
        <p:spPr>
          <a:xfrm>
            <a:off x="3657600" y="1600200"/>
            <a:ext cx="2194560" cy="914400"/>
          </a:xfrm>
          <a:prstGeom prst="rect">
            <a:avLst/>
          </a:prstGeom>
          <a:noFill/>
          <a:ln/>
        </p:spPr>
        <p:txBody>
          <a:bodyPr wrap="square" lIns="0" tIns="0" rIns="0" bIns="0" rtlCol="0" anchor="ctr"/>
          <a:lstStyle/>
          <a:p>
            <a:pPr algn="ctr" indent="0" marL="0">
              <a:buNone/>
            </a:pPr>
            <a:r>
              <a:rPr lang="en-US" sz="3000" b="1" dirty="0">
                <a:solidFill>
                  <a:schemeClr val="bg1"/>
                </a:solidFill>
              </a:rPr>
              <a:t>2</a:t>
            </a:r>
            <a:endParaRPr lang="en-US" sz="3000" dirty="0"/>
          </a:p>
        </p:txBody>
      </p:sp>
      <p:sp>
        <p:nvSpPr>
          <p:cNvPr id="9" name="Text 7"/>
          <p:cNvSpPr txBox="1"/>
          <p:nvPr/>
        </p:nvSpPr>
        <p:spPr>
          <a:xfrm>
            <a:off x="3383280" y="2743200"/>
            <a:ext cx="2606040" cy="777240"/>
          </a:xfrm>
          <a:prstGeom prst="rect">
            <a:avLst/>
          </a:prstGeom>
          <a:noFill/>
          <a:ln/>
        </p:spPr>
        <p:txBody>
          <a:bodyPr wrap="square" lIns="0" tIns="0" rIns="0" bIns="0" rtlCol="0" anchor="t"/>
          <a:lstStyle/>
          <a:p>
            <a:pPr indent="0" marL="0">
              <a:buNone/>
            </a:pPr>
            <a:r>
              <a:rPr lang="en-US" sz="1900" b="1" dirty="0">
                <a:solidFill>
                  <a:schemeClr val="accent4"/>
                </a:solidFill>
              </a:rPr>
              <a:t>Domain agents investigate</a:t>
            </a:r>
            <a:endParaRPr lang="en-US" sz="1900" dirty="0"/>
          </a:p>
        </p:txBody>
      </p:sp>
      <p:sp>
        <p:nvSpPr>
          <p:cNvPr id="10" name="Text 8"/>
          <p:cNvSpPr txBox="1"/>
          <p:nvPr/>
        </p:nvSpPr>
        <p:spPr>
          <a:xfrm>
            <a:off x="3383280" y="3566160"/>
            <a:ext cx="2560320" cy="1463040"/>
          </a:xfrm>
          <a:prstGeom prst="rect">
            <a:avLst/>
          </a:prstGeom>
          <a:noFill/>
          <a:ln/>
        </p:spPr>
        <p:txBody>
          <a:bodyPr wrap="square" lIns="0" tIns="0" rIns="0" bIns="0" rtlCol="0" anchor="t"/>
          <a:lstStyle/>
          <a:p>
            <a:pPr indent="0" marL="0">
              <a:buNone/>
            </a:pPr>
            <a:r>
              <a:rPr lang="en-US" sz="1450" dirty="0">
                <a:solidFill>
                  <a:schemeClr val="tx1"/>
                </a:solidFill>
              </a:rPr>
              <a:t>A Network Agent and an OpenShift Agent read those tools, watch for weak signals and gather evidence on request.</a:t>
            </a:r>
            <a:endParaRPr lang="en-US" sz="1450" dirty="0"/>
          </a:p>
        </p:txBody>
      </p:sp>
      <p:sp>
        <p:nvSpPr>
          <p:cNvPr id="11" name="Shape 9"/>
          <p:cNvSpPr/>
          <p:nvPr/>
        </p:nvSpPr>
        <p:spPr>
          <a:xfrm>
            <a:off x="6217920" y="1600200"/>
            <a:ext cx="2697480" cy="914400"/>
          </a:xfrm>
          <a:prstGeom prst="chevron">
            <a:avLst/>
          </a:prstGeom>
          <a:solidFill>
            <a:schemeClr val="accent1"/>
          </a:solidFill>
          <a:ln w="12700">
            <a:solidFill>
              <a:schemeClr val="accent1"/>
            </a:solidFill>
            <a:prstDash val="solid"/>
          </a:ln>
        </p:spPr>
      </p:sp>
      <p:sp>
        <p:nvSpPr>
          <p:cNvPr id="12" name="Text 10"/>
          <p:cNvSpPr txBox="1"/>
          <p:nvPr/>
        </p:nvSpPr>
        <p:spPr>
          <a:xfrm>
            <a:off x="6492240" y="1600200"/>
            <a:ext cx="2194560" cy="914400"/>
          </a:xfrm>
          <a:prstGeom prst="rect">
            <a:avLst/>
          </a:prstGeom>
          <a:noFill/>
          <a:ln/>
        </p:spPr>
        <p:txBody>
          <a:bodyPr wrap="square" lIns="0" tIns="0" rIns="0" bIns="0" rtlCol="0" anchor="ctr"/>
          <a:lstStyle/>
          <a:p>
            <a:pPr algn="ctr" indent="0" marL="0">
              <a:buNone/>
            </a:pPr>
            <a:r>
              <a:rPr lang="en-US" sz="3000" b="1" dirty="0">
                <a:solidFill>
                  <a:schemeClr val="bg1"/>
                </a:solidFill>
              </a:rPr>
              <a:t>3</a:t>
            </a:r>
            <a:endParaRPr lang="en-US" sz="3000" dirty="0"/>
          </a:p>
        </p:txBody>
      </p:sp>
      <p:sp>
        <p:nvSpPr>
          <p:cNvPr id="13" name="Text 11"/>
          <p:cNvSpPr txBox="1"/>
          <p:nvPr/>
        </p:nvSpPr>
        <p:spPr>
          <a:xfrm>
            <a:off x="6217920" y="2743200"/>
            <a:ext cx="2606040" cy="777240"/>
          </a:xfrm>
          <a:prstGeom prst="rect">
            <a:avLst/>
          </a:prstGeom>
          <a:noFill/>
          <a:ln/>
        </p:spPr>
        <p:txBody>
          <a:bodyPr wrap="square" lIns="0" tIns="0" rIns="0" bIns="0" rtlCol="0" anchor="t"/>
          <a:lstStyle/>
          <a:p>
            <a:pPr indent="0" marL="0">
              <a:buNone/>
            </a:pPr>
            <a:r>
              <a:rPr lang="en-US" sz="1900" b="1" dirty="0">
                <a:solidFill>
                  <a:schemeClr val="accent1"/>
                </a:solidFill>
              </a:rPr>
              <a:t>Parent agent connects the dots</a:t>
            </a:r>
            <a:endParaRPr lang="en-US" sz="1900" dirty="0"/>
          </a:p>
        </p:txBody>
      </p:sp>
      <p:sp>
        <p:nvSpPr>
          <p:cNvPr id="14" name="Text 12"/>
          <p:cNvSpPr txBox="1"/>
          <p:nvPr/>
        </p:nvSpPr>
        <p:spPr>
          <a:xfrm>
            <a:off x="6217920" y="3566160"/>
            <a:ext cx="2560320" cy="1463040"/>
          </a:xfrm>
          <a:prstGeom prst="rect">
            <a:avLst/>
          </a:prstGeom>
          <a:noFill/>
          <a:ln/>
        </p:spPr>
        <p:txBody>
          <a:bodyPr wrap="square" lIns="0" tIns="0" rIns="0" bIns="0" rtlCol="0" anchor="t"/>
          <a:lstStyle/>
          <a:p>
            <a:pPr indent="0" marL="0">
              <a:buNone/>
            </a:pPr>
            <a:r>
              <a:rPr lang="en-US" sz="1450" dirty="0">
                <a:solidFill>
                  <a:schemeClr val="tx1"/>
                </a:solidFill>
              </a:rPr>
              <a:t>Correlates across domains by topology and time, tests hypotheses, scores confidence from evidence.</a:t>
            </a:r>
            <a:endParaRPr lang="en-US" sz="1450" dirty="0"/>
          </a:p>
        </p:txBody>
      </p:sp>
      <p:sp>
        <p:nvSpPr>
          <p:cNvPr id="15" name="Shape 13"/>
          <p:cNvSpPr/>
          <p:nvPr/>
        </p:nvSpPr>
        <p:spPr>
          <a:xfrm>
            <a:off x="9052560" y="1600200"/>
            <a:ext cx="2697480" cy="914400"/>
          </a:xfrm>
          <a:prstGeom prst="chevron">
            <a:avLst/>
          </a:prstGeom>
          <a:solidFill>
            <a:schemeClr val="accent2"/>
          </a:solidFill>
          <a:ln w="12700">
            <a:solidFill>
              <a:schemeClr val="accent2"/>
            </a:solidFill>
            <a:prstDash val="solid"/>
          </a:ln>
        </p:spPr>
      </p:sp>
      <p:sp>
        <p:nvSpPr>
          <p:cNvPr id="16" name="Text 14"/>
          <p:cNvSpPr txBox="1"/>
          <p:nvPr/>
        </p:nvSpPr>
        <p:spPr>
          <a:xfrm>
            <a:off x="9326880" y="1600200"/>
            <a:ext cx="2194560" cy="914400"/>
          </a:xfrm>
          <a:prstGeom prst="rect">
            <a:avLst/>
          </a:prstGeom>
          <a:noFill/>
          <a:ln/>
        </p:spPr>
        <p:txBody>
          <a:bodyPr wrap="square" lIns="0" tIns="0" rIns="0" bIns="0" rtlCol="0" anchor="ctr"/>
          <a:lstStyle/>
          <a:p>
            <a:pPr algn="ctr" indent="0" marL="0">
              <a:buNone/>
            </a:pPr>
            <a:r>
              <a:rPr lang="en-US" sz="3000" b="1" dirty="0">
                <a:solidFill>
                  <a:schemeClr val="bg1"/>
                </a:solidFill>
              </a:rPr>
              <a:t>4</a:t>
            </a:r>
            <a:endParaRPr lang="en-US" sz="3000" dirty="0"/>
          </a:p>
        </p:txBody>
      </p:sp>
      <p:sp>
        <p:nvSpPr>
          <p:cNvPr id="17" name="Text 15"/>
          <p:cNvSpPr txBox="1"/>
          <p:nvPr/>
        </p:nvSpPr>
        <p:spPr>
          <a:xfrm>
            <a:off x="9052560" y="2743200"/>
            <a:ext cx="2606040" cy="777240"/>
          </a:xfrm>
          <a:prstGeom prst="rect">
            <a:avLst/>
          </a:prstGeom>
          <a:noFill/>
          <a:ln/>
        </p:spPr>
        <p:txBody>
          <a:bodyPr wrap="square" lIns="0" tIns="0" rIns="0" bIns="0" rtlCol="0" anchor="t"/>
          <a:lstStyle/>
          <a:p>
            <a:pPr indent="0" marL="0">
              <a:buNone/>
            </a:pPr>
            <a:r>
              <a:rPr lang="en-US" sz="1900" b="1" dirty="0">
                <a:solidFill>
                  <a:schemeClr val="accent2"/>
                </a:solidFill>
              </a:rPr>
              <a:t>WatchTower explains and guides</a:t>
            </a:r>
            <a:endParaRPr lang="en-US" sz="1900" dirty="0"/>
          </a:p>
        </p:txBody>
      </p:sp>
      <p:sp>
        <p:nvSpPr>
          <p:cNvPr id="18" name="Text 16"/>
          <p:cNvSpPr txBox="1"/>
          <p:nvPr/>
        </p:nvSpPr>
        <p:spPr>
          <a:xfrm>
            <a:off x="9052560" y="3566160"/>
            <a:ext cx="2560320" cy="1463040"/>
          </a:xfrm>
          <a:prstGeom prst="rect">
            <a:avLst/>
          </a:prstGeom>
          <a:noFill/>
          <a:ln/>
        </p:spPr>
        <p:txBody>
          <a:bodyPr wrap="square" lIns="0" tIns="0" rIns="0" bIns="0" rtlCol="0" anchor="t"/>
          <a:lstStyle/>
          <a:p>
            <a:pPr indent="0" marL="0">
              <a:buNone/>
            </a:pPr>
            <a:r>
              <a:rPr lang="en-US" sz="1450" dirty="0">
                <a:solidFill>
                  <a:schemeClr val="tx1"/>
                </a:solidFill>
              </a:rPr>
              <a:t>Tells the SRE the likely cause, shows the evidence, suggests next checks and the escalation.</a:t>
            </a:r>
            <a:endParaRPr lang="en-US" sz="1450" dirty="0"/>
          </a:p>
        </p:txBody>
      </p:sp>
      <p:sp>
        <p:nvSpPr>
          <p:cNvPr id="19" name="stop"/>
          <p:cNvSpPr/>
          <p:nvPr/>
        </p:nvSpPr>
        <p:spPr>
          <a:xfrm>
            <a:off x="548640" y="5212080"/>
            <a:ext cx="11064240" cy="868680"/>
          </a:xfrm>
          <a:prstGeom prst="roundRect">
            <a:avLst>
              <a:gd name="adj" fmla="val 12632"/>
            </a:avLst>
          </a:prstGeom>
          <a:solidFill>
            <a:schemeClr val="bg2"/>
          </a:solidFill>
          <a:ln w="12700">
            <a:solidFill>
              <a:schemeClr val="bg2"/>
            </a:solidFill>
            <a:prstDash val="solid"/>
          </a:ln>
        </p:spPr>
      </p:sp>
      <p:sp>
        <p:nvSpPr>
          <p:cNvPr id="20" name="Text 18"/>
          <p:cNvSpPr txBox="1"/>
          <p:nvPr/>
        </p:nvSpPr>
        <p:spPr>
          <a:xfrm>
            <a:off x="822960" y="5349240"/>
            <a:ext cx="10515600" cy="594360"/>
          </a:xfrm>
          <a:prstGeom prst="rect">
            <a:avLst/>
          </a:prstGeom>
          <a:noFill/>
          <a:ln/>
        </p:spPr>
        <p:txBody>
          <a:bodyPr wrap="square" lIns="0" tIns="0" rIns="0" bIns="0" rtlCol="0" anchor="ctr"/>
          <a:lstStyle/>
          <a:p>
            <a:pPr indent="0" marL="0">
              <a:buNone/>
            </a:pPr>
            <a:r>
              <a:rPr lang="en-US" sz="1600" b="1" dirty="0">
                <a:solidFill>
                  <a:schemeClr val="accent3"/>
                </a:solidFill>
              </a:rPr>
              <a:t>Read-only, human in the loop. </a:t>
            </a:r>
            <a:pPr indent="0" marL="0">
              <a:buNone/>
            </a:pPr>
            <a:r>
              <a:rPr lang="en-US" sz="1600" dirty="0">
                <a:solidFill>
                  <a:schemeClr val="tx1"/>
                </a:solidFill>
              </a:rPr>
              <a:t>WatchTower stops at Observe → Detect → Diagnose → Recommend. People decide and make any change through change control.</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How the agents interact</a:t>
            </a:r>
            <a:endParaRPr lang="en-US" sz="3400" dirty="0"/>
          </a:p>
        </p:txBody>
      </p:sp>
      <p:pic>
        <p:nvPicPr>
          <p:cNvPr id="3" name="Image 0" descr="Architecture: SolarWinds and Splunk feed the Network and OpenShift domain agents; the Parent Agent tasks them, correlates their findings and investigates; the WatchTower Copilot explains to the 24/7 SRE. Live probes only when needed. Shared on-prem Gemma, playbooks, escalation matrix, topology map and evidence store.">    </p:cNvPr>
          <p:cNvPicPr>
            <a:picLocks noChangeAspect="1"/>
          </p:cNvPicPr>
          <p:nvPr/>
        </p:nvPicPr>
        <p:blipFill>
          <a:blip r:embed="rId1"/>
          <a:stretch>
            <a:fillRect/>
          </a:stretch>
        </p:blipFill>
        <p:spPr>
          <a:xfrm>
            <a:off x="1544168" y="1188720"/>
            <a:ext cx="9103360" cy="512064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Design principles</a:t>
            </a:r>
            <a:endParaRPr lang="en-US" sz="3400" dirty="0"/>
          </a:p>
        </p:txBody>
      </p:sp>
      <p:sp>
        <p:nvSpPr>
          <p:cNvPr id="3" name="p0"/>
          <p:cNvSpPr/>
          <p:nvPr/>
        </p:nvSpPr>
        <p:spPr>
          <a:xfrm>
            <a:off x="548640" y="1417320"/>
            <a:ext cx="3474720" cy="2194560"/>
          </a:xfrm>
          <a:prstGeom prst="roundRect">
            <a:avLst>
              <a:gd name="adj" fmla="val 5000"/>
            </a:avLst>
          </a:prstGeom>
          <a:solidFill>
            <a:schemeClr val="bg2"/>
          </a:solidFill>
          <a:ln w="12700">
            <a:solidFill>
              <a:schemeClr val="bg2"/>
            </a:solidFill>
            <a:prstDash val="solid"/>
          </a:ln>
        </p:spPr>
      </p:sp>
      <p:sp>
        <p:nvSpPr>
          <p:cNvPr id="4" name="Shape 2"/>
          <p:cNvSpPr/>
          <p:nvPr/>
        </p:nvSpPr>
        <p:spPr>
          <a:xfrm>
            <a:off x="822960" y="1691640"/>
            <a:ext cx="457200" cy="457200"/>
          </a:xfrm>
          <a:prstGeom prst="ellipse">
            <a:avLst/>
          </a:prstGeom>
          <a:solidFill>
            <a:schemeClr val="tx1"/>
          </a:solidFill>
          <a:ln w="12700">
            <a:solidFill>
              <a:schemeClr val="tx1"/>
            </a:solidFill>
            <a:prstDash val="solid"/>
          </a:ln>
        </p:spPr>
      </p:sp>
      <p:sp>
        <p:nvSpPr>
          <p:cNvPr id="5" name="Text 3"/>
          <p:cNvSpPr txBox="1"/>
          <p:nvPr/>
        </p:nvSpPr>
        <p:spPr>
          <a:xfrm>
            <a:off x="822960" y="16916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417320" y="1673352"/>
            <a:ext cx="2468880" cy="548640"/>
          </a:xfrm>
          <a:prstGeom prst="rect">
            <a:avLst/>
          </a:prstGeom>
          <a:noFill/>
          <a:ln/>
        </p:spPr>
        <p:txBody>
          <a:bodyPr wrap="square" lIns="0" tIns="0" rIns="0" bIns="0" rtlCol="0" anchor="ctr"/>
          <a:lstStyle/>
          <a:p>
            <a:pPr indent="0" marL="0">
              <a:buNone/>
            </a:pPr>
            <a:r>
              <a:rPr lang="en-US" sz="1700" b="1" dirty="0">
                <a:solidFill>
                  <a:schemeClr val="tx1"/>
                </a:solidFill>
              </a:rPr>
              <a:t>Domain agents</a:t>
            </a:r>
            <a:endParaRPr lang="en-US" sz="1700" dirty="0"/>
          </a:p>
        </p:txBody>
      </p:sp>
      <p:sp>
        <p:nvSpPr>
          <p:cNvPr id="7" name="Text 5"/>
          <p:cNvSpPr txBox="1"/>
          <p:nvPr/>
        </p:nvSpPr>
        <p:spPr>
          <a:xfrm>
            <a:off x="822960" y="2331720"/>
            <a:ext cx="2971800" cy="1188720"/>
          </a:xfrm>
          <a:prstGeom prst="rect">
            <a:avLst/>
          </a:prstGeom>
          <a:noFill/>
          <a:ln/>
        </p:spPr>
        <p:txBody>
          <a:bodyPr wrap="square" lIns="0" tIns="0" rIns="0" bIns="0" rtlCol="0" anchor="t"/>
          <a:lstStyle/>
          <a:p>
            <a:pPr indent="0" marL="0">
              <a:buNone/>
            </a:pPr>
            <a:r>
              <a:rPr lang="en-US" sz="1400" dirty="0">
                <a:solidFill>
                  <a:schemeClr val="tx2"/>
                </a:solidFill>
              </a:rPr>
              <a:t>One agent per technology (Network, OpenShift), not per device. New domains add an agent, not a redesign.</a:t>
            </a:r>
            <a:endParaRPr lang="en-US" sz="1400" dirty="0"/>
          </a:p>
        </p:txBody>
      </p:sp>
      <p:sp>
        <p:nvSpPr>
          <p:cNvPr id="8" name="p1"/>
          <p:cNvSpPr/>
          <p:nvPr/>
        </p:nvSpPr>
        <p:spPr>
          <a:xfrm>
            <a:off x="4297680" y="1417320"/>
            <a:ext cx="3474720" cy="2194560"/>
          </a:xfrm>
          <a:prstGeom prst="roundRect">
            <a:avLst>
              <a:gd name="adj" fmla="val 5000"/>
            </a:avLst>
          </a:prstGeom>
          <a:solidFill>
            <a:schemeClr val="bg2"/>
          </a:solidFill>
          <a:ln w="12700">
            <a:solidFill>
              <a:schemeClr val="bg2"/>
            </a:solidFill>
            <a:prstDash val="solid"/>
          </a:ln>
        </p:spPr>
      </p:sp>
      <p:sp>
        <p:nvSpPr>
          <p:cNvPr id="9" name="Shape 7"/>
          <p:cNvSpPr/>
          <p:nvPr/>
        </p:nvSpPr>
        <p:spPr>
          <a:xfrm>
            <a:off x="4572000" y="1691640"/>
            <a:ext cx="457200" cy="457200"/>
          </a:xfrm>
          <a:prstGeom prst="ellipse">
            <a:avLst/>
          </a:prstGeom>
          <a:solidFill>
            <a:schemeClr val="tx1"/>
          </a:solidFill>
          <a:ln w="12700">
            <a:solidFill>
              <a:schemeClr val="tx1"/>
            </a:solidFill>
            <a:prstDash val="solid"/>
          </a:ln>
        </p:spPr>
      </p:sp>
      <p:sp>
        <p:nvSpPr>
          <p:cNvPr id="10" name="Text 8"/>
          <p:cNvSpPr txBox="1"/>
          <p:nvPr/>
        </p:nvSpPr>
        <p:spPr>
          <a:xfrm>
            <a:off x="4572000" y="16916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5166360" y="1673352"/>
            <a:ext cx="2468880" cy="548640"/>
          </a:xfrm>
          <a:prstGeom prst="rect">
            <a:avLst/>
          </a:prstGeom>
          <a:noFill/>
          <a:ln/>
        </p:spPr>
        <p:txBody>
          <a:bodyPr wrap="square" lIns="0" tIns="0" rIns="0" bIns="0" rtlCol="0" anchor="ctr"/>
          <a:lstStyle/>
          <a:p>
            <a:pPr indent="0" marL="0">
              <a:buNone/>
            </a:pPr>
            <a:r>
              <a:rPr lang="en-US" sz="1700" b="1" dirty="0">
                <a:solidFill>
                  <a:schemeClr val="tx1"/>
                </a:solidFill>
              </a:rPr>
              <a:t>Parent agent</a:t>
            </a:r>
            <a:endParaRPr lang="en-US" sz="1700" dirty="0"/>
          </a:p>
        </p:txBody>
      </p:sp>
      <p:sp>
        <p:nvSpPr>
          <p:cNvPr id="12" name="Text 10"/>
          <p:cNvSpPr txBox="1"/>
          <p:nvPr/>
        </p:nvSpPr>
        <p:spPr>
          <a:xfrm>
            <a:off x="4572000" y="2331720"/>
            <a:ext cx="2971800" cy="1188720"/>
          </a:xfrm>
          <a:prstGeom prst="rect">
            <a:avLst/>
          </a:prstGeom>
          <a:noFill/>
          <a:ln/>
        </p:spPr>
        <p:txBody>
          <a:bodyPr wrap="square" lIns="0" tIns="0" rIns="0" bIns="0" rtlCol="0" anchor="t"/>
          <a:lstStyle/>
          <a:p>
            <a:pPr indent="0" marL="0">
              <a:buNone/>
            </a:pPr>
            <a:r>
              <a:rPr lang="en-US" sz="1400" dirty="0">
                <a:solidFill>
                  <a:schemeClr val="tx2"/>
                </a:solidFill>
              </a:rPr>
              <a:t>Owns cross-domain investigation and correlation across the domain agents' findings.</a:t>
            </a:r>
            <a:endParaRPr lang="en-US" sz="1400" dirty="0"/>
          </a:p>
        </p:txBody>
      </p:sp>
      <p:sp>
        <p:nvSpPr>
          <p:cNvPr id="13" name="p2"/>
          <p:cNvSpPr/>
          <p:nvPr/>
        </p:nvSpPr>
        <p:spPr>
          <a:xfrm>
            <a:off x="8046720" y="1417320"/>
            <a:ext cx="3474720" cy="2194560"/>
          </a:xfrm>
          <a:prstGeom prst="roundRect">
            <a:avLst>
              <a:gd name="adj" fmla="val 5000"/>
            </a:avLst>
          </a:prstGeom>
          <a:solidFill>
            <a:schemeClr val="bg2"/>
          </a:solidFill>
          <a:ln w="12700">
            <a:solidFill>
              <a:schemeClr val="bg2"/>
            </a:solidFill>
            <a:prstDash val="solid"/>
          </a:ln>
        </p:spPr>
      </p:sp>
      <p:sp>
        <p:nvSpPr>
          <p:cNvPr id="14" name="Shape 12"/>
          <p:cNvSpPr/>
          <p:nvPr/>
        </p:nvSpPr>
        <p:spPr>
          <a:xfrm>
            <a:off x="8321040" y="1691640"/>
            <a:ext cx="457200" cy="457200"/>
          </a:xfrm>
          <a:prstGeom prst="ellipse">
            <a:avLst/>
          </a:prstGeom>
          <a:solidFill>
            <a:schemeClr val="tx1"/>
          </a:solidFill>
          <a:ln w="12700">
            <a:solidFill>
              <a:schemeClr val="tx1"/>
            </a:solidFill>
            <a:prstDash val="solid"/>
          </a:ln>
        </p:spPr>
      </p:sp>
      <p:sp>
        <p:nvSpPr>
          <p:cNvPr id="15" name="Text 13"/>
          <p:cNvSpPr txBox="1"/>
          <p:nvPr/>
        </p:nvSpPr>
        <p:spPr>
          <a:xfrm>
            <a:off x="8321040" y="16916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8915400" y="1673352"/>
            <a:ext cx="2468880" cy="548640"/>
          </a:xfrm>
          <a:prstGeom prst="rect">
            <a:avLst/>
          </a:prstGeom>
          <a:noFill/>
          <a:ln/>
        </p:spPr>
        <p:txBody>
          <a:bodyPr wrap="square" lIns="0" tIns="0" rIns="0" bIns="0" rtlCol="0" anchor="ctr"/>
          <a:lstStyle/>
          <a:p>
            <a:pPr indent="0" marL="0">
              <a:buNone/>
            </a:pPr>
            <a:r>
              <a:rPr lang="en-US" sz="1700" b="1" dirty="0">
                <a:solidFill>
                  <a:schemeClr val="tx1"/>
                </a:solidFill>
              </a:rPr>
              <a:t>Reuse first, probe second</a:t>
            </a:r>
            <a:endParaRPr lang="en-US" sz="1700" dirty="0"/>
          </a:p>
        </p:txBody>
      </p:sp>
      <p:sp>
        <p:nvSpPr>
          <p:cNvPr id="17" name="Text 15"/>
          <p:cNvSpPr txBox="1"/>
          <p:nvPr/>
        </p:nvSpPr>
        <p:spPr>
          <a:xfrm>
            <a:off x="8321040" y="2331720"/>
            <a:ext cx="2971800" cy="1188720"/>
          </a:xfrm>
          <a:prstGeom prst="rect">
            <a:avLst/>
          </a:prstGeom>
          <a:noFill/>
          <a:ln/>
        </p:spPr>
        <p:txBody>
          <a:bodyPr wrap="square" lIns="0" tIns="0" rIns="0" bIns="0" rtlCol="0" anchor="t"/>
          <a:lstStyle/>
          <a:p>
            <a:pPr indent="0" marL="0">
              <a:buNone/>
            </a:pPr>
            <a:r>
              <a:rPr lang="en-US" sz="1400" dirty="0">
                <a:solidFill>
                  <a:schemeClr val="tx2"/>
                </a:solidFill>
              </a:rPr>
              <a:t>Splunk for logs and events, SolarWinds for metrics. CLI and APIs only for live state or deeper evidence.</a:t>
            </a:r>
            <a:endParaRPr lang="en-US" sz="1400" dirty="0"/>
          </a:p>
        </p:txBody>
      </p:sp>
      <p:sp>
        <p:nvSpPr>
          <p:cNvPr id="18" name="p3"/>
          <p:cNvSpPr/>
          <p:nvPr/>
        </p:nvSpPr>
        <p:spPr>
          <a:xfrm>
            <a:off x="548640" y="3840480"/>
            <a:ext cx="3474720" cy="2194560"/>
          </a:xfrm>
          <a:prstGeom prst="roundRect">
            <a:avLst>
              <a:gd name="adj" fmla="val 5000"/>
            </a:avLst>
          </a:prstGeom>
          <a:solidFill>
            <a:schemeClr val="bg2"/>
          </a:solidFill>
          <a:ln w="12700">
            <a:solidFill>
              <a:schemeClr val="bg2"/>
            </a:solidFill>
            <a:prstDash val="solid"/>
          </a:ln>
        </p:spPr>
      </p:sp>
      <p:sp>
        <p:nvSpPr>
          <p:cNvPr id="19" name="Shape 17"/>
          <p:cNvSpPr/>
          <p:nvPr/>
        </p:nvSpPr>
        <p:spPr>
          <a:xfrm>
            <a:off x="822960" y="4114800"/>
            <a:ext cx="457200" cy="457200"/>
          </a:xfrm>
          <a:prstGeom prst="ellipse">
            <a:avLst/>
          </a:prstGeom>
          <a:solidFill>
            <a:schemeClr val="tx1"/>
          </a:solidFill>
          <a:ln w="12700">
            <a:solidFill>
              <a:schemeClr val="tx1"/>
            </a:solidFill>
            <a:prstDash val="solid"/>
          </a:ln>
        </p:spPr>
      </p:sp>
      <p:sp>
        <p:nvSpPr>
          <p:cNvPr id="20" name="Text 18"/>
          <p:cNvSpPr txBox="1"/>
          <p:nvPr/>
        </p:nvSpPr>
        <p:spPr>
          <a:xfrm>
            <a:off x="822960" y="41148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 19"/>
          <p:cNvSpPr txBox="1"/>
          <p:nvPr/>
        </p:nvSpPr>
        <p:spPr>
          <a:xfrm>
            <a:off x="1417320" y="4096512"/>
            <a:ext cx="2468880" cy="548640"/>
          </a:xfrm>
          <a:prstGeom prst="rect">
            <a:avLst/>
          </a:prstGeom>
          <a:noFill/>
          <a:ln/>
        </p:spPr>
        <p:txBody>
          <a:bodyPr wrap="square" lIns="0" tIns="0" rIns="0" bIns="0" rtlCol="0" anchor="ctr"/>
          <a:lstStyle/>
          <a:p>
            <a:pPr indent="0" marL="0">
              <a:buNone/>
            </a:pPr>
            <a:r>
              <a:rPr lang="en-US" sz="1700" b="1" dirty="0">
                <a:solidFill>
                  <a:schemeClr val="tx1"/>
                </a:solidFill>
              </a:rPr>
              <a:t>Deterministic + AI-assisted</a:t>
            </a:r>
            <a:endParaRPr lang="en-US" sz="1700" dirty="0"/>
          </a:p>
        </p:txBody>
      </p:sp>
      <p:sp>
        <p:nvSpPr>
          <p:cNvPr id="22" name="Text 20"/>
          <p:cNvSpPr txBox="1"/>
          <p:nvPr/>
        </p:nvSpPr>
        <p:spPr>
          <a:xfrm>
            <a:off x="822960" y="4754880"/>
            <a:ext cx="2971800" cy="1188720"/>
          </a:xfrm>
          <a:prstGeom prst="rect">
            <a:avLst/>
          </a:prstGeom>
          <a:noFill/>
          <a:ln/>
        </p:spPr>
        <p:txBody>
          <a:bodyPr wrap="square" lIns="0" tIns="0" rIns="0" bIns="0" rtlCol="0" anchor="t"/>
          <a:lstStyle/>
          <a:p>
            <a:pPr indent="0" marL="0">
              <a:buNone/>
            </a:pPr>
            <a:r>
              <a:rPr lang="en-US" sz="1400" dirty="0">
                <a:solidFill>
                  <a:schemeClr val="tx2"/>
                </a:solidFill>
              </a:rPr>
              <a:t>Thresholds, baselines, collection and basic correlation are plain code. AI does hypotheses, interpretation, explanation, next steps.</a:t>
            </a:r>
            <a:endParaRPr lang="en-US" sz="1400" dirty="0"/>
          </a:p>
        </p:txBody>
      </p:sp>
      <p:sp>
        <p:nvSpPr>
          <p:cNvPr id="23" name="p4"/>
          <p:cNvSpPr/>
          <p:nvPr/>
        </p:nvSpPr>
        <p:spPr>
          <a:xfrm>
            <a:off x="4297680" y="3840480"/>
            <a:ext cx="3474720" cy="2194560"/>
          </a:xfrm>
          <a:prstGeom prst="roundRect">
            <a:avLst>
              <a:gd name="adj" fmla="val 5000"/>
            </a:avLst>
          </a:prstGeom>
          <a:solidFill>
            <a:schemeClr val="bg2"/>
          </a:solidFill>
          <a:ln w="12700">
            <a:solidFill>
              <a:schemeClr val="bg2"/>
            </a:solidFill>
            <a:prstDash val="solid"/>
          </a:ln>
        </p:spPr>
      </p:sp>
      <p:sp>
        <p:nvSpPr>
          <p:cNvPr id="24" name="Shape 22"/>
          <p:cNvSpPr/>
          <p:nvPr/>
        </p:nvSpPr>
        <p:spPr>
          <a:xfrm>
            <a:off x="4572000" y="4114800"/>
            <a:ext cx="457200" cy="457200"/>
          </a:xfrm>
          <a:prstGeom prst="ellipse">
            <a:avLst/>
          </a:prstGeom>
          <a:solidFill>
            <a:schemeClr val="tx1"/>
          </a:solidFill>
          <a:ln w="12700">
            <a:solidFill>
              <a:schemeClr val="tx1"/>
            </a:solidFill>
            <a:prstDash val="solid"/>
          </a:ln>
        </p:spPr>
      </p:sp>
      <p:sp>
        <p:nvSpPr>
          <p:cNvPr id="25" name="Text 23"/>
          <p:cNvSpPr txBox="1"/>
          <p:nvPr/>
        </p:nvSpPr>
        <p:spPr>
          <a:xfrm>
            <a:off x="4572000" y="41148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6" name="Text 24"/>
          <p:cNvSpPr txBox="1"/>
          <p:nvPr/>
        </p:nvSpPr>
        <p:spPr>
          <a:xfrm>
            <a:off x="5166360" y="4096512"/>
            <a:ext cx="2468880" cy="548640"/>
          </a:xfrm>
          <a:prstGeom prst="rect">
            <a:avLst/>
          </a:prstGeom>
          <a:noFill/>
          <a:ln/>
        </p:spPr>
        <p:txBody>
          <a:bodyPr wrap="square" lIns="0" tIns="0" rIns="0" bIns="0" rtlCol="0" anchor="ctr"/>
          <a:lstStyle/>
          <a:p>
            <a:pPr indent="0" marL="0">
              <a:buNone/>
            </a:pPr>
            <a:r>
              <a:rPr lang="en-US" sz="1700" b="1" dirty="0">
                <a:solidFill>
                  <a:schemeClr val="tx1"/>
                </a:solidFill>
              </a:rPr>
              <a:t>Evidence before opinion</a:t>
            </a:r>
            <a:endParaRPr lang="en-US" sz="1700" dirty="0"/>
          </a:p>
        </p:txBody>
      </p:sp>
      <p:sp>
        <p:nvSpPr>
          <p:cNvPr id="27" name="Text 25"/>
          <p:cNvSpPr txBox="1"/>
          <p:nvPr/>
        </p:nvSpPr>
        <p:spPr>
          <a:xfrm>
            <a:off x="4572000" y="4754880"/>
            <a:ext cx="2971800" cy="1188720"/>
          </a:xfrm>
          <a:prstGeom prst="rect">
            <a:avLst/>
          </a:prstGeom>
          <a:noFill/>
          <a:ln/>
        </p:spPr>
        <p:txBody>
          <a:bodyPr wrap="square" lIns="0" tIns="0" rIns="0" bIns="0" rtlCol="0" anchor="t"/>
          <a:lstStyle/>
          <a:p>
            <a:pPr indent="0" marL="0">
              <a:buNone/>
            </a:pPr>
            <a:r>
              <a:rPr lang="en-US" sz="1400" dirty="0">
                <a:solidFill>
                  <a:schemeClr val="tx2"/>
                </a:solidFill>
              </a:rPr>
              <a:t>Observation → evidence → correlation → hypothesis → confidence → recommended actions, all traceable.</a:t>
            </a:r>
            <a:endParaRPr lang="en-US" sz="1400" dirty="0"/>
          </a:p>
        </p:txBody>
      </p:sp>
      <p:sp>
        <p:nvSpPr>
          <p:cNvPr id="28" name="p5"/>
          <p:cNvSpPr/>
          <p:nvPr/>
        </p:nvSpPr>
        <p:spPr>
          <a:xfrm>
            <a:off x="8046720" y="3840480"/>
            <a:ext cx="3474720" cy="2194560"/>
          </a:xfrm>
          <a:prstGeom prst="roundRect">
            <a:avLst>
              <a:gd name="adj" fmla="val 5000"/>
            </a:avLst>
          </a:prstGeom>
          <a:solidFill>
            <a:schemeClr val="bg2"/>
          </a:solidFill>
          <a:ln w="12700">
            <a:solidFill>
              <a:schemeClr val="bg2"/>
            </a:solidFill>
            <a:prstDash val="solid"/>
          </a:ln>
        </p:spPr>
      </p:sp>
      <p:sp>
        <p:nvSpPr>
          <p:cNvPr id="29" name="Shape 27"/>
          <p:cNvSpPr/>
          <p:nvPr/>
        </p:nvSpPr>
        <p:spPr>
          <a:xfrm>
            <a:off x="8321040" y="4114800"/>
            <a:ext cx="457200" cy="457200"/>
          </a:xfrm>
          <a:prstGeom prst="ellipse">
            <a:avLst/>
          </a:prstGeom>
          <a:solidFill>
            <a:schemeClr val="tx1"/>
          </a:solidFill>
          <a:ln w="12700">
            <a:solidFill>
              <a:schemeClr val="tx1"/>
            </a:solidFill>
            <a:prstDash val="solid"/>
          </a:ln>
        </p:spPr>
      </p:sp>
      <p:sp>
        <p:nvSpPr>
          <p:cNvPr id="30" name="Text 28"/>
          <p:cNvSpPr txBox="1"/>
          <p:nvPr/>
        </p:nvSpPr>
        <p:spPr>
          <a:xfrm>
            <a:off x="8321040" y="41148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1" name="Text 29"/>
          <p:cNvSpPr txBox="1"/>
          <p:nvPr/>
        </p:nvSpPr>
        <p:spPr>
          <a:xfrm>
            <a:off x="8915400" y="4096512"/>
            <a:ext cx="2468880" cy="548640"/>
          </a:xfrm>
          <a:prstGeom prst="rect">
            <a:avLst/>
          </a:prstGeom>
          <a:noFill/>
          <a:ln/>
        </p:spPr>
        <p:txBody>
          <a:bodyPr wrap="square" lIns="0" tIns="0" rIns="0" bIns="0" rtlCol="0" anchor="ctr"/>
          <a:lstStyle/>
          <a:p>
            <a:pPr indent="0" marL="0">
              <a:buNone/>
            </a:pPr>
            <a:r>
              <a:rPr lang="en-US" sz="1700" b="1" dirty="0">
                <a:solidFill>
                  <a:schemeClr val="tx1"/>
                </a:solidFill>
              </a:rPr>
              <a:t>Read-only, human in the loop</a:t>
            </a:r>
            <a:endParaRPr lang="en-US" sz="1700" dirty="0"/>
          </a:p>
        </p:txBody>
      </p:sp>
      <p:sp>
        <p:nvSpPr>
          <p:cNvPr id="32" name="Text 30"/>
          <p:cNvSpPr txBox="1"/>
          <p:nvPr/>
        </p:nvSpPr>
        <p:spPr>
          <a:xfrm>
            <a:off x="8321040" y="4754880"/>
            <a:ext cx="2971800" cy="1188720"/>
          </a:xfrm>
          <a:prstGeom prst="rect">
            <a:avLst/>
          </a:prstGeom>
          <a:noFill/>
          <a:ln/>
        </p:spPr>
        <p:txBody>
          <a:bodyPr wrap="square" lIns="0" tIns="0" rIns="0" bIns="0" rtlCol="0" anchor="t"/>
          <a:lstStyle/>
          <a:p>
            <a:pPr indent="0" marL="0">
              <a:buNone/>
            </a:pPr>
            <a:r>
              <a:rPr lang="en-US" sz="1400" dirty="0">
                <a:solidFill>
                  <a:schemeClr val="tx2"/>
                </a:solidFill>
              </a:rPr>
              <a:t>Stops at Recommend. No remediation. Show-only CLI, get/list/watch APIs, full audit log.</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Reuse first, probe second</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657600"/>
                <a:gridCol w="4206240"/>
                <a:gridCol w="3200400"/>
              </a:tblGrid>
              <a:tr h="512064">
                <a:tc>
                  <a:txBody>
                    <a:bodyPr/>
                    <a:lstStyle/>
                    <a:p>
                      <a:pPr indent="0" marL="0">
                        <a:buNone/>
                      </a:pPr>
                      <a:r>
                        <a:rPr lang="en-US" sz="1400" b="1" dirty="0">
                          <a:solidFill>
                            <a:schemeClr val="bg1"/>
                          </a:solidFill>
                        </a:rPr>
                        <a:t>Question during an investigation</a:t>
                      </a:r>
                      <a:endParaRPr lang="en-US" sz="1400" dirty="0"/>
                    </a:p>
                  </a:txBody>
                  <a:tcPr marL="64008" marR="64008" marT="64008" marB="64008"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First: reuse</a:t>
                      </a:r>
                      <a:endParaRPr lang="en-US" sz="1400" dirty="0"/>
                    </a:p>
                  </a:txBody>
                  <a:tcPr marL="64008" marR="64008" marT="64008" marB="64008"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Second: probe, only if needed</a:t>
                      </a:r>
                      <a:endParaRPr lang="en-US" sz="1400" dirty="0"/>
                    </a:p>
                  </a:txBody>
                  <a:tcPr marL="64008" marR="64008" marT="64008" marB="64008"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tx1"/>
                    </a:solidFill>
                  </a:tcPr>
                </a:tc>
              </a:tr>
              <a:tr h="512064">
                <a:tc>
                  <a:txBody>
                    <a:bodyPr/>
                    <a:lstStyle/>
                    <a:p>
                      <a:pPr indent="0" marL="0">
                        <a:buNone/>
                      </a:pPr>
                      <a:r>
                        <a:rPr lang="en-US" sz="1300" dirty="0">
                          <a:solidFill>
                            <a:schemeClr val="tx1"/>
                          </a:solidFill>
                        </a:rPr>
                        <a:t>Are API calls from master-2 timing out?</a:t>
                      </a:r>
                      <a:endParaRPr lang="en-US" sz="1300" dirty="0"/>
                    </a:p>
                  </a:txBody>
                  <a:tcPr marL="64008" marR="64008" marT="64008" marB="64008"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Splunk: API client and kubelet logs</a:t>
                      </a:r>
                      <a:endParaRPr lang="en-US" sz="1300" dirty="0"/>
                    </a:p>
                  </a:txBody>
                  <a:tcPr marL="64008" marR="64008" marT="64008" marB="64008"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None needed</a:t>
                      </a:r>
                      <a:endParaRPr lang="en-US" sz="1300" dirty="0"/>
                    </a:p>
                  </a:txBody>
                  <a:tcPr marL="64008" marR="64008" marT="64008" marB="64008"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r h="512064">
                <a:tc>
                  <a:txBody>
                    <a:bodyPr/>
                    <a:lstStyle/>
                    <a:p>
                      <a:pPr indent="0" marL="0">
                        <a:buNone/>
                      </a:pPr>
                      <a:r>
                        <a:rPr lang="en-US" sz="1300" dirty="0">
                          <a:solidFill>
                            <a:schemeClr val="tx1"/>
                          </a:solidFill>
                        </a:rPr>
                        <a:t>Did it go NotReady, and for how long?</a:t>
                      </a:r>
                      <a:endParaRPr lang="en-US" sz="1300" dirty="0"/>
                    </a:p>
                  </a:txBody>
                  <a:tcPr marL="64008" marR="64008" marT="64008" marB="64008"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Splunk: NodeNotReady / NodeReady events</a:t>
                      </a:r>
                      <a:endParaRPr lang="en-US" sz="1300" dirty="0"/>
                    </a:p>
                  </a:txBody>
                  <a:tcPr marL="64008" marR="64008" marT="64008" marB="64008"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None needed</a:t>
                      </a:r>
                      <a:endParaRPr lang="en-US" sz="1300" dirty="0"/>
                    </a:p>
                  </a:txBody>
                  <a:tcPr marL="64008" marR="64008" marT="64008" marB="64008"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r h="512064">
                <a:tc>
                  <a:txBody>
                    <a:bodyPr/>
                    <a:lstStyle/>
                    <a:p>
                      <a:pPr indent="0" marL="0">
                        <a:buNone/>
                      </a:pPr>
                      <a:r>
                        <a:rPr lang="en-US" sz="1300" dirty="0">
                          <a:solidFill>
                            <a:schemeClr val="tx1"/>
                          </a:solidFill>
                        </a:rPr>
                        <a:t>Did it reboot, or did key services restart?</a:t>
                      </a:r>
                      <a:endParaRPr lang="en-US" sz="1300" dirty="0"/>
                    </a:p>
                  </a:txBody>
                  <a:tcPr marL="64008" marR="64008" marT="64008" marB="64008"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Splunk: Rebooted, Starting and pod restart events</a:t>
                      </a:r>
                      <a:endParaRPr lang="en-US" sz="1300" dirty="0"/>
                    </a:p>
                  </a:txBody>
                  <a:tcPr marL="64008" marR="64008" marT="64008" marB="64008"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None needed</a:t>
                      </a:r>
                      <a:endParaRPr lang="en-US" sz="1300" dirty="0"/>
                    </a:p>
                  </a:txBody>
                  <a:tcPr marL="64008" marR="64008" marT="64008" marB="64008"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r h="512064">
                <a:tc>
                  <a:txBody>
                    <a:bodyPr/>
                    <a:lstStyle/>
                    <a:p>
                      <a:pPr indent="0" marL="0">
                        <a:buNone/>
                      </a:pPr>
                      <a:r>
                        <a:rPr lang="en-US" sz="1300" dirty="0">
                          <a:solidFill>
                            <a:schemeClr val="tx1"/>
                          </a:solidFill>
                        </a:rPr>
                        <a:t>Any evictions or resource pressure?</a:t>
                      </a:r>
                      <a:endParaRPr lang="en-US" sz="1300" dirty="0"/>
                    </a:p>
                  </a:txBody>
                  <a:tcPr marL="64008" marR="64008" marT="64008" marB="64008"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Splunk: eviction and pressure events; SolarWinds node CPU</a:t>
                      </a:r>
                      <a:endParaRPr lang="en-US" sz="1300" dirty="0"/>
                    </a:p>
                  </a:txBody>
                  <a:tcPr marL="64008" marR="64008" marT="64008" marB="64008"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None needed</a:t>
                      </a:r>
                      <a:endParaRPr lang="en-US" sz="1300" dirty="0"/>
                    </a:p>
                  </a:txBody>
                  <a:tcPr marL="64008" marR="64008" marT="64008" marB="64008"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r h="512064">
                <a:tc>
                  <a:txBody>
                    <a:bodyPr/>
                    <a:lstStyle/>
                    <a:p>
                      <a:pPr indent="0" marL="0">
                        <a:buNone/>
                      </a:pPr>
                      <a:r>
                        <a:rPr lang="en-US" sz="1300" dirty="0">
                          <a:solidFill>
                            <a:schemeClr val="tx1"/>
                          </a:solidFill>
                        </a:rPr>
                        <a:t>Are drops rising on the port that feeds it?</a:t>
                      </a:r>
                      <a:endParaRPr lang="en-US" sz="1300" dirty="0"/>
                    </a:p>
                  </a:txBody>
                  <a:tcPr marL="64008" marR="64008" marT="64008" marB="64008"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SolarWinds: interface discards</a:t>
                      </a:r>
                      <a:endParaRPr lang="en-US" sz="1300" dirty="0"/>
                    </a:p>
                  </a:txBody>
                  <a:tcPr marL="64008" marR="64008" marT="64008" marB="64008"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CLI, only if the last poll is over 2 min old</a:t>
                      </a:r>
                      <a:endParaRPr lang="en-US" sz="1300" dirty="0"/>
                    </a:p>
                  </a:txBody>
                  <a:tcPr marL="64008" marR="64008" marT="64008" marB="64008"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r h="512064">
                <a:tc>
                  <a:txBody>
                    <a:bodyPr/>
                    <a:lstStyle/>
                    <a:p>
                      <a:pPr indent="0" marL="0">
                        <a:buNone/>
                      </a:pPr>
                      <a:r>
                        <a:rPr lang="en-US" sz="1300" dirty="0">
                          <a:solidFill>
                            <a:schemeClr val="tx1"/>
                          </a:solidFill>
                        </a:rPr>
                        <a:t>Congestion or a bad link?</a:t>
                      </a:r>
                      <a:endParaRPr lang="en-US" sz="1300" dirty="0"/>
                    </a:p>
                  </a:txBody>
                  <a:tcPr marL="64008" marR="64008" marT="64008" marB="64008"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SolarWinds: CRC and input errors</a:t>
                      </a:r>
                      <a:endParaRPr lang="en-US" sz="1300" dirty="0"/>
                    </a:p>
                  </a:txBody>
                  <a:tcPr marL="64008" marR="64008" marT="64008" marB="64008"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CLI per-queue drops: the one probe (not polled)</a:t>
                      </a:r>
                      <a:endParaRPr lang="en-US" sz="1300" dirty="0"/>
                    </a:p>
                  </a:txBody>
                  <a:tcPr marL="64008" marR="64008" marT="64008" marB="64008"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r h="512064">
                <a:tc>
                  <a:txBody>
                    <a:bodyPr/>
                    <a:lstStyle/>
                    <a:p>
                      <a:pPr indent="0" marL="0">
                        <a:buNone/>
                      </a:pPr>
                      <a:r>
                        <a:rPr lang="en-US" sz="1300" dirty="0">
                          <a:solidFill>
                            <a:schemeClr val="tx1"/>
                          </a:solidFill>
                        </a:rPr>
                        <a:t>Has any existing alarm fired?</a:t>
                      </a:r>
                      <a:endParaRPr lang="en-US" sz="1300" dirty="0"/>
                    </a:p>
                  </a:txBody>
                  <a:tcPr marL="64008" marR="64008" marT="64008" marB="64008"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SolarWinds and Splunk alerts</a:t>
                      </a:r>
                      <a:endParaRPr lang="en-US" sz="1300" dirty="0"/>
                    </a:p>
                  </a:txBody>
                  <a:tcPr marL="64008" marR="64008" marT="64008" marB="64008"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None needed</a:t>
                      </a:r>
                      <a:endParaRPr lang="en-US" sz="1300" dirty="0"/>
                    </a:p>
                  </a:txBody>
                  <a:tcPr marL="64008" marR="64008" marT="64008" marB="64008"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669280"/>
            <a:ext cx="11064240" cy="594360"/>
          </a:xfrm>
          <a:prstGeom prst="rect">
            <a:avLst/>
          </a:prstGeom>
          <a:noFill/>
          <a:ln/>
        </p:spPr>
        <p:txBody>
          <a:bodyPr wrap="square" lIns="0" tIns="0" rIns="0" bIns="0" rtlCol="0" anchor="t"/>
          <a:lstStyle/>
          <a:p>
            <a:pPr indent="0" marL="0">
              <a:buNone/>
            </a:pPr>
            <a:r>
              <a:rPr lang="en-US" sz="1400" b="1" i="1" dirty="0">
                <a:solidFill>
                  <a:schemeClr val="accent1"/>
                </a:solidFill>
              </a:rPr>
              <a:t>With OpenShift events in Splunk, 11 of 12 evidence items in the master-2 investigation are reused. </a:t>
            </a:r>
            <a:pPr indent="0" marL="0">
              <a:buNone/>
            </a:pPr>
            <a:r>
              <a:rPr lang="en-US" sz="1400" i="1" dirty="0">
                <a:solidFill>
                  <a:schemeClr val="tx2"/>
                </a:solidFill>
              </a:rPr>
              <a:t>Each item records its source and the exact SPL, SWQL or command. Nothing Splunk or SolarWinds holds is collected again.</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Observe → Detect → Diagnose → Recommend</a:t>
            </a:r>
            <a:endParaRPr lang="en-US" sz="3400" dirty="0"/>
          </a:p>
        </p:txBody>
      </p:sp>
      <p:pic>
        <p:nvPicPr>
          <p:cNvPr id="3" name="Image 0" descr="Workflow: four stages split into deterministic and AI-assisted work, two entry points (proactive watch, incident investigation), WatchTower stops before action, and an evidence chain example for the master-2 incident.">    </p:cNvPr>
          <p:cNvPicPr>
            <a:picLocks noChangeAspect="1"/>
          </p:cNvPicPr>
          <p:nvPr/>
        </p:nvPicPr>
        <p:blipFill>
          <a:blip r:embed="rId1"/>
          <a:stretch>
            <a:fillRect/>
          </a:stretch>
        </p:blipFill>
        <p:spPr>
          <a:xfrm>
            <a:off x="1544168" y="1188720"/>
            <a:ext cx="9103360" cy="512064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Confidence comes from evidence, not opinion</a:t>
            </a:r>
            <a:endParaRPr lang="en-US" sz="3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566160"/>
                <a:gridCol w="3566160"/>
                <a:gridCol w="2651760"/>
                <a:gridCol w="1280160"/>
              </a:tblGrid>
              <a:tr h="640080">
                <a:tc>
                  <a:txBody>
                    <a:bodyPr/>
                    <a:lstStyle/>
                    <a:p>
                      <a:pPr indent="0" marL="0">
                        <a:buNone/>
                      </a:pPr>
                      <a:r>
                        <a:rPr lang="en-US" sz="1400" b="1" dirty="0">
                          <a:solidFill>
                            <a:schemeClr val="bg1"/>
                          </a:solidFill>
                        </a:rPr>
                        <a:t>Hypothesis (node-flap playbook)</a:t>
                      </a:r>
                      <a:endParaRPr lang="en-US" sz="14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Evidence for</a:t>
                      </a:r>
                      <a:endParaRPr lang="en-US" sz="14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Evidence against</a:t>
                      </a:r>
                      <a:endParaRPr lang="en-US" sz="14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Confidence</a:t>
                      </a:r>
                      <a:endParaRPr lang="en-US" sz="14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tx1"/>
                    </a:solidFill>
                  </a:tcPr>
                </a:tc>
              </a:tr>
              <a:tr h="640080">
                <a:tc>
                  <a:txBody>
                    <a:bodyPr/>
                    <a:lstStyle/>
                    <a:p>
                      <a:pPr indent="0" marL="0">
                        <a:buNone/>
                      </a:pPr>
                      <a:r>
                        <a:rPr lang="en-US" sz="1300" b="1" dirty="0">
                          <a:solidFill>
                            <a:schemeClr val="tx1"/>
                          </a:solidFill>
                        </a:rPr>
                        <a:t>H1  Congestion on master-2's network path</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Partial timeouts, lease failures, drops rising on Gi1/0/11, drops in one queue, no CRC</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None</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3"/>
                          </a:solidFill>
                        </a:rPr>
                        <a:t>0.82 high</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r h="640080">
                <a:tc>
                  <a:txBody>
                    <a:bodyPr/>
                    <a:lstStyle/>
                    <a:p>
                      <a:pPr indent="0" marL="0">
                        <a:buNone/>
                      </a:pPr>
                      <a:r>
                        <a:rPr lang="en-US" sz="1300" dirty="0">
                          <a:solidFill>
                            <a:schemeClr val="tx1"/>
                          </a:solidFill>
                        </a:rPr>
                        <a:t>H2  SDN / OVN datapath fault</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Timeouts from the node</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Only calls that leave the node fail</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0.18</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r h="640080">
                <a:tc>
                  <a:txBody>
                    <a:bodyPr/>
                    <a:lstStyle/>
                    <a:p>
                      <a:pPr indent="0" marL="0">
                        <a:buNone/>
                      </a:pPr>
                      <a:r>
                        <a:rPr lang="en-US" sz="1300" dirty="0">
                          <a:solidFill>
                            <a:schemeClr val="tx1"/>
                          </a:solidFill>
                        </a:rPr>
                        <a:t>H3  etcd slow disk</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etcd latency warnings</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 fsync warnings; peer latency instead</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0.12</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r h="640080">
                <a:tc>
                  <a:txBody>
                    <a:bodyPr/>
                    <a:lstStyle/>
                    <a:p>
                      <a:pPr indent="0" marL="0">
                        <a:buNone/>
                      </a:pPr>
                      <a:r>
                        <a:rPr lang="en-US" sz="1300" dirty="0">
                          <a:solidFill>
                            <a:schemeClr val="tx1"/>
                          </a:solidFill>
                        </a:rPr>
                        <a:t>H4  Node resource starvation</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None</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 pressure events; CPU 22% (SolarWinds)</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0.06</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bl>
          </a:graphicData>
        </a:graphic>
      </p:graphicFrame>
      <p:sp>
        <p:nvSpPr>
          <p:cNvPr id="4" name="formula"/>
          <p:cNvSpPr/>
          <p:nvPr/>
        </p:nvSpPr>
        <p:spPr>
          <a:xfrm>
            <a:off x="548640" y="4754880"/>
            <a:ext cx="5394960" cy="1417320"/>
          </a:xfrm>
          <a:prstGeom prst="roundRect">
            <a:avLst>
              <a:gd name="adj" fmla="val 7742"/>
            </a:avLst>
          </a:prstGeom>
          <a:solidFill>
            <a:schemeClr val="bg2"/>
          </a:solidFill>
          <a:ln w="12700">
            <a:solidFill>
              <a:schemeClr val="bg2"/>
            </a:solidFill>
            <a:prstDash val="solid"/>
          </a:ln>
        </p:spPr>
      </p:sp>
      <p:sp>
        <p:nvSpPr>
          <p:cNvPr id="5" name="Text 2"/>
          <p:cNvSpPr txBox="1"/>
          <p:nvPr/>
        </p:nvSpPr>
        <p:spPr>
          <a:xfrm>
            <a:off x="777240" y="4873752"/>
            <a:ext cx="4937760" cy="320040"/>
          </a:xfrm>
          <a:prstGeom prst="rect">
            <a:avLst/>
          </a:prstGeom>
          <a:noFill/>
          <a:ln/>
        </p:spPr>
        <p:txBody>
          <a:bodyPr wrap="square" lIns="0" tIns="0" rIns="0" bIns="0" rtlCol="0" anchor="t"/>
          <a:lstStyle/>
          <a:p>
            <a:pPr indent="0" marL="0">
              <a:buNone/>
            </a:pPr>
            <a:r>
              <a:rPr lang="en-US" sz="1400" b="1" dirty="0">
                <a:solidFill>
                  <a:schemeClr val="accent1"/>
                </a:solidFill>
              </a:rPr>
              <a:t>How it is scored</a:t>
            </a:r>
            <a:endParaRPr lang="en-US" sz="1400" dirty="0"/>
          </a:p>
        </p:txBody>
      </p:sp>
      <p:sp>
        <p:nvSpPr>
          <p:cNvPr id="6" name="Text 3"/>
          <p:cNvSpPr txBox="1"/>
          <p:nvPr/>
        </p:nvSpPr>
        <p:spPr>
          <a:xfrm>
            <a:off x="777240" y="5212080"/>
            <a:ext cx="4937760" cy="914400"/>
          </a:xfrm>
          <a:prstGeom prst="rect">
            <a:avLst/>
          </a:prstGeom>
          <a:noFill/>
          <a:ln/>
        </p:spPr>
        <p:txBody>
          <a:bodyPr wrap="square" lIns="0" tIns="0" rIns="0" bIns="0" rtlCol="0" anchor="t"/>
          <a:lstStyle/>
          <a:p>
            <a:pPr indent="0" marL="0">
              <a:buNone/>
            </a:pPr>
            <a:r>
              <a:rPr lang="en-US" sz="1350" dirty="0">
                <a:solidFill>
                  <a:schemeClr val="tx1"/>
                </a:solidFill>
              </a:rPr>
              <a:t>Each playbook lists the evidence each hypothesis expects and what would refute it, with weights. Score = (for − against) ÷ expected. Plain code.</a:t>
            </a:r>
            <a:endParaRPr lang="en-US" sz="1350" dirty="0"/>
          </a:p>
        </p:txBody>
      </p:sp>
      <p:sp>
        <p:nvSpPr>
          <p:cNvPr id="7" name="llm"/>
          <p:cNvSpPr/>
          <p:nvPr/>
        </p:nvSpPr>
        <p:spPr>
          <a:xfrm>
            <a:off x="6217920" y="4754880"/>
            <a:ext cx="5394960" cy="1417320"/>
          </a:xfrm>
          <a:prstGeom prst="roundRect">
            <a:avLst>
              <a:gd name="adj" fmla="val 7742"/>
            </a:avLst>
          </a:prstGeom>
          <a:solidFill>
            <a:schemeClr val="bg2"/>
          </a:solidFill>
          <a:ln w="12700">
            <a:solidFill>
              <a:schemeClr val="bg2"/>
            </a:solidFill>
            <a:prstDash val="solid"/>
          </a:ln>
        </p:spPr>
      </p:sp>
      <p:sp>
        <p:nvSpPr>
          <p:cNvPr id="8" name="Text 5"/>
          <p:cNvSpPr txBox="1"/>
          <p:nvPr/>
        </p:nvSpPr>
        <p:spPr>
          <a:xfrm>
            <a:off x="6446520" y="4873752"/>
            <a:ext cx="4937760" cy="320040"/>
          </a:xfrm>
          <a:prstGeom prst="rect">
            <a:avLst/>
          </a:prstGeom>
          <a:noFill/>
          <a:ln/>
        </p:spPr>
        <p:txBody>
          <a:bodyPr wrap="square" lIns="0" tIns="0" rIns="0" bIns="0" rtlCol="0" anchor="t"/>
          <a:lstStyle/>
          <a:p>
            <a:pPr indent="0" marL="0">
              <a:buNone/>
            </a:pPr>
            <a:r>
              <a:rPr lang="en-US" sz="1400" b="1" dirty="0">
                <a:solidFill>
                  <a:schemeClr val="accent1"/>
                </a:solidFill>
              </a:rPr>
              <a:t>Where the AI helps</a:t>
            </a:r>
            <a:endParaRPr lang="en-US" sz="1400" dirty="0"/>
          </a:p>
        </p:txBody>
      </p:sp>
      <p:sp>
        <p:nvSpPr>
          <p:cNvPr id="9" name="Text 6"/>
          <p:cNvSpPr txBox="1"/>
          <p:nvPr/>
        </p:nvSpPr>
        <p:spPr>
          <a:xfrm>
            <a:off x="6446520" y="5212080"/>
            <a:ext cx="4937760" cy="914400"/>
          </a:xfrm>
          <a:prstGeom prst="rect">
            <a:avLst/>
          </a:prstGeom>
          <a:noFill/>
          <a:ln/>
        </p:spPr>
        <p:txBody>
          <a:bodyPr wrap="square" lIns="0" tIns="0" rIns="0" bIns="0" rtlCol="0" anchor="t"/>
          <a:lstStyle/>
          <a:p>
            <a:pPr indent="0" marL="0">
              <a:buNone/>
            </a:pPr>
            <a:r>
              <a:rPr lang="en-US" sz="1350" dirty="0">
                <a:solidFill>
                  <a:schemeClr val="tx1"/>
                </a:solidFill>
              </a:rPr>
              <a:t>Proposes extra hypotheses, reads evidence that has no rule (a log excerpt), explains the result. It may move a score by at most 0.10, with a reason.</a:t>
            </a:r>
            <a:endParaRPr lang="en-US" sz="13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Mode 1: Proactive watch</a:t>
            </a:r>
            <a:endParaRPr lang="en-US" sz="3400" dirty="0"/>
          </a:p>
        </p:txBody>
      </p:sp>
      <p:pic>
        <p:nvPicPr>
          <p:cNvPr id="3" name="Image 0" descr="Wireframe: proactive watch. Existing tools show no alarms; a cross-domain watch item links master-2 API timeouts with rising drops on switch port Gi1/0/11 at medium confidence.">    </p:cNvPr>
          <p:cNvPicPr>
            <a:picLocks noChangeAspect="1"/>
          </p:cNvPicPr>
          <p:nvPr/>
        </p:nvPicPr>
        <p:blipFill>
          <a:blip r:embed="rId1"/>
          <a:stretch>
            <a:fillRect/>
          </a:stretch>
        </p:blipFill>
        <p:spPr>
          <a:xfrm>
            <a:off x="548640" y="1280160"/>
            <a:ext cx="7680960" cy="4800600"/>
          </a:xfrm>
          <a:prstGeom prst="rect">
            <a:avLst/>
          </a:prstGeom>
        </p:spPr>
      </p:pic>
      <p:sp>
        <p:nvSpPr>
          <p:cNvPr id="4" name="Shape 1"/>
          <p:cNvSpPr/>
          <p:nvPr/>
        </p:nvSpPr>
        <p:spPr>
          <a:xfrm>
            <a:off x="8549640" y="1325880"/>
            <a:ext cx="457200" cy="457200"/>
          </a:xfrm>
          <a:prstGeom prst="ellipse">
            <a:avLst/>
          </a:prstGeom>
          <a:solidFill>
            <a:schemeClr val="accent2"/>
          </a:solidFill>
          <a:ln w="12700">
            <a:solidFill>
              <a:schemeClr val="accent2"/>
            </a:solidFill>
            <a:prstDash val="solid"/>
          </a:ln>
        </p:spPr>
      </p:sp>
      <p:sp>
        <p:nvSpPr>
          <p:cNvPr id="5" name="Text 2"/>
          <p:cNvSpPr txBox="1"/>
          <p:nvPr/>
        </p:nvSpPr>
        <p:spPr>
          <a:xfrm>
            <a:off x="8549640" y="13258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3"/>
          <p:cNvSpPr txBox="1"/>
          <p:nvPr/>
        </p:nvSpPr>
        <p:spPr>
          <a:xfrm>
            <a:off x="9144000" y="1325880"/>
            <a:ext cx="2651760" cy="365760"/>
          </a:xfrm>
          <a:prstGeom prst="rect">
            <a:avLst/>
          </a:prstGeom>
          <a:noFill/>
          <a:ln/>
        </p:spPr>
        <p:txBody>
          <a:bodyPr wrap="square" lIns="0" tIns="0" rIns="0" bIns="0" rtlCol="0" anchor="t"/>
          <a:lstStyle/>
          <a:p>
            <a:pPr indent="0" marL="0">
              <a:buNone/>
            </a:pPr>
            <a:r>
              <a:rPr lang="en-US" sz="1600" b="1" dirty="0">
                <a:solidFill>
                  <a:schemeClr val="tx1"/>
                </a:solidFill>
              </a:rPr>
              <a:t>Tools are quiet</a:t>
            </a:r>
            <a:endParaRPr lang="en-US" sz="1600" dirty="0"/>
          </a:p>
        </p:txBody>
      </p:sp>
      <p:sp>
        <p:nvSpPr>
          <p:cNvPr id="7" name="Text 4"/>
          <p:cNvSpPr txBox="1"/>
          <p:nvPr/>
        </p:nvSpPr>
        <p:spPr>
          <a:xfrm>
            <a:off x="9144000" y="1691640"/>
            <a:ext cx="2651760" cy="777240"/>
          </a:xfrm>
          <a:prstGeom prst="rect">
            <a:avLst/>
          </a:prstGeom>
          <a:noFill/>
          <a:ln/>
        </p:spPr>
        <p:txBody>
          <a:bodyPr wrap="square" lIns="0" tIns="0" rIns="0" bIns="0" rtlCol="0" anchor="t"/>
          <a:lstStyle/>
          <a:p>
            <a:pPr indent="0" marL="0">
              <a:buNone/>
            </a:pPr>
            <a:r>
              <a:rPr lang="en-US" sz="1300" dirty="0">
                <a:solidFill>
                  <a:schemeClr val="tx2"/>
                </a:solidFill>
              </a:rPr>
              <a:t>SolarWinds and Splunk: every signal below threshold</a:t>
            </a:r>
            <a:endParaRPr lang="en-US" sz="1300" dirty="0"/>
          </a:p>
        </p:txBody>
      </p:sp>
      <p:sp>
        <p:nvSpPr>
          <p:cNvPr id="8" name="Shape 5"/>
          <p:cNvSpPr/>
          <p:nvPr/>
        </p:nvSpPr>
        <p:spPr>
          <a:xfrm>
            <a:off x="8549640" y="2532888"/>
            <a:ext cx="457200" cy="457200"/>
          </a:xfrm>
          <a:prstGeom prst="ellipse">
            <a:avLst/>
          </a:prstGeom>
          <a:solidFill>
            <a:schemeClr val="accent2"/>
          </a:solidFill>
          <a:ln w="12700">
            <a:solidFill>
              <a:schemeClr val="accent2"/>
            </a:solidFill>
            <a:prstDash val="solid"/>
          </a:ln>
        </p:spPr>
      </p:sp>
      <p:sp>
        <p:nvSpPr>
          <p:cNvPr id="9" name="Text 6"/>
          <p:cNvSpPr txBox="1"/>
          <p:nvPr/>
        </p:nvSpPr>
        <p:spPr>
          <a:xfrm>
            <a:off x="8549640" y="253288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7"/>
          <p:cNvSpPr txBox="1"/>
          <p:nvPr/>
        </p:nvSpPr>
        <p:spPr>
          <a:xfrm>
            <a:off x="9144000" y="2532888"/>
            <a:ext cx="2651760" cy="365760"/>
          </a:xfrm>
          <a:prstGeom prst="rect">
            <a:avLst/>
          </a:prstGeom>
          <a:noFill/>
          <a:ln/>
        </p:spPr>
        <p:txBody>
          <a:bodyPr wrap="square" lIns="0" tIns="0" rIns="0" bIns="0" rtlCol="0" anchor="t"/>
          <a:lstStyle/>
          <a:p>
            <a:pPr indent="0" marL="0">
              <a:buNone/>
            </a:pPr>
            <a:r>
              <a:rPr lang="en-US" sz="1600" b="1" dirty="0">
                <a:solidFill>
                  <a:schemeClr val="tx1"/>
                </a:solidFill>
              </a:rPr>
              <a:t>Weak signals joined</a:t>
            </a:r>
            <a:endParaRPr lang="en-US" sz="1600" dirty="0"/>
          </a:p>
        </p:txBody>
      </p:sp>
      <p:sp>
        <p:nvSpPr>
          <p:cNvPr id="11" name="Text 8"/>
          <p:cNvSpPr txBox="1"/>
          <p:nvPr/>
        </p:nvSpPr>
        <p:spPr>
          <a:xfrm>
            <a:off x="9144000" y="2898648"/>
            <a:ext cx="2651760" cy="777240"/>
          </a:xfrm>
          <a:prstGeom prst="rect">
            <a:avLst/>
          </a:prstGeom>
          <a:noFill/>
          <a:ln/>
        </p:spPr>
        <p:txBody>
          <a:bodyPr wrap="square" lIns="0" tIns="0" rIns="0" bIns="0" rtlCol="0" anchor="t"/>
          <a:lstStyle/>
          <a:p>
            <a:pPr indent="0" marL="0">
              <a:buNone/>
            </a:pPr>
            <a:r>
              <a:rPr lang="en-US" sz="1300" dirty="0">
                <a:solidFill>
                  <a:schemeClr val="tx2"/>
                </a:solidFill>
              </a:rPr>
              <a:t>Timeouts (Splunk) + port drops (SolarWinds) + topology</a:t>
            </a:r>
            <a:endParaRPr lang="en-US" sz="1300" dirty="0"/>
          </a:p>
        </p:txBody>
      </p:sp>
      <p:sp>
        <p:nvSpPr>
          <p:cNvPr id="12" name="Shape 9"/>
          <p:cNvSpPr/>
          <p:nvPr/>
        </p:nvSpPr>
        <p:spPr>
          <a:xfrm>
            <a:off x="8549640" y="3739896"/>
            <a:ext cx="457200" cy="457200"/>
          </a:xfrm>
          <a:prstGeom prst="ellipse">
            <a:avLst/>
          </a:prstGeom>
          <a:solidFill>
            <a:schemeClr val="accent2"/>
          </a:solidFill>
          <a:ln w="12700">
            <a:solidFill>
              <a:schemeClr val="accent2"/>
            </a:solidFill>
            <a:prstDash val="solid"/>
          </a:ln>
        </p:spPr>
      </p:sp>
      <p:sp>
        <p:nvSpPr>
          <p:cNvPr id="13" name="Text 10"/>
          <p:cNvSpPr txBox="1"/>
          <p:nvPr/>
        </p:nvSpPr>
        <p:spPr>
          <a:xfrm>
            <a:off x="8549640" y="373989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1"/>
          <p:cNvSpPr txBox="1"/>
          <p:nvPr/>
        </p:nvSpPr>
        <p:spPr>
          <a:xfrm>
            <a:off x="9144000" y="3739896"/>
            <a:ext cx="2651760" cy="365760"/>
          </a:xfrm>
          <a:prstGeom prst="rect">
            <a:avLst/>
          </a:prstGeom>
          <a:noFill/>
          <a:ln/>
        </p:spPr>
        <p:txBody>
          <a:bodyPr wrap="square" lIns="0" tIns="0" rIns="0" bIns="0" rtlCol="0" anchor="t"/>
          <a:lstStyle/>
          <a:p>
            <a:pPr indent="0" marL="0">
              <a:buNone/>
            </a:pPr>
            <a:r>
              <a:rPr lang="en-US" sz="1600" b="1" dirty="0">
                <a:solidFill>
                  <a:schemeClr val="tx1"/>
                </a:solidFill>
              </a:rPr>
              <a:t>Emerging, not alarming</a:t>
            </a:r>
            <a:endParaRPr lang="en-US" sz="1600" dirty="0"/>
          </a:p>
        </p:txBody>
      </p:sp>
      <p:sp>
        <p:nvSpPr>
          <p:cNvPr id="15" name="Text 12"/>
          <p:cNvSpPr txBox="1"/>
          <p:nvPr/>
        </p:nvSpPr>
        <p:spPr>
          <a:xfrm>
            <a:off x="9144000" y="4105656"/>
            <a:ext cx="2651760" cy="777240"/>
          </a:xfrm>
          <a:prstGeom prst="rect">
            <a:avLst/>
          </a:prstGeom>
          <a:noFill/>
          <a:ln/>
        </p:spPr>
        <p:txBody>
          <a:bodyPr wrap="square" lIns="0" tIns="0" rIns="0" bIns="0" rtlCol="0" anchor="t"/>
          <a:lstStyle/>
          <a:p>
            <a:pPr indent="0" marL="0">
              <a:buNone/>
            </a:pPr>
            <a:r>
              <a:rPr lang="en-US" sz="1300" dirty="0">
                <a:solidFill>
                  <a:schemeClr val="tx2"/>
                </a:solidFill>
              </a:rPr>
              <a:t>Medium confidence; explains the risk if it grows</a:t>
            </a:r>
            <a:endParaRPr lang="en-US" sz="1300" dirty="0"/>
          </a:p>
        </p:txBody>
      </p:sp>
      <p:sp>
        <p:nvSpPr>
          <p:cNvPr id="16" name="Shape 13"/>
          <p:cNvSpPr/>
          <p:nvPr/>
        </p:nvSpPr>
        <p:spPr>
          <a:xfrm>
            <a:off x="8549640" y="4946904"/>
            <a:ext cx="457200" cy="457200"/>
          </a:xfrm>
          <a:prstGeom prst="ellipse">
            <a:avLst/>
          </a:prstGeom>
          <a:solidFill>
            <a:schemeClr val="accent2"/>
          </a:solidFill>
          <a:ln w="12700">
            <a:solidFill>
              <a:schemeClr val="accent2"/>
            </a:solidFill>
            <a:prstDash val="solid"/>
          </a:ln>
        </p:spPr>
      </p:sp>
      <p:sp>
        <p:nvSpPr>
          <p:cNvPr id="17" name="Text 14"/>
          <p:cNvSpPr txBox="1"/>
          <p:nvPr/>
        </p:nvSpPr>
        <p:spPr>
          <a:xfrm>
            <a:off x="8549640" y="4946904"/>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8" name="Text 15"/>
          <p:cNvSpPr txBox="1"/>
          <p:nvPr/>
        </p:nvSpPr>
        <p:spPr>
          <a:xfrm>
            <a:off x="9144000" y="4946904"/>
            <a:ext cx="2651760" cy="365760"/>
          </a:xfrm>
          <a:prstGeom prst="rect">
            <a:avLst/>
          </a:prstGeom>
          <a:noFill/>
          <a:ln/>
        </p:spPr>
        <p:txBody>
          <a:bodyPr wrap="square" lIns="0" tIns="0" rIns="0" bIns="0" rtlCol="0" anchor="t"/>
          <a:lstStyle/>
          <a:p>
            <a:pPr indent="0" marL="0">
              <a:buNone/>
            </a:pPr>
            <a:r>
              <a:rPr lang="en-US" sz="1600" b="1" dirty="0">
                <a:solidFill>
                  <a:schemeClr val="tx1"/>
                </a:solidFill>
              </a:rPr>
              <a:t>Read-only suggestions</a:t>
            </a:r>
            <a:endParaRPr lang="en-US" sz="1600" dirty="0"/>
          </a:p>
        </p:txBody>
      </p:sp>
      <p:sp>
        <p:nvSpPr>
          <p:cNvPr id="19" name="Text 16"/>
          <p:cNvSpPr txBox="1"/>
          <p:nvPr/>
        </p:nvSpPr>
        <p:spPr>
          <a:xfrm>
            <a:off x="9144000" y="5312664"/>
            <a:ext cx="2651760" cy="777240"/>
          </a:xfrm>
          <a:prstGeom prst="rect">
            <a:avLst/>
          </a:prstGeom>
          <a:noFill/>
          <a:ln/>
        </p:spPr>
        <p:txBody>
          <a:bodyPr wrap="square" lIns="0" tIns="0" rIns="0" bIns="0" rtlCol="0" anchor="t"/>
          <a:lstStyle/>
          <a:p>
            <a:pPr indent="0" marL="0">
              <a:buNone/>
            </a:pPr>
            <a:r>
              <a:rPr lang="en-US" sz="1300" dirty="0">
                <a:solidFill>
                  <a:schemeClr val="tx2"/>
                </a:solidFill>
              </a:rPr>
              <a:t>What to check now; no escalation yet</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Mode 2: Incident investigation</a:t>
            </a:r>
            <a:endParaRPr lang="en-US" sz="3400" dirty="0"/>
          </a:p>
        </p:txBody>
      </p:sp>
      <p:pic>
        <p:nvPicPr>
          <p:cNvPr id="3" name="Image 0" descr="Wireframe: incident investigation. The SRE asks about a NotReady alert; WatchTower gives the likely cause with high confidence, states there was no reboot, shows the evidence chain, ranked hypotheses, next steps and escalation to the Network team at P3.">    </p:cNvPr>
          <p:cNvPicPr>
            <a:picLocks noChangeAspect="1"/>
          </p:cNvPicPr>
          <p:nvPr/>
        </p:nvPicPr>
        <p:blipFill>
          <a:blip r:embed="rId1"/>
          <a:stretch>
            <a:fillRect/>
          </a:stretch>
        </p:blipFill>
        <p:spPr>
          <a:xfrm>
            <a:off x="548640" y="1280160"/>
            <a:ext cx="7680960" cy="4800600"/>
          </a:xfrm>
          <a:prstGeom prst="rect">
            <a:avLst/>
          </a:prstGeom>
        </p:spPr>
      </p:pic>
      <p:sp>
        <p:nvSpPr>
          <p:cNvPr id="4" name="Shape 1"/>
          <p:cNvSpPr/>
          <p:nvPr/>
        </p:nvSpPr>
        <p:spPr>
          <a:xfrm>
            <a:off x="8549640" y="1325880"/>
            <a:ext cx="457200" cy="457200"/>
          </a:xfrm>
          <a:prstGeom prst="ellipse">
            <a:avLst/>
          </a:prstGeom>
          <a:solidFill>
            <a:schemeClr val="accent3"/>
          </a:solidFill>
          <a:ln w="12700">
            <a:solidFill>
              <a:schemeClr val="accent3"/>
            </a:solidFill>
            <a:prstDash val="solid"/>
          </a:ln>
        </p:spPr>
      </p:sp>
      <p:sp>
        <p:nvSpPr>
          <p:cNvPr id="5" name="Text 2"/>
          <p:cNvSpPr txBox="1"/>
          <p:nvPr/>
        </p:nvSpPr>
        <p:spPr>
          <a:xfrm>
            <a:off x="8549640" y="13258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3"/>
          <p:cNvSpPr txBox="1"/>
          <p:nvPr/>
        </p:nvSpPr>
        <p:spPr>
          <a:xfrm>
            <a:off x="9144000" y="1325880"/>
            <a:ext cx="2651760" cy="365760"/>
          </a:xfrm>
          <a:prstGeom prst="rect">
            <a:avLst/>
          </a:prstGeom>
          <a:noFill/>
          <a:ln/>
        </p:spPr>
        <p:txBody>
          <a:bodyPr wrap="square" lIns="0" tIns="0" rIns="0" bIns="0" rtlCol="0" anchor="t"/>
          <a:lstStyle/>
          <a:p>
            <a:pPr indent="0" marL="0">
              <a:buNone/>
            </a:pPr>
            <a:r>
              <a:rPr lang="en-US" sz="1600" b="1" dirty="0">
                <a:solidFill>
                  <a:schemeClr val="tx1"/>
                </a:solidFill>
              </a:rPr>
              <a:t>The SRE asks</a:t>
            </a:r>
            <a:endParaRPr lang="en-US" sz="1600" dirty="0"/>
          </a:p>
        </p:txBody>
      </p:sp>
      <p:sp>
        <p:nvSpPr>
          <p:cNvPr id="7" name="Text 4"/>
          <p:cNvSpPr txBox="1"/>
          <p:nvPr/>
        </p:nvSpPr>
        <p:spPr>
          <a:xfrm>
            <a:off x="9144000" y="1691640"/>
            <a:ext cx="2651760" cy="777240"/>
          </a:xfrm>
          <a:prstGeom prst="rect">
            <a:avLst/>
          </a:prstGeom>
          <a:noFill/>
          <a:ln/>
        </p:spPr>
        <p:txBody>
          <a:bodyPr wrap="square" lIns="0" tIns="0" rIns="0" bIns="0" rtlCol="0" anchor="t"/>
          <a:lstStyle/>
          <a:p>
            <a:pPr indent="0" marL="0">
              <a:buNone/>
            </a:pPr>
            <a:r>
              <a:rPr lang="en-US" sz="1300" dirty="0">
                <a:solidFill>
                  <a:schemeClr val="tx2"/>
                </a:solidFill>
              </a:rPr>
              <a:t>Investigate the Splunk NodeNotReady alert</a:t>
            </a:r>
            <a:endParaRPr lang="en-US" sz="1300" dirty="0"/>
          </a:p>
        </p:txBody>
      </p:sp>
      <p:sp>
        <p:nvSpPr>
          <p:cNvPr id="8" name="Shape 5"/>
          <p:cNvSpPr/>
          <p:nvPr/>
        </p:nvSpPr>
        <p:spPr>
          <a:xfrm>
            <a:off x="8549640" y="2532888"/>
            <a:ext cx="457200" cy="457200"/>
          </a:xfrm>
          <a:prstGeom prst="ellipse">
            <a:avLst/>
          </a:prstGeom>
          <a:solidFill>
            <a:schemeClr val="accent3"/>
          </a:solidFill>
          <a:ln w="12700">
            <a:solidFill>
              <a:schemeClr val="accent3"/>
            </a:solidFill>
            <a:prstDash val="solid"/>
          </a:ln>
        </p:spPr>
      </p:sp>
      <p:sp>
        <p:nvSpPr>
          <p:cNvPr id="9" name="Text 6"/>
          <p:cNvSpPr txBox="1"/>
          <p:nvPr/>
        </p:nvSpPr>
        <p:spPr>
          <a:xfrm>
            <a:off x="8549640" y="2532888"/>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7"/>
          <p:cNvSpPr txBox="1"/>
          <p:nvPr/>
        </p:nvSpPr>
        <p:spPr>
          <a:xfrm>
            <a:off x="9144000" y="2532888"/>
            <a:ext cx="2651760" cy="365760"/>
          </a:xfrm>
          <a:prstGeom prst="rect">
            <a:avLst/>
          </a:prstGeom>
          <a:noFill/>
          <a:ln/>
        </p:spPr>
        <p:txBody>
          <a:bodyPr wrap="square" lIns="0" tIns="0" rIns="0" bIns="0" rtlCol="0" anchor="t"/>
          <a:lstStyle/>
          <a:p>
            <a:pPr indent="0" marL="0">
              <a:buNone/>
            </a:pPr>
            <a:r>
              <a:rPr lang="en-US" sz="1600" b="1" dirty="0">
                <a:solidFill>
                  <a:schemeClr val="tx1"/>
                </a:solidFill>
              </a:rPr>
              <a:t>Likely cause + what happened</a:t>
            </a:r>
            <a:endParaRPr lang="en-US" sz="1600" dirty="0"/>
          </a:p>
        </p:txBody>
      </p:sp>
      <p:sp>
        <p:nvSpPr>
          <p:cNvPr id="11" name="Text 8"/>
          <p:cNvSpPr txBox="1"/>
          <p:nvPr/>
        </p:nvSpPr>
        <p:spPr>
          <a:xfrm>
            <a:off x="9144000" y="2898648"/>
            <a:ext cx="2651760" cy="777240"/>
          </a:xfrm>
          <a:prstGeom prst="rect">
            <a:avLst/>
          </a:prstGeom>
          <a:noFill/>
          <a:ln/>
        </p:spPr>
        <p:txBody>
          <a:bodyPr wrap="square" lIns="0" tIns="0" rIns="0" bIns="0" rtlCol="0" anchor="t"/>
          <a:lstStyle/>
          <a:p>
            <a:pPr indent="0" marL="0">
              <a:buNone/>
            </a:pPr>
            <a:r>
              <a:rPr lang="en-US" sz="1300" dirty="0">
                <a:solidFill>
                  <a:schemeClr val="tx2"/>
                </a:solidFill>
              </a:rPr>
              <a:t>Congestion; node flap of 47 s, no reboot, no eviction</a:t>
            </a:r>
            <a:endParaRPr lang="en-US" sz="1300" dirty="0"/>
          </a:p>
        </p:txBody>
      </p:sp>
      <p:sp>
        <p:nvSpPr>
          <p:cNvPr id="12" name="Shape 9"/>
          <p:cNvSpPr/>
          <p:nvPr/>
        </p:nvSpPr>
        <p:spPr>
          <a:xfrm>
            <a:off x="8549640" y="3739896"/>
            <a:ext cx="457200" cy="457200"/>
          </a:xfrm>
          <a:prstGeom prst="ellipse">
            <a:avLst/>
          </a:prstGeom>
          <a:solidFill>
            <a:schemeClr val="accent3"/>
          </a:solidFill>
          <a:ln w="12700">
            <a:solidFill>
              <a:schemeClr val="accent3"/>
            </a:solidFill>
            <a:prstDash val="solid"/>
          </a:ln>
        </p:spPr>
      </p:sp>
      <p:sp>
        <p:nvSpPr>
          <p:cNvPr id="13" name="Text 10"/>
          <p:cNvSpPr txBox="1"/>
          <p:nvPr/>
        </p:nvSpPr>
        <p:spPr>
          <a:xfrm>
            <a:off x="8549640" y="3739896"/>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1"/>
          <p:cNvSpPr txBox="1"/>
          <p:nvPr/>
        </p:nvSpPr>
        <p:spPr>
          <a:xfrm>
            <a:off x="9144000" y="3739896"/>
            <a:ext cx="2651760" cy="365760"/>
          </a:xfrm>
          <a:prstGeom prst="rect">
            <a:avLst/>
          </a:prstGeom>
          <a:noFill/>
          <a:ln/>
        </p:spPr>
        <p:txBody>
          <a:bodyPr wrap="square" lIns="0" tIns="0" rIns="0" bIns="0" rtlCol="0" anchor="t"/>
          <a:lstStyle/>
          <a:p>
            <a:pPr indent="0" marL="0">
              <a:buNone/>
            </a:pPr>
            <a:r>
              <a:rPr lang="en-US" sz="1600" b="1" dirty="0">
                <a:solidFill>
                  <a:schemeClr val="tx1"/>
                </a:solidFill>
              </a:rPr>
              <a:t>Evidence chain</a:t>
            </a:r>
            <a:endParaRPr lang="en-US" sz="1600" dirty="0"/>
          </a:p>
        </p:txBody>
      </p:sp>
      <p:sp>
        <p:nvSpPr>
          <p:cNvPr id="15" name="Text 12"/>
          <p:cNvSpPr txBox="1"/>
          <p:nvPr/>
        </p:nvSpPr>
        <p:spPr>
          <a:xfrm>
            <a:off x="9144000" y="4105656"/>
            <a:ext cx="2651760" cy="777240"/>
          </a:xfrm>
          <a:prstGeom prst="rect">
            <a:avLst/>
          </a:prstGeom>
          <a:noFill/>
          <a:ln/>
        </p:spPr>
        <p:txBody>
          <a:bodyPr wrap="square" lIns="0" tIns="0" rIns="0" bIns="0" rtlCol="0" anchor="t"/>
          <a:lstStyle/>
          <a:p>
            <a:pPr indent="0" marL="0">
              <a:buNone/>
            </a:pPr>
            <a:r>
              <a:rPr lang="en-US" sz="1300" dirty="0">
                <a:solidFill>
                  <a:schemeClr val="tx2"/>
                </a:solidFill>
              </a:rPr>
              <a:t>11 of 12 items from Splunk or SolarWinds; one live probe</a:t>
            </a:r>
            <a:endParaRPr lang="en-US" sz="1300" dirty="0"/>
          </a:p>
        </p:txBody>
      </p:sp>
      <p:sp>
        <p:nvSpPr>
          <p:cNvPr id="16" name="Shape 13"/>
          <p:cNvSpPr/>
          <p:nvPr/>
        </p:nvSpPr>
        <p:spPr>
          <a:xfrm>
            <a:off x="8549640" y="4946904"/>
            <a:ext cx="457200" cy="457200"/>
          </a:xfrm>
          <a:prstGeom prst="ellipse">
            <a:avLst/>
          </a:prstGeom>
          <a:solidFill>
            <a:schemeClr val="accent3"/>
          </a:solidFill>
          <a:ln w="12700">
            <a:solidFill>
              <a:schemeClr val="accent3"/>
            </a:solidFill>
            <a:prstDash val="solid"/>
          </a:ln>
        </p:spPr>
      </p:sp>
      <p:sp>
        <p:nvSpPr>
          <p:cNvPr id="17" name="Text 14"/>
          <p:cNvSpPr txBox="1"/>
          <p:nvPr/>
        </p:nvSpPr>
        <p:spPr>
          <a:xfrm>
            <a:off x="8549640" y="4946904"/>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8" name="Text 15"/>
          <p:cNvSpPr txBox="1"/>
          <p:nvPr/>
        </p:nvSpPr>
        <p:spPr>
          <a:xfrm>
            <a:off x="9144000" y="4946904"/>
            <a:ext cx="2651760" cy="365760"/>
          </a:xfrm>
          <a:prstGeom prst="rect">
            <a:avLst/>
          </a:prstGeom>
          <a:noFill/>
          <a:ln/>
        </p:spPr>
        <p:txBody>
          <a:bodyPr wrap="square" lIns="0" tIns="0" rIns="0" bIns="0" rtlCol="0" anchor="t"/>
          <a:lstStyle/>
          <a:p>
            <a:pPr indent="0" marL="0">
              <a:buNone/>
            </a:pPr>
            <a:r>
              <a:rPr lang="en-US" sz="1600" b="1" dirty="0">
                <a:solidFill>
                  <a:schemeClr val="tx1"/>
                </a:solidFill>
              </a:rPr>
              <a:t>Next steps + escalation</a:t>
            </a:r>
            <a:endParaRPr lang="en-US" sz="1600" dirty="0"/>
          </a:p>
        </p:txBody>
      </p:sp>
      <p:sp>
        <p:nvSpPr>
          <p:cNvPr id="19" name="Text 16"/>
          <p:cNvSpPr txBox="1"/>
          <p:nvPr/>
        </p:nvSpPr>
        <p:spPr>
          <a:xfrm>
            <a:off x="9144000" y="5312664"/>
            <a:ext cx="2651760" cy="777240"/>
          </a:xfrm>
          <a:prstGeom prst="rect">
            <a:avLst/>
          </a:prstGeom>
          <a:noFill/>
          <a:ln/>
        </p:spPr>
        <p:txBody>
          <a:bodyPr wrap="square" lIns="0" tIns="0" rIns="0" bIns="0" rtlCol="0" anchor="t"/>
          <a:lstStyle/>
          <a:p>
            <a:pPr indent="0" marL="0">
              <a:buNone/>
            </a:pPr>
            <a:r>
              <a:rPr lang="en-US" sz="1300" dirty="0">
                <a:solidFill>
                  <a:schemeClr val="tx2"/>
                </a:solidFill>
              </a:rPr>
              <a:t>Read-only checks; Network team, P3. Stops there.</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Making a modest on-prem model useful</a:t>
            </a:r>
            <a:endParaRPr lang="en-US" sz="3400" dirty="0"/>
          </a:p>
        </p:txBody>
      </p:sp>
      <p:sp>
        <p:nvSpPr>
          <p:cNvPr id="3" name="Text 1"/>
          <p:cNvSpPr txBox="1"/>
          <p:nvPr/>
        </p:nvSpPr>
        <p:spPr>
          <a:xfrm>
            <a:off x="548640" y="1280160"/>
            <a:ext cx="11064240" cy="457200"/>
          </a:xfrm>
          <a:prstGeom prst="rect">
            <a:avLst/>
          </a:prstGeom>
          <a:noFill/>
          <a:ln/>
        </p:spPr>
        <p:txBody>
          <a:bodyPr wrap="square" lIns="0" tIns="0" rIns="0" bIns="0" rtlCol="0" anchor="t"/>
          <a:lstStyle/>
          <a:p>
            <a:pPr indent="0" marL="0">
              <a:buNone/>
            </a:pPr>
            <a:r>
              <a:rPr lang="en-US" sz="1600" dirty="0">
                <a:solidFill>
                  <a:schemeClr val="tx2"/>
                </a:solidFill>
              </a:rPr>
              <a:t>The on-prem Gemma (about 40B) may not be fully competent at agentic work, so it gets six narrow jobs and firm guard rails.</a:t>
            </a:r>
            <a:endParaRPr lang="en-US" sz="1600" dirty="0"/>
          </a:p>
        </p:txBody>
      </p:sp>
      <p:sp>
        <p:nvSpPr>
          <p:cNvPr id="4" name="Shape 2"/>
          <p:cNvSpPr/>
          <p:nvPr/>
        </p:nvSpPr>
        <p:spPr>
          <a:xfrm>
            <a:off x="548640" y="192024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548640" y="19202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1188720" y="1901952"/>
            <a:ext cx="4480560" cy="320040"/>
          </a:xfrm>
          <a:prstGeom prst="rect">
            <a:avLst/>
          </a:prstGeom>
          <a:noFill/>
          <a:ln/>
        </p:spPr>
        <p:txBody>
          <a:bodyPr wrap="square" lIns="0" tIns="0" rIns="0" bIns="0" rtlCol="0" anchor="t"/>
          <a:lstStyle/>
          <a:p>
            <a:pPr indent="0" marL="0">
              <a:buNone/>
            </a:pPr>
            <a:r>
              <a:rPr lang="en-US" sz="1600" b="1" dirty="0">
                <a:solidFill>
                  <a:schemeClr val="tx1"/>
                </a:solidFill>
              </a:rPr>
              <a:t>Summarise a watch item</a:t>
            </a:r>
            <a:endParaRPr lang="en-US" sz="1600" dirty="0"/>
          </a:p>
        </p:txBody>
      </p:sp>
      <p:sp>
        <p:nvSpPr>
          <p:cNvPr id="7" name="Text 5"/>
          <p:cNvSpPr txBox="1"/>
          <p:nvPr/>
        </p:nvSpPr>
        <p:spPr>
          <a:xfrm>
            <a:off x="1188720" y="2194560"/>
            <a:ext cx="4480560" cy="320040"/>
          </a:xfrm>
          <a:prstGeom prst="rect">
            <a:avLst/>
          </a:prstGeom>
          <a:noFill/>
          <a:ln/>
        </p:spPr>
        <p:txBody>
          <a:bodyPr wrap="square" lIns="0" tIns="0" rIns="0" bIns="0" rtlCol="0" anchor="t"/>
          <a:lstStyle/>
          <a:p>
            <a:pPr indent="0" marL="0">
              <a:buNone/>
            </a:pPr>
            <a:r>
              <a:rPr lang="en-US" sz="1300" dirty="0">
                <a:solidFill>
                  <a:schemeClr val="tx2"/>
                </a:solidFill>
              </a:rPr>
              <a:t>in plain words</a:t>
            </a:r>
            <a:endParaRPr lang="en-US" sz="1300" dirty="0"/>
          </a:p>
        </p:txBody>
      </p:sp>
      <p:sp>
        <p:nvSpPr>
          <p:cNvPr id="8" name="Shape 6"/>
          <p:cNvSpPr/>
          <p:nvPr/>
        </p:nvSpPr>
        <p:spPr>
          <a:xfrm>
            <a:off x="548640" y="2606040"/>
            <a:ext cx="457200" cy="457200"/>
          </a:xfrm>
          <a:prstGeom prst="ellipse">
            <a:avLst/>
          </a:prstGeom>
          <a:solidFill>
            <a:schemeClr val="accent1"/>
          </a:solidFill>
          <a:ln w="12700">
            <a:solidFill>
              <a:schemeClr val="accent1"/>
            </a:solidFill>
            <a:prstDash val="solid"/>
          </a:ln>
        </p:spPr>
      </p:sp>
      <p:sp>
        <p:nvSpPr>
          <p:cNvPr id="9" name="Text 7"/>
          <p:cNvSpPr txBox="1"/>
          <p:nvPr/>
        </p:nvSpPr>
        <p:spPr>
          <a:xfrm>
            <a:off x="548640" y="26060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Text 8"/>
          <p:cNvSpPr txBox="1"/>
          <p:nvPr/>
        </p:nvSpPr>
        <p:spPr>
          <a:xfrm>
            <a:off x="1188720" y="2587752"/>
            <a:ext cx="4480560" cy="320040"/>
          </a:xfrm>
          <a:prstGeom prst="rect">
            <a:avLst/>
          </a:prstGeom>
          <a:noFill/>
          <a:ln/>
        </p:spPr>
        <p:txBody>
          <a:bodyPr wrap="square" lIns="0" tIns="0" rIns="0" bIns="0" rtlCol="0" anchor="t"/>
          <a:lstStyle/>
          <a:p>
            <a:pPr indent="0" marL="0">
              <a:buNone/>
            </a:pPr>
            <a:r>
              <a:rPr lang="en-US" sz="1600" b="1" dirty="0">
                <a:solidFill>
                  <a:schemeClr val="tx1"/>
                </a:solidFill>
              </a:rPr>
              <a:t>Propose hypotheses</a:t>
            </a:r>
            <a:endParaRPr lang="en-US" sz="1600" dirty="0"/>
          </a:p>
        </p:txBody>
      </p:sp>
      <p:sp>
        <p:nvSpPr>
          <p:cNvPr id="11" name="Text 9"/>
          <p:cNvSpPr txBox="1"/>
          <p:nvPr/>
        </p:nvSpPr>
        <p:spPr>
          <a:xfrm>
            <a:off x="1188720" y="2880360"/>
            <a:ext cx="4480560" cy="320040"/>
          </a:xfrm>
          <a:prstGeom prst="rect">
            <a:avLst/>
          </a:prstGeom>
          <a:noFill/>
          <a:ln/>
        </p:spPr>
        <p:txBody>
          <a:bodyPr wrap="square" lIns="0" tIns="0" rIns="0" bIns="0" rtlCol="0" anchor="t"/>
          <a:lstStyle/>
          <a:p>
            <a:pPr indent="0" marL="0">
              <a:buNone/>
            </a:pPr>
            <a:r>
              <a:rPr lang="en-US" sz="1300" dirty="0">
                <a:solidFill>
                  <a:schemeClr val="tx2"/>
                </a:solidFill>
              </a:rPr>
              <a:t>up to two beyond the playbook</a:t>
            </a:r>
            <a:endParaRPr lang="en-US" sz="1300" dirty="0"/>
          </a:p>
        </p:txBody>
      </p:sp>
      <p:sp>
        <p:nvSpPr>
          <p:cNvPr id="12" name="Shape 10"/>
          <p:cNvSpPr/>
          <p:nvPr/>
        </p:nvSpPr>
        <p:spPr>
          <a:xfrm>
            <a:off x="548640" y="3291840"/>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548640" y="32918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4" name="Text 12"/>
          <p:cNvSpPr txBox="1"/>
          <p:nvPr/>
        </p:nvSpPr>
        <p:spPr>
          <a:xfrm>
            <a:off x="1188720" y="3273552"/>
            <a:ext cx="4480560" cy="320040"/>
          </a:xfrm>
          <a:prstGeom prst="rect">
            <a:avLst/>
          </a:prstGeom>
          <a:noFill/>
          <a:ln/>
        </p:spPr>
        <p:txBody>
          <a:bodyPr wrap="square" lIns="0" tIns="0" rIns="0" bIns="0" rtlCol="0" anchor="t"/>
          <a:lstStyle/>
          <a:p>
            <a:pPr indent="0" marL="0">
              <a:buNone/>
            </a:pPr>
            <a:r>
              <a:rPr lang="en-US" sz="1600" b="1" dirty="0">
                <a:solidFill>
                  <a:schemeClr val="tx1"/>
                </a:solidFill>
              </a:rPr>
              <a:t>Interpret evidence</a:t>
            </a:r>
            <a:endParaRPr lang="en-US" sz="1600" dirty="0"/>
          </a:p>
        </p:txBody>
      </p:sp>
      <p:sp>
        <p:nvSpPr>
          <p:cNvPr id="15" name="Text 13"/>
          <p:cNvSpPr txBox="1"/>
          <p:nvPr/>
        </p:nvSpPr>
        <p:spPr>
          <a:xfrm>
            <a:off x="1188720" y="3566160"/>
            <a:ext cx="4480560" cy="320040"/>
          </a:xfrm>
          <a:prstGeom prst="rect">
            <a:avLst/>
          </a:prstGeom>
          <a:noFill/>
          <a:ln/>
        </p:spPr>
        <p:txBody>
          <a:bodyPr wrap="square" lIns="0" tIns="0" rIns="0" bIns="0" rtlCol="0" anchor="t"/>
          <a:lstStyle/>
          <a:p>
            <a:pPr indent="0" marL="0">
              <a:buNone/>
            </a:pPr>
            <a:r>
              <a:rPr lang="en-US" sz="1300" dirty="0">
                <a:solidFill>
                  <a:schemeClr val="tx2"/>
                </a:solidFill>
              </a:rPr>
              <a:t>that no rule covers</a:t>
            </a:r>
            <a:endParaRPr lang="en-US" sz="1300" dirty="0"/>
          </a:p>
        </p:txBody>
      </p:sp>
      <p:sp>
        <p:nvSpPr>
          <p:cNvPr id="16" name="Shape 14"/>
          <p:cNvSpPr/>
          <p:nvPr/>
        </p:nvSpPr>
        <p:spPr>
          <a:xfrm>
            <a:off x="548640" y="3977640"/>
            <a:ext cx="457200" cy="457200"/>
          </a:xfrm>
          <a:prstGeom prst="ellipse">
            <a:avLst/>
          </a:prstGeom>
          <a:solidFill>
            <a:schemeClr val="accent1"/>
          </a:solidFill>
          <a:ln w="12700">
            <a:solidFill>
              <a:schemeClr val="accent1"/>
            </a:solidFill>
            <a:prstDash val="solid"/>
          </a:ln>
        </p:spPr>
      </p:sp>
      <p:sp>
        <p:nvSpPr>
          <p:cNvPr id="17" name="Text 15"/>
          <p:cNvSpPr txBox="1"/>
          <p:nvPr/>
        </p:nvSpPr>
        <p:spPr>
          <a:xfrm>
            <a:off x="548640" y="39776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8" name="Text 16"/>
          <p:cNvSpPr txBox="1"/>
          <p:nvPr/>
        </p:nvSpPr>
        <p:spPr>
          <a:xfrm>
            <a:off x="1188720" y="3959352"/>
            <a:ext cx="4480560" cy="320040"/>
          </a:xfrm>
          <a:prstGeom prst="rect">
            <a:avLst/>
          </a:prstGeom>
          <a:noFill/>
          <a:ln/>
        </p:spPr>
        <p:txBody>
          <a:bodyPr wrap="square" lIns="0" tIns="0" rIns="0" bIns="0" rtlCol="0" anchor="t"/>
          <a:lstStyle/>
          <a:p>
            <a:pPr indent="0" marL="0">
              <a:buNone/>
            </a:pPr>
            <a:r>
              <a:rPr lang="en-US" sz="1600" b="1" dirty="0">
                <a:solidFill>
                  <a:schemeClr val="tx1"/>
                </a:solidFill>
              </a:rPr>
              <a:t>Explain the cause</a:t>
            </a:r>
            <a:endParaRPr lang="en-US" sz="1600" dirty="0"/>
          </a:p>
        </p:txBody>
      </p:sp>
      <p:sp>
        <p:nvSpPr>
          <p:cNvPr id="19" name="Text 17"/>
          <p:cNvSpPr txBox="1"/>
          <p:nvPr/>
        </p:nvSpPr>
        <p:spPr>
          <a:xfrm>
            <a:off x="1188720" y="4251960"/>
            <a:ext cx="4480560" cy="320040"/>
          </a:xfrm>
          <a:prstGeom prst="rect">
            <a:avLst/>
          </a:prstGeom>
          <a:noFill/>
          <a:ln/>
        </p:spPr>
        <p:txBody>
          <a:bodyPr wrap="square" lIns="0" tIns="0" rIns="0" bIns="0" rtlCol="0" anchor="t"/>
          <a:lstStyle/>
          <a:p>
            <a:pPr indent="0" marL="0">
              <a:buNone/>
            </a:pPr>
            <a:r>
              <a:rPr lang="en-US" sz="1300" dirty="0">
                <a:solidFill>
                  <a:schemeClr val="tx2"/>
                </a:solidFill>
              </a:rPr>
              <a:t>including reboot or not</a:t>
            </a:r>
            <a:endParaRPr lang="en-US" sz="1300" dirty="0"/>
          </a:p>
        </p:txBody>
      </p:sp>
      <p:sp>
        <p:nvSpPr>
          <p:cNvPr id="20" name="Shape 18"/>
          <p:cNvSpPr/>
          <p:nvPr/>
        </p:nvSpPr>
        <p:spPr>
          <a:xfrm>
            <a:off x="548640" y="4663440"/>
            <a:ext cx="457200" cy="457200"/>
          </a:xfrm>
          <a:prstGeom prst="ellipse">
            <a:avLst/>
          </a:prstGeom>
          <a:solidFill>
            <a:schemeClr val="accent1"/>
          </a:solidFill>
          <a:ln w="12700">
            <a:solidFill>
              <a:schemeClr val="accent1"/>
            </a:solidFill>
            <a:prstDash val="solid"/>
          </a:ln>
        </p:spPr>
      </p:sp>
      <p:sp>
        <p:nvSpPr>
          <p:cNvPr id="21" name="Text 19"/>
          <p:cNvSpPr txBox="1"/>
          <p:nvPr/>
        </p:nvSpPr>
        <p:spPr>
          <a:xfrm>
            <a:off x="548640" y="46634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2" name="Text 20"/>
          <p:cNvSpPr txBox="1"/>
          <p:nvPr/>
        </p:nvSpPr>
        <p:spPr>
          <a:xfrm>
            <a:off x="1188720" y="4645152"/>
            <a:ext cx="4480560" cy="320040"/>
          </a:xfrm>
          <a:prstGeom prst="rect">
            <a:avLst/>
          </a:prstGeom>
          <a:noFill/>
          <a:ln/>
        </p:spPr>
        <p:txBody>
          <a:bodyPr wrap="square" lIns="0" tIns="0" rIns="0" bIns="0" rtlCol="0" anchor="t"/>
          <a:lstStyle/>
          <a:p>
            <a:pPr indent="0" marL="0">
              <a:buNone/>
            </a:pPr>
            <a:r>
              <a:rPr lang="en-US" sz="1600" b="1" dirty="0">
                <a:solidFill>
                  <a:schemeClr val="tx1"/>
                </a:solidFill>
              </a:rPr>
              <a:t>Choose next steps</a:t>
            </a:r>
            <a:endParaRPr lang="en-US" sz="1600" dirty="0"/>
          </a:p>
        </p:txBody>
      </p:sp>
      <p:sp>
        <p:nvSpPr>
          <p:cNvPr id="23" name="Text 21"/>
          <p:cNvSpPr txBox="1"/>
          <p:nvPr/>
        </p:nvSpPr>
        <p:spPr>
          <a:xfrm>
            <a:off x="1188720" y="4937760"/>
            <a:ext cx="4480560" cy="320040"/>
          </a:xfrm>
          <a:prstGeom prst="rect">
            <a:avLst/>
          </a:prstGeom>
          <a:noFill/>
          <a:ln/>
        </p:spPr>
        <p:txBody>
          <a:bodyPr wrap="square" lIns="0" tIns="0" rIns="0" bIns="0" rtlCol="0" anchor="t"/>
          <a:lstStyle/>
          <a:p>
            <a:pPr indent="0" marL="0">
              <a:buNone/>
            </a:pPr>
            <a:r>
              <a:rPr lang="en-US" sz="1300" dirty="0">
                <a:solidFill>
                  <a:schemeClr val="tx2"/>
                </a:solidFill>
              </a:rPr>
              <a:t>from a fixed catalogue; draft the escalation</a:t>
            </a:r>
            <a:endParaRPr lang="en-US" sz="1300" dirty="0"/>
          </a:p>
        </p:txBody>
      </p:sp>
      <p:sp>
        <p:nvSpPr>
          <p:cNvPr id="24" name="Shape 22"/>
          <p:cNvSpPr/>
          <p:nvPr/>
        </p:nvSpPr>
        <p:spPr>
          <a:xfrm>
            <a:off x="548640" y="5349240"/>
            <a:ext cx="457200" cy="457200"/>
          </a:xfrm>
          <a:prstGeom prst="ellipse">
            <a:avLst/>
          </a:prstGeom>
          <a:solidFill>
            <a:schemeClr val="accent1"/>
          </a:solidFill>
          <a:ln w="12700">
            <a:solidFill>
              <a:schemeClr val="accent1"/>
            </a:solidFill>
            <a:prstDash val="solid"/>
          </a:ln>
        </p:spPr>
      </p:sp>
      <p:sp>
        <p:nvSpPr>
          <p:cNvPr id="25" name="Text 23"/>
          <p:cNvSpPr txBox="1"/>
          <p:nvPr/>
        </p:nvSpPr>
        <p:spPr>
          <a:xfrm>
            <a:off x="548640" y="53492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26" name="Text 24"/>
          <p:cNvSpPr txBox="1"/>
          <p:nvPr/>
        </p:nvSpPr>
        <p:spPr>
          <a:xfrm>
            <a:off x="1188720" y="5330952"/>
            <a:ext cx="4480560" cy="320040"/>
          </a:xfrm>
          <a:prstGeom prst="rect">
            <a:avLst/>
          </a:prstGeom>
          <a:noFill/>
          <a:ln/>
        </p:spPr>
        <p:txBody>
          <a:bodyPr wrap="square" lIns="0" tIns="0" rIns="0" bIns="0" rtlCol="0" anchor="t"/>
          <a:lstStyle/>
          <a:p>
            <a:pPr indent="0" marL="0">
              <a:buNone/>
            </a:pPr>
            <a:r>
              <a:rPr lang="en-US" sz="1600" b="1" dirty="0">
                <a:solidFill>
                  <a:schemeClr val="tx1"/>
                </a:solidFill>
              </a:rPr>
              <a:t>Answer SRE questions</a:t>
            </a:r>
            <a:endParaRPr lang="en-US" sz="1600" dirty="0"/>
          </a:p>
        </p:txBody>
      </p:sp>
      <p:sp>
        <p:nvSpPr>
          <p:cNvPr id="27" name="Text 25"/>
          <p:cNvSpPr txBox="1"/>
          <p:nvPr/>
        </p:nvSpPr>
        <p:spPr>
          <a:xfrm>
            <a:off x="1188720" y="5623560"/>
            <a:ext cx="4480560" cy="320040"/>
          </a:xfrm>
          <a:prstGeom prst="rect">
            <a:avLst/>
          </a:prstGeom>
          <a:noFill/>
          <a:ln/>
        </p:spPr>
        <p:txBody>
          <a:bodyPr wrap="square" lIns="0" tIns="0" rIns="0" bIns="0" rtlCol="0" anchor="t"/>
          <a:lstStyle/>
          <a:p>
            <a:pPr indent="0" marL="0">
              <a:buNone/>
            </a:pPr>
            <a:r>
              <a:rPr lang="en-US" sz="1300" dirty="0">
                <a:solidFill>
                  <a:schemeClr val="tx2"/>
                </a:solidFill>
              </a:rPr>
              <a:t>only from stored evidence</a:t>
            </a:r>
            <a:endParaRPr lang="en-US" sz="1300" dirty="0"/>
          </a:p>
        </p:txBody>
      </p:sp>
      <p:sp>
        <p:nvSpPr>
          <p:cNvPr id="28" name="guard"/>
          <p:cNvSpPr/>
          <p:nvPr/>
        </p:nvSpPr>
        <p:spPr>
          <a:xfrm>
            <a:off x="6035040" y="1920240"/>
            <a:ext cx="5577840" cy="4160520"/>
          </a:xfrm>
          <a:prstGeom prst="roundRect">
            <a:avLst>
              <a:gd name="adj" fmla="val 2637"/>
            </a:avLst>
          </a:prstGeom>
          <a:solidFill>
            <a:schemeClr val="bg2"/>
          </a:solidFill>
          <a:ln w="12700">
            <a:solidFill>
              <a:schemeClr val="bg2"/>
            </a:solidFill>
            <a:prstDash val="solid"/>
          </a:ln>
        </p:spPr>
      </p:sp>
      <p:sp>
        <p:nvSpPr>
          <p:cNvPr id="29" name="Text 27"/>
          <p:cNvSpPr txBox="1"/>
          <p:nvPr/>
        </p:nvSpPr>
        <p:spPr>
          <a:xfrm>
            <a:off x="6355080" y="2148840"/>
            <a:ext cx="4937760" cy="365760"/>
          </a:xfrm>
          <a:prstGeom prst="rect">
            <a:avLst/>
          </a:prstGeom>
          <a:noFill/>
          <a:ln/>
        </p:spPr>
        <p:txBody>
          <a:bodyPr wrap="square" lIns="0" tIns="0" rIns="0" bIns="0" rtlCol="0" anchor="t"/>
          <a:lstStyle/>
          <a:p>
            <a:pPr indent="0" marL="0">
              <a:buNone/>
            </a:pPr>
            <a:r>
              <a:rPr lang="en-US" sz="1400" b="1" dirty="0">
                <a:solidFill>
                  <a:schemeClr val="accent1"/>
                </a:solidFill>
              </a:rPr>
              <a:t>Guard rails</a:t>
            </a:r>
            <a:endParaRPr lang="en-US" sz="1400" dirty="0"/>
          </a:p>
        </p:txBody>
      </p:sp>
      <p:sp>
        <p:nvSpPr>
          <p:cNvPr id="30" name="Text 28"/>
          <p:cNvSpPr txBox="1"/>
          <p:nvPr/>
        </p:nvSpPr>
        <p:spPr>
          <a:xfrm>
            <a:off x="6355080" y="2606040"/>
            <a:ext cx="4937760" cy="338328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chemeClr val="tx1"/>
                </a:solidFill>
              </a:rPr>
              <a:t>Detection, correlation and scoring never depend on the model; the demo ranks the right cause with it switched off</a:t>
            </a:r>
            <a:endParaRPr lang="en-US" sz="1450" dirty="0"/>
          </a:p>
          <a:p>
            <a:pPr marL="342900" indent="-342900">
              <a:spcAft>
                <a:spcPts val="700"/>
              </a:spcAft>
              <a:buSzPct val="100000"/>
              <a:buChar char="•"/>
            </a:pPr>
            <a:r>
              <a:rPr lang="en-US" sz="1450" dirty="0">
                <a:solidFill>
                  <a:schemeClr val="tx1"/>
                </a:solidFill>
              </a:rPr>
              <a:t>JSON schema and two worked examples per job</a:t>
            </a:r>
            <a:endParaRPr lang="en-US" sz="1450" dirty="0"/>
          </a:p>
          <a:p>
            <a:pPr marL="342900" indent="-342900">
              <a:spcAft>
                <a:spcPts val="700"/>
              </a:spcAft>
              <a:buSzPct val="100000"/>
              <a:buChar char="•"/>
            </a:pPr>
            <a:r>
              <a:rPr lang="en-US" sz="1450" dirty="0">
                <a:solidFill>
                  <a:schemeClr val="tx1"/>
                </a:solidFill>
              </a:rPr>
              <a:t>Must cite evidence ids; one retry, then a rule-based fallback</a:t>
            </a:r>
            <a:endParaRPr lang="en-US" sz="1450" dirty="0"/>
          </a:p>
          <a:p>
            <a:pPr marL="342900" indent="-342900">
              <a:spcAft>
                <a:spcPts val="700"/>
              </a:spcAft>
              <a:buSzPct val="100000"/>
              <a:buChar char="•"/>
            </a:pPr>
            <a:r>
              <a:rPr lang="en-US" sz="1450" dirty="0">
                <a:solidFill>
                  <a:schemeClr val="tx1"/>
                </a:solidFill>
              </a:rPr>
              <a:t>Can move confidence by at most 0.10</a:t>
            </a:r>
            <a:endParaRPr lang="en-US" sz="1450" dirty="0"/>
          </a:p>
          <a:p>
            <a:pPr marL="342900" indent="-342900">
              <a:spcAft>
                <a:spcPts val="700"/>
              </a:spcAft>
              <a:buSzPct val="100000"/>
              <a:buChar char="•"/>
            </a:pPr>
            <a:r>
              <a:rPr lang="en-US" sz="1450" dirty="0">
                <a:solidFill>
                  <a:schemeClr val="tx1"/>
                </a:solidFill>
              </a:rPr>
              <a:t>Called only when inputs change</a:t>
            </a:r>
            <a:endParaRPr lang="en-US" sz="1450" dirty="0"/>
          </a:p>
          <a:p>
            <a:pPr marL="342900" indent="-342900">
              <a:spcAft>
                <a:spcPts val="700"/>
              </a:spcAft>
              <a:buSzPct val="100000"/>
              <a:buChar char="•"/>
            </a:pPr>
            <a:r>
              <a:rPr lang="en-US" sz="1450" dirty="0">
                <a:solidFill>
                  <a:schemeClr val="tx1"/>
                </a:solidFill>
              </a:rPr>
              <a:t>An eval scores any model on these jobs, so we measure Gemma rather than guess</a:t>
            </a:r>
            <a:endParaRPr lang="en-US" sz="14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What already exists, and the gap</a:t>
            </a:r>
            <a:endParaRPr lang="en-US" sz="3400" dirty="0"/>
          </a:p>
        </p:txBody>
      </p:sp>
      <p:sp>
        <p:nvSpPr>
          <p:cNvPr id="3" name="a0"/>
          <p:cNvSpPr/>
          <p:nvPr/>
        </p:nvSpPr>
        <p:spPr>
          <a:xfrm>
            <a:off x="548640" y="1417320"/>
            <a:ext cx="3520440" cy="1280160"/>
          </a:xfrm>
          <a:prstGeom prst="roundRect">
            <a:avLst>
              <a:gd name="adj" fmla="val 8571"/>
            </a:avLst>
          </a:prstGeom>
          <a:solidFill>
            <a:schemeClr val="bg2"/>
          </a:solidFill>
          <a:ln w="12700">
            <a:solidFill>
              <a:schemeClr val="bg2"/>
            </a:solidFill>
            <a:prstDash val="solid"/>
          </a:ln>
        </p:spPr>
      </p:sp>
      <p:sp>
        <p:nvSpPr>
          <p:cNvPr id="4" name="Text 2"/>
          <p:cNvSpPr txBox="1"/>
          <p:nvPr/>
        </p:nvSpPr>
        <p:spPr>
          <a:xfrm>
            <a:off x="777240" y="1563624"/>
            <a:ext cx="3108960" cy="365760"/>
          </a:xfrm>
          <a:prstGeom prst="rect">
            <a:avLst/>
          </a:prstGeom>
          <a:noFill/>
          <a:ln/>
        </p:spPr>
        <p:txBody>
          <a:bodyPr wrap="square" lIns="0" tIns="0" rIns="0" bIns="0" rtlCol="0" anchor="t"/>
          <a:lstStyle/>
          <a:p>
            <a:pPr indent="0" marL="0">
              <a:buNone/>
            </a:pPr>
            <a:r>
              <a:rPr lang="en-US" sz="1550" b="1" dirty="0">
                <a:solidFill>
                  <a:schemeClr val="tx1"/>
                </a:solidFill>
              </a:rPr>
              <a:t>OpenShift Lightspeed</a:t>
            </a:r>
            <a:endParaRPr lang="en-US" sz="1550" dirty="0"/>
          </a:p>
        </p:txBody>
      </p:sp>
      <p:sp>
        <p:nvSpPr>
          <p:cNvPr id="5" name="Text 3"/>
          <p:cNvSpPr txBox="1"/>
          <p:nvPr/>
        </p:nvSpPr>
        <p:spPr>
          <a:xfrm>
            <a:off x="777240" y="1947672"/>
            <a:ext cx="3108960" cy="713232"/>
          </a:xfrm>
          <a:prstGeom prst="rect">
            <a:avLst/>
          </a:prstGeom>
          <a:noFill/>
          <a:ln/>
        </p:spPr>
        <p:txBody>
          <a:bodyPr wrap="square" lIns="0" tIns="0" rIns="0" bIns="0" rtlCol="0" anchor="t"/>
          <a:lstStyle/>
          <a:p>
            <a:pPr indent="0" marL="0">
              <a:buNone/>
            </a:pPr>
            <a:r>
              <a:rPr lang="en-US" sz="1300" dirty="0">
                <a:solidFill>
                  <a:schemeClr val="tx2"/>
                </a:solidFill>
              </a:rPr>
              <a:t>Red Hat's AI assistant in the OCP console. One cluster, chat-driven, no network view.</a:t>
            </a:r>
            <a:endParaRPr lang="en-US" sz="1300" dirty="0"/>
          </a:p>
        </p:txBody>
      </p:sp>
      <p:sp>
        <p:nvSpPr>
          <p:cNvPr id="6" name="a1"/>
          <p:cNvSpPr/>
          <p:nvPr/>
        </p:nvSpPr>
        <p:spPr>
          <a:xfrm>
            <a:off x="4251960" y="1417320"/>
            <a:ext cx="3520440" cy="1280160"/>
          </a:xfrm>
          <a:prstGeom prst="roundRect">
            <a:avLst>
              <a:gd name="adj" fmla="val 8571"/>
            </a:avLst>
          </a:prstGeom>
          <a:solidFill>
            <a:schemeClr val="bg2"/>
          </a:solidFill>
          <a:ln w="12700">
            <a:solidFill>
              <a:schemeClr val="bg2"/>
            </a:solidFill>
            <a:prstDash val="solid"/>
          </a:ln>
        </p:spPr>
      </p:sp>
      <p:sp>
        <p:nvSpPr>
          <p:cNvPr id="7" name="Text 5"/>
          <p:cNvSpPr txBox="1"/>
          <p:nvPr/>
        </p:nvSpPr>
        <p:spPr>
          <a:xfrm>
            <a:off x="4480560" y="1563624"/>
            <a:ext cx="3108960" cy="365760"/>
          </a:xfrm>
          <a:prstGeom prst="rect">
            <a:avLst/>
          </a:prstGeom>
          <a:noFill/>
          <a:ln/>
        </p:spPr>
        <p:txBody>
          <a:bodyPr wrap="square" lIns="0" tIns="0" rIns="0" bIns="0" rtlCol="0" anchor="t"/>
          <a:lstStyle/>
          <a:p>
            <a:pPr indent="0" marL="0">
              <a:buNone/>
            </a:pPr>
            <a:r>
              <a:rPr lang="en-US" sz="1550" b="1" dirty="0">
                <a:solidFill>
                  <a:schemeClr val="tx1"/>
                </a:solidFill>
              </a:rPr>
              <a:t>HolmesGPT, K8sGPT</a:t>
            </a:r>
            <a:endParaRPr lang="en-US" sz="1550" dirty="0"/>
          </a:p>
        </p:txBody>
      </p:sp>
      <p:sp>
        <p:nvSpPr>
          <p:cNvPr id="8" name="Text 6"/>
          <p:cNvSpPr txBox="1"/>
          <p:nvPr/>
        </p:nvSpPr>
        <p:spPr>
          <a:xfrm>
            <a:off x="4480560" y="1947672"/>
            <a:ext cx="3108960" cy="713232"/>
          </a:xfrm>
          <a:prstGeom prst="rect">
            <a:avLst/>
          </a:prstGeom>
          <a:noFill/>
          <a:ln/>
        </p:spPr>
        <p:txBody>
          <a:bodyPr wrap="square" lIns="0" tIns="0" rIns="0" bIns="0" rtlCol="0" anchor="t"/>
          <a:lstStyle/>
          <a:p>
            <a:pPr indent="0" marL="0">
              <a:buNone/>
            </a:pPr>
            <a:r>
              <a:rPr lang="en-US" sz="1300" dirty="0">
                <a:solidFill>
                  <a:schemeClr val="tx2"/>
                </a:solidFill>
              </a:rPr>
              <a:t>Open-source CNCF projects that diagnose Kubernetes issues; work with local models.</a:t>
            </a:r>
            <a:endParaRPr lang="en-US" sz="1300" dirty="0"/>
          </a:p>
        </p:txBody>
      </p:sp>
      <p:sp>
        <p:nvSpPr>
          <p:cNvPr id="9" name="a2"/>
          <p:cNvSpPr/>
          <p:nvPr/>
        </p:nvSpPr>
        <p:spPr>
          <a:xfrm>
            <a:off x="548640" y="2880360"/>
            <a:ext cx="3520440" cy="1280160"/>
          </a:xfrm>
          <a:prstGeom prst="roundRect">
            <a:avLst>
              <a:gd name="adj" fmla="val 8571"/>
            </a:avLst>
          </a:prstGeom>
          <a:solidFill>
            <a:schemeClr val="bg2"/>
          </a:solidFill>
          <a:ln w="12700">
            <a:solidFill>
              <a:schemeClr val="bg2"/>
            </a:solidFill>
            <a:prstDash val="solid"/>
          </a:ln>
        </p:spPr>
      </p:sp>
      <p:sp>
        <p:nvSpPr>
          <p:cNvPr id="10" name="Text 8"/>
          <p:cNvSpPr txBox="1"/>
          <p:nvPr/>
        </p:nvSpPr>
        <p:spPr>
          <a:xfrm>
            <a:off x="777240" y="3026664"/>
            <a:ext cx="3108960" cy="365760"/>
          </a:xfrm>
          <a:prstGeom prst="rect">
            <a:avLst/>
          </a:prstGeom>
          <a:noFill/>
          <a:ln/>
        </p:spPr>
        <p:txBody>
          <a:bodyPr wrap="square" lIns="0" tIns="0" rIns="0" bIns="0" rtlCol="0" anchor="t"/>
          <a:lstStyle/>
          <a:p>
            <a:pPr indent="0" marL="0">
              <a:buNone/>
            </a:pPr>
            <a:r>
              <a:rPr lang="en-US" sz="1550" b="1" dirty="0">
                <a:solidFill>
                  <a:schemeClr val="tx1"/>
                </a:solidFill>
              </a:rPr>
              <a:t>MCP servers</a:t>
            </a:r>
            <a:endParaRPr lang="en-US" sz="1550" dirty="0"/>
          </a:p>
        </p:txBody>
      </p:sp>
      <p:sp>
        <p:nvSpPr>
          <p:cNvPr id="11" name="Text 9"/>
          <p:cNvSpPr txBox="1"/>
          <p:nvPr/>
        </p:nvSpPr>
        <p:spPr>
          <a:xfrm>
            <a:off x="777240" y="3410712"/>
            <a:ext cx="3108960" cy="713232"/>
          </a:xfrm>
          <a:prstGeom prst="rect">
            <a:avLst/>
          </a:prstGeom>
          <a:noFill/>
          <a:ln/>
        </p:spPr>
        <p:txBody>
          <a:bodyPr wrap="square" lIns="0" tIns="0" rIns="0" bIns="0" rtlCol="0" anchor="t"/>
          <a:lstStyle/>
          <a:p>
            <a:pPr indent="0" marL="0">
              <a:buNone/>
            </a:pPr>
            <a:r>
              <a:rPr lang="en-US" sz="1300" dirty="0">
                <a:solidFill>
                  <a:schemeClr val="tx2"/>
                </a:solidFill>
              </a:rPr>
              <a:t>Open-source tool servers for Kubernetes and Prometheus; a safe way for agents to query.</a:t>
            </a:r>
            <a:endParaRPr lang="en-US" sz="1300" dirty="0"/>
          </a:p>
        </p:txBody>
      </p:sp>
      <p:sp>
        <p:nvSpPr>
          <p:cNvPr id="12" name="a3"/>
          <p:cNvSpPr/>
          <p:nvPr/>
        </p:nvSpPr>
        <p:spPr>
          <a:xfrm>
            <a:off x="4251960" y="2880360"/>
            <a:ext cx="3520440" cy="1280160"/>
          </a:xfrm>
          <a:prstGeom prst="roundRect">
            <a:avLst>
              <a:gd name="adj" fmla="val 8571"/>
            </a:avLst>
          </a:prstGeom>
          <a:solidFill>
            <a:schemeClr val="bg2"/>
          </a:solidFill>
          <a:ln w="12700">
            <a:solidFill>
              <a:schemeClr val="bg2"/>
            </a:solidFill>
            <a:prstDash val="solid"/>
          </a:ln>
        </p:spPr>
      </p:sp>
      <p:sp>
        <p:nvSpPr>
          <p:cNvPr id="13" name="Text 11"/>
          <p:cNvSpPr txBox="1"/>
          <p:nvPr/>
        </p:nvSpPr>
        <p:spPr>
          <a:xfrm>
            <a:off x="4480560" y="3026664"/>
            <a:ext cx="3108960" cy="365760"/>
          </a:xfrm>
          <a:prstGeom prst="rect">
            <a:avLst/>
          </a:prstGeom>
          <a:noFill/>
          <a:ln/>
        </p:spPr>
        <p:txBody>
          <a:bodyPr wrap="square" lIns="0" tIns="0" rIns="0" bIns="0" rtlCol="0" anchor="t"/>
          <a:lstStyle/>
          <a:p>
            <a:pPr indent="0" marL="0">
              <a:buNone/>
            </a:pPr>
            <a:r>
              <a:rPr lang="en-US" sz="1550" b="1" dirty="0">
                <a:solidFill>
                  <a:schemeClr val="tx1"/>
                </a:solidFill>
              </a:rPr>
              <a:t>Red Hat FSE 2026 paper</a:t>
            </a:r>
            <a:endParaRPr lang="en-US" sz="1550" dirty="0"/>
          </a:p>
        </p:txBody>
      </p:sp>
      <p:sp>
        <p:nvSpPr>
          <p:cNvPr id="14" name="Text 12"/>
          <p:cNvSpPr txBox="1"/>
          <p:nvPr/>
        </p:nvSpPr>
        <p:spPr>
          <a:xfrm>
            <a:off x="4480560" y="3410712"/>
            <a:ext cx="3108960" cy="713232"/>
          </a:xfrm>
          <a:prstGeom prst="rect">
            <a:avLst/>
          </a:prstGeom>
          <a:noFill/>
          <a:ln/>
        </p:spPr>
        <p:txBody>
          <a:bodyPr wrap="square" lIns="0" tIns="0" rIns="0" bIns="0" rtlCol="0" anchor="t"/>
          <a:lstStyle/>
          <a:p>
            <a:pPr indent="0" marL="0">
              <a:buNone/>
            </a:pPr>
            <a:r>
              <a:rPr lang="en-US" sz="1300" dirty="0">
                <a:solidFill>
                  <a:schemeClr val="tx2"/>
                </a:solidFill>
              </a:rPr>
              <a:t>Industry report on LLM agents for AIOps on OpenShift: useful, with clear limits.</a:t>
            </a:r>
            <a:endParaRPr lang="en-US" sz="1300" dirty="0"/>
          </a:p>
        </p:txBody>
      </p:sp>
      <p:sp>
        <p:nvSpPr>
          <p:cNvPr id="15" name="a4"/>
          <p:cNvSpPr/>
          <p:nvPr/>
        </p:nvSpPr>
        <p:spPr>
          <a:xfrm>
            <a:off x="548640" y="4343400"/>
            <a:ext cx="3520440" cy="1280160"/>
          </a:xfrm>
          <a:prstGeom prst="roundRect">
            <a:avLst>
              <a:gd name="adj" fmla="val 8571"/>
            </a:avLst>
          </a:prstGeom>
          <a:solidFill>
            <a:schemeClr val="bg2"/>
          </a:solidFill>
          <a:ln w="12700">
            <a:solidFill>
              <a:schemeClr val="bg2"/>
            </a:solidFill>
            <a:prstDash val="solid"/>
          </a:ln>
        </p:spPr>
      </p:sp>
      <p:sp>
        <p:nvSpPr>
          <p:cNvPr id="16" name="Text 14"/>
          <p:cNvSpPr txBox="1"/>
          <p:nvPr/>
        </p:nvSpPr>
        <p:spPr>
          <a:xfrm>
            <a:off x="777240" y="4489704"/>
            <a:ext cx="3108960" cy="365760"/>
          </a:xfrm>
          <a:prstGeom prst="rect">
            <a:avLst/>
          </a:prstGeom>
          <a:noFill/>
          <a:ln/>
        </p:spPr>
        <p:txBody>
          <a:bodyPr wrap="square" lIns="0" tIns="0" rIns="0" bIns="0" rtlCol="0" anchor="t"/>
          <a:lstStyle/>
          <a:p>
            <a:pPr indent="0" marL="0">
              <a:buNone/>
            </a:pPr>
            <a:r>
              <a:rPr lang="en-US" sz="1550" b="1" dirty="0">
                <a:solidFill>
                  <a:schemeClr val="tx1"/>
                </a:solidFill>
              </a:rPr>
              <a:t>OpsBot (SolarWinds community)</a:t>
            </a:r>
            <a:endParaRPr lang="en-US" sz="1550" dirty="0"/>
          </a:p>
        </p:txBody>
      </p:sp>
      <p:sp>
        <p:nvSpPr>
          <p:cNvPr id="17" name="Text 15"/>
          <p:cNvSpPr txBox="1"/>
          <p:nvPr/>
        </p:nvSpPr>
        <p:spPr>
          <a:xfrm>
            <a:off x="777240" y="4873752"/>
            <a:ext cx="3108960" cy="713232"/>
          </a:xfrm>
          <a:prstGeom prst="rect">
            <a:avLst/>
          </a:prstGeom>
          <a:noFill/>
          <a:ln/>
        </p:spPr>
        <p:txBody>
          <a:bodyPr wrap="square" lIns="0" tIns="0" rIns="0" bIns="0" rtlCol="0" anchor="t"/>
          <a:lstStyle/>
          <a:p>
            <a:pPr indent="0" marL="0">
              <a:buNone/>
            </a:pPr>
            <a:r>
              <a:rPr lang="en-US" sz="1300" dirty="0">
                <a:solidFill>
                  <a:schemeClr val="tx2"/>
                </a:solidFill>
              </a:rPr>
              <a:t>Multi-agent AIOps idea on top of SolarWinds data.</a:t>
            </a:r>
            <a:endParaRPr lang="en-US" sz="1300" dirty="0"/>
          </a:p>
        </p:txBody>
      </p:sp>
      <p:sp>
        <p:nvSpPr>
          <p:cNvPr id="18" name="a5"/>
          <p:cNvSpPr/>
          <p:nvPr/>
        </p:nvSpPr>
        <p:spPr>
          <a:xfrm>
            <a:off x="4251960" y="4343400"/>
            <a:ext cx="3520440" cy="1280160"/>
          </a:xfrm>
          <a:prstGeom prst="roundRect">
            <a:avLst>
              <a:gd name="adj" fmla="val 8571"/>
            </a:avLst>
          </a:prstGeom>
          <a:solidFill>
            <a:schemeClr val="bg2"/>
          </a:solidFill>
          <a:ln w="12700">
            <a:solidFill>
              <a:schemeClr val="bg2"/>
            </a:solidFill>
            <a:prstDash val="solid"/>
          </a:ln>
        </p:spPr>
      </p:sp>
      <p:sp>
        <p:nvSpPr>
          <p:cNvPr id="19" name="Text 17"/>
          <p:cNvSpPr txBox="1"/>
          <p:nvPr/>
        </p:nvSpPr>
        <p:spPr>
          <a:xfrm>
            <a:off x="4480560" y="4489704"/>
            <a:ext cx="3108960" cy="365760"/>
          </a:xfrm>
          <a:prstGeom prst="rect">
            <a:avLst/>
          </a:prstGeom>
          <a:noFill/>
          <a:ln/>
        </p:spPr>
        <p:txBody>
          <a:bodyPr wrap="square" lIns="0" tIns="0" rIns="0" bIns="0" rtlCol="0" anchor="t"/>
          <a:lstStyle/>
          <a:p>
            <a:pPr indent="0" marL="0">
              <a:buNone/>
            </a:pPr>
            <a:r>
              <a:rPr lang="en-US" sz="1550" b="1" dirty="0">
                <a:solidFill>
                  <a:schemeClr val="tx1"/>
                </a:solidFill>
              </a:rPr>
              <a:t>Commercial AIOps</a:t>
            </a:r>
            <a:endParaRPr lang="en-US" sz="1550" dirty="0"/>
          </a:p>
        </p:txBody>
      </p:sp>
      <p:sp>
        <p:nvSpPr>
          <p:cNvPr id="20" name="Text 18"/>
          <p:cNvSpPr txBox="1"/>
          <p:nvPr/>
        </p:nvSpPr>
        <p:spPr>
          <a:xfrm>
            <a:off x="4480560" y="4873752"/>
            <a:ext cx="3108960" cy="713232"/>
          </a:xfrm>
          <a:prstGeom prst="rect">
            <a:avLst/>
          </a:prstGeom>
          <a:noFill/>
          <a:ln/>
        </p:spPr>
        <p:txBody>
          <a:bodyPr wrap="square" lIns="0" tIns="0" rIns="0" bIns="0" rtlCol="0" anchor="t"/>
          <a:lstStyle/>
          <a:p>
            <a:pPr indent="0" marL="0">
              <a:buNone/>
            </a:pPr>
            <a:r>
              <a:rPr lang="en-US" sz="1300" dirty="0">
                <a:solidFill>
                  <a:schemeClr val="tx2"/>
                </a:solidFill>
              </a:rPr>
              <a:t>Dynatrace, Splunk ITSI and others: strong, but costly and often cloud-tied.</a:t>
            </a:r>
            <a:endParaRPr lang="en-US" sz="1300" dirty="0"/>
          </a:p>
        </p:txBody>
      </p:sp>
      <p:sp>
        <p:nvSpPr>
          <p:cNvPr id="21" name="gap"/>
          <p:cNvSpPr/>
          <p:nvPr/>
        </p:nvSpPr>
        <p:spPr>
          <a:xfrm>
            <a:off x="8092440" y="1417320"/>
            <a:ext cx="3520440" cy="4206240"/>
          </a:xfrm>
          <a:prstGeom prst="roundRect">
            <a:avLst>
              <a:gd name="adj" fmla="val 3117"/>
            </a:avLst>
          </a:prstGeom>
          <a:solidFill>
            <a:schemeClr val="accent1"/>
          </a:solidFill>
          <a:ln w="12700">
            <a:solidFill>
              <a:schemeClr val="accent1"/>
            </a:solidFill>
            <a:prstDash val="solid"/>
          </a:ln>
        </p:spPr>
      </p:sp>
      <p:sp>
        <p:nvSpPr>
          <p:cNvPr id="22" name="Text 20"/>
          <p:cNvSpPr txBox="1"/>
          <p:nvPr/>
        </p:nvSpPr>
        <p:spPr>
          <a:xfrm>
            <a:off x="8366760" y="1691640"/>
            <a:ext cx="3017520" cy="45720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The gap</a:t>
            </a:r>
            <a:endParaRPr lang="en-US" sz="2200" dirty="0"/>
          </a:p>
        </p:txBody>
      </p:sp>
      <p:sp>
        <p:nvSpPr>
          <p:cNvPr id="23" name="Text 21"/>
          <p:cNvSpPr txBox="1"/>
          <p:nvPr/>
        </p:nvSpPr>
        <p:spPr>
          <a:xfrm>
            <a:off x="8366760" y="2240280"/>
            <a:ext cx="3017520" cy="3291840"/>
          </a:xfrm>
          <a:prstGeom prst="rect">
            <a:avLst/>
          </a:prstGeom>
          <a:noFill/>
          <a:ln/>
        </p:spPr>
        <p:txBody>
          <a:bodyPr wrap="square" lIns="0" tIns="0" rIns="0" bIns="0" rtlCol="0" anchor="t"/>
          <a:lstStyle/>
          <a:p>
            <a:pPr indent="0" marL="0">
              <a:buNone/>
            </a:pPr>
            <a:r>
              <a:rPr lang="en-US" sz="1500" dirty="0">
                <a:solidFill>
                  <a:schemeClr val="bg1"/>
                </a:solidFill>
              </a:rPr>
              <a:t>Existing assistants are single-domain or need the cloud. None investigates across the switch and the cluster together, from the tools we already run, inside an air gap. WatchTower reuses the open pieces and adds cross-domain investigation with evidence.</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The PoC runs on one MacBook Air</a:t>
            </a:r>
            <a:endParaRPr lang="en-US" sz="3400" dirty="0"/>
          </a:p>
        </p:txBody>
      </p:sp>
      <p:pic>
        <p:nvPicPr>
          <p:cNvPr id="3" name="Image 0" descr="PoC lab on a MacBook Air M2: Ollama and the browser on the host; in Docker, a kind cluster with three masters and a worker, two Cisco simulators, Splunk and SolarWinds stand-ins, the four WatchTower agents, a Redis bus and an evidence store.">    </p:cNvPr>
          <p:cNvPicPr>
            <a:picLocks noChangeAspect="1"/>
          </p:cNvPicPr>
          <p:nvPr/>
        </p:nvPicPr>
        <p:blipFill>
          <a:blip r:embed="rId1"/>
          <a:stretch>
            <a:fillRect/>
          </a:stretch>
        </p:blipFill>
        <p:spPr>
          <a:xfrm>
            <a:off x="1885355" y="1188720"/>
            <a:ext cx="8420986" cy="4526280"/>
          </a:xfrm>
          <a:prstGeom prst="rect">
            <a:avLst/>
          </a:prstGeom>
        </p:spPr>
      </p:pic>
      <p:sp>
        <p:nvSpPr>
          <p:cNvPr id="4" name="lite"/>
          <p:cNvSpPr/>
          <p:nvPr/>
        </p:nvSpPr>
        <p:spPr>
          <a:xfrm>
            <a:off x="548640" y="5806440"/>
            <a:ext cx="11064240" cy="457200"/>
          </a:xfrm>
          <a:prstGeom prst="roundRect">
            <a:avLst>
              <a:gd name="adj" fmla="val 24000"/>
            </a:avLst>
          </a:prstGeom>
          <a:solidFill>
            <a:schemeClr val="bg2"/>
          </a:solidFill>
          <a:ln w="12700">
            <a:solidFill>
              <a:schemeClr val="bg2"/>
            </a:solidFill>
            <a:prstDash val="solid"/>
          </a:ln>
        </p:spPr>
      </p:sp>
      <p:sp>
        <p:nvSpPr>
          <p:cNvPr id="5" name="Text 2"/>
          <p:cNvSpPr txBox="1"/>
          <p:nvPr/>
        </p:nvSpPr>
        <p:spPr>
          <a:xfrm>
            <a:off x="777240" y="5806440"/>
            <a:ext cx="10607040" cy="457200"/>
          </a:xfrm>
          <a:prstGeom prst="rect">
            <a:avLst/>
          </a:prstGeom>
          <a:noFill/>
          <a:ln/>
        </p:spPr>
        <p:txBody>
          <a:bodyPr wrap="square" lIns="0" tIns="0" rIns="0" bIns="0" rtlCol="0" anchor="ctr"/>
          <a:lstStyle/>
          <a:p>
            <a:pPr indent="0" marL="0">
              <a:buNone/>
            </a:pPr>
            <a:r>
              <a:rPr lang="en-US" sz="1400" b="1" dirty="0">
                <a:solidFill>
                  <a:schemeClr val="accent1"/>
                </a:solidFill>
              </a:rPr>
              <a:t>On the 8 GB Air: </a:t>
            </a:r>
            <a:pPr indent="0" marL="0">
              <a:buNone/>
            </a:pPr>
            <a:r>
              <a:rPr lang="en-US" sz="1400" dirty="0">
                <a:solidFill>
                  <a:schemeClr val="tx1"/>
                </a:solidFill>
              </a:rPr>
              <a:t>lite profile with 1 master + 1 worker, one switch simulator, gemma3:1b and the fault on the worker; about 6 to 7.5 GB.</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What is feasible on an M2 Air</a:t>
            </a:r>
            <a:endParaRPr lang="en-US" sz="3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017520"/>
                <a:gridCol w="2651760"/>
                <a:gridCol w="3566160"/>
                <a:gridCol w="1828800"/>
              </a:tblGrid>
              <a:tr h="512064">
                <a:tc>
                  <a:txBody>
                    <a:bodyPr/>
                    <a:lstStyle/>
                    <a:p>
                      <a:pPr indent="0" marL="0">
                        <a:buNone/>
                      </a:pPr>
                      <a:r>
                        <a:rPr lang="en-US" sz="1400" b="1" dirty="0">
                          <a:solidFill>
                            <a:schemeClr val="bg1"/>
                          </a:solidFill>
                        </a:rPr>
                        <a:t>Stand-in</a:t>
                      </a:r>
                      <a:endParaRPr lang="en-US" sz="14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Mimics</a:t>
                      </a:r>
                      <a:endParaRPr lang="en-US" sz="14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Fit on an M2 Air</a:t>
                      </a:r>
                      <a:endParaRPr lang="en-US" sz="14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Verdict</a:t>
                      </a:r>
                      <a:endParaRPr lang="en-US" sz="14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tx1"/>
                    </a:solidFill>
                  </a:tcPr>
                </a:tc>
              </a:tr>
              <a:tr h="512064">
                <a:tc>
                  <a:txBody>
                    <a:bodyPr/>
                    <a:lstStyle/>
                    <a:p>
                      <a:pPr indent="0" marL="0">
                        <a:buNone/>
                      </a:pPr>
                      <a:r>
                        <a:rPr lang="en-US" sz="1300" dirty="0">
                          <a:solidFill>
                            <a:schemeClr val="tx1"/>
                          </a:solidFill>
                        </a:rPr>
                        <a:t>kind lite: 1 master + 1 worker</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OpenShift</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About 1.5 GB; fault goes on the worker</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Use on 8 GB</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r h="512064">
                <a:tc>
                  <a:txBody>
                    <a:bodyPr/>
                    <a:lstStyle/>
                    <a:p>
                      <a:pPr indent="0" marL="0">
                        <a:buNone/>
                      </a:pPr>
                      <a:r>
                        <a:rPr lang="en-US" sz="1300" dirty="0">
                          <a:solidFill>
                            <a:schemeClr val="tx1"/>
                          </a:solidFill>
                        </a:rPr>
                        <a:t>kind full: 3 masters + 1 worker</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OpenShift, HA control plane</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4.5 to 5.5 GB</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16 GB only</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r h="512064">
                <a:tc>
                  <a:txBody>
                    <a:bodyPr/>
                    <a:lstStyle/>
                    <a:p>
                      <a:pPr indent="0" marL="0">
                        <a:buNone/>
                      </a:pPr>
                      <a:r>
                        <a:rPr lang="en-US" sz="1300" dirty="0">
                          <a:solidFill>
                            <a:schemeClr val="tx1"/>
                          </a:solidFill>
                        </a:rPr>
                        <a:t>OpenShift Local (CRC)</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Real OpenShift</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Single node, about 10.5 GB on its own</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3"/>
                          </a:solidFill>
                        </a:rPr>
                        <a:t>Not on an Air</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r h="512064">
                <a:tc>
                  <a:txBody>
                    <a:bodyPr/>
                    <a:lstStyle/>
                    <a:p>
                      <a:pPr indent="0" marL="0">
                        <a:buNone/>
                      </a:pPr>
                      <a:r>
                        <a:rPr lang="en-US" sz="1300" dirty="0">
                          <a:solidFill>
                            <a:schemeClr val="tx1"/>
                          </a:solidFill>
                        </a:rPr>
                        <a:t>Cisco simulator x2</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IOS-XE CLI, SNMP, syslog</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Native; repeatable faults</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Recommended</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r h="512064">
                <a:tc>
                  <a:txBody>
                    <a:bodyPr/>
                    <a:lstStyle/>
                    <a:p>
                      <a:pPr indent="0" marL="0">
                        <a:buNone/>
                      </a:pPr>
                      <a:r>
                        <a:rPr lang="en-US" sz="1300" dirty="0">
                          <a:solidFill>
                            <a:schemeClr val="tx1"/>
                          </a:solidFill>
                        </a:rPr>
                        <a:t>GNS3, vrnetlab, CML</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Real Cisco IOS</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x86 VMs; no nested virtualisation on M2</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3"/>
                          </a:solidFill>
                        </a:rPr>
                        <a:t>Not feasible</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r h="512064">
                <a:tc>
                  <a:txBody>
                    <a:bodyPr/>
                    <a:lstStyle/>
                    <a:p>
                      <a:pPr indent="0" marL="0">
                        <a:buNone/>
                      </a:pPr>
                      <a:r>
                        <a:rPr lang="en-US" sz="1300" dirty="0">
                          <a:solidFill>
                            <a:schemeClr val="tx1"/>
                          </a:solidFill>
                        </a:rPr>
                        <a:t>splunk-sim, solarwinds-sim</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Splunk search, SolarWinds SWIS</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Native, small; real API shapes</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Recommended</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r h="512064">
                <a:tc>
                  <a:txBody>
                    <a:bodyPr/>
                    <a:lstStyle/>
                    <a:p>
                      <a:pPr indent="0" marL="0">
                        <a:buNone/>
                      </a:pPr>
                      <a:r>
                        <a:rPr lang="en-US" sz="1300" dirty="0">
                          <a:solidFill>
                            <a:schemeClr val="tx1"/>
                          </a:solidFill>
                        </a:rPr>
                        <a:t>gemma3:1b in Ollama (4b on 16 GB)</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On-prem Gemma</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About 1 GB, Apple GPU; or run with the model off</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Use on 8 GB</a:t>
                      </a:r>
                      <a:endParaRPr lang="en-US" sz="1300" dirty="0"/>
                    </a:p>
                  </a:txBody>
                  <a:tcPr marL="73152" marR="73152" marT="73152" marB="73152"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760720"/>
            <a:ext cx="11064240" cy="457200"/>
          </a:xfrm>
          <a:prstGeom prst="rect">
            <a:avLst/>
          </a:prstGeom>
          <a:noFill/>
          <a:ln/>
        </p:spPr>
        <p:txBody>
          <a:bodyPr wrap="square" lIns="0" tIns="0" rIns="0" bIns="0" rtlCol="0" anchor="t"/>
          <a:lstStyle/>
          <a:p>
            <a:pPr indent="0" marL="0">
              <a:buNone/>
            </a:pPr>
            <a:r>
              <a:rPr lang="en-US" sz="1500" b="1" dirty="0">
                <a:solidFill>
                  <a:schemeClr val="accent1"/>
                </a:solidFill>
              </a:rPr>
              <a:t>8 GB Air: lite profile, estimated 6 to 7.5 GB (not yet measured). Walkthrough and replay first, live run as the finale.</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Demo: one fault, both modes</a:t>
            </a:r>
            <a:endParaRPr lang="en-US" sz="3400" dirty="0"/>
          </a:p>
        </p:txBody>
      </p:sp>
      <p:sp>
        <p:nvSpPr>
          <p:cNvPr id="3" name="Shape 1"/>
          <p:cNvSpPr/>
          <p:nvPr/>
        </p:nvSpPr>
        <p:spPr>
          <a:xfrm>
            <a:off x="868680" y="2011680"/>
            <a:ext cx="10424160" cy="0"/>
          </a:xfrm>
          <a:prstGeom prst="line">
            <a:avLst/>
          </a:prstGeom>
          <a:noFill/>
          <a:ln w="38100">
            <a:solidFill>
              <a:srgbClr val="CFE3EA"/>
            </a:solidFill>
            <a:prstDash val="solid"/>
          </a:ln>
        </p:spPr>
      </p:sp>
      <p:sp>
        <p:nvSpPr>
          <p:cNvPr id="4" name="Shape 2"/>
          <p:cNvSpPr/>
          <p:nvPr/>
        </p:nvSpPr>
        <p:spPr>
          <a:xfrm>
            <a:off x="548640" y="1737360"/>
            <a:ext cx="548640" cy="548640"/>
          </a:xfrm>
          <a:prstGeom prst="ellipse">
            <a:avLst/>
          </a:prstGeom>
          <a:solidFill>
            <a:schemeClr val="tx2"/>
          </a:solidFill>
          <a:ln w="12700">
            <a:solidFill>
              <a:schemeClr val="tx2"/>
            </a:solidFill>
            <a:prstDash val="solid"/>
          </a:ln>
        </p:spPr>
      </p:sp>
      <p:sp>
        <p:nvSpPr>
          <p:cNvPr id="5" name="Text 3"/>
          <p:cNvSpPr txBox="1"/>
          <p:nvPr/>
        </p:nvSpPr>
        <p:spPr>
          <a:xfrm>
            <a:off x="548640" y="17373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548640" y="2468880"/>
            <a:ext cx="2103120" cy="365760"/>
          </a:xfrm>
          <a:prstGeom prst="rect">
            <a:avLst/>
          </a:prstGeom>
          <a:noFill/>
          <a:ln/>
        </p:spPr>
        <p:txBody>
          <a:bodyPr wrap="square" lIns="0" tIns="0" rIns="0" bIns="0" rtlCol="0" anchor="t"/>
          <a:lstStyle/>
          <a:p>
            <a:pPr indent="0" marL="0">
              <a:buNone/>
            </a:pPr>
            <a:r>
              <a:rPr lang="en-US" sz="1700" b="1" dirty="0">
                <a:solidFill>
                  <a:schemeClr val="tx1"/>
                </a:solidFill>
              </a:rPr>
              <a:t>Inject</a:t>
            </a:r>
            <a:endParaRPr lang="en-US" sz="1700" dirty="0"/>
          </a:p>
        </p:txBody>
      </p:sp>
      <p:sp>
        <p:nvSpPr>
          <p:cNvPr id="7" name="Text 5"/>
          <p:cNvSpPr txBox="1"/>
          <p:nvPr/>
        </p:nvSpPr>
        <p:spPr>
          <a:xfrm>
            <a:off x="548640" y="2816352"/>
            <a:ext cx="2103120" cy="320040"/>
          </a:xfrm>
          <a:prstGeom prst="rect">
            <a:avLst/>
          </a:prstGeom>
          <a:noFill/>
          <a:ln/>
        </p:spPr>
        <p:txBody>
          <a:bodyPr wrap="square" lIns="0" tIns="0" rIns="0" bIns="0" rtlCol="0" anchor="t"/>
          <a:lstStyle/>
          <a:p>
            <a:pPr indent="0" marL="0">
              <a:buNone/>
            </a:pPr>
            <a:r>
              <a:rPr lang="en-US" sz="1300" b="1" dirty="0">
                <a:solidFill>
                  <a:schemeClr val="tx2"/>
                </a:solidFill>
              </a:rPr>
              <a:t>0:00</a:t>
            </a:r>
            <a:endParaRPr lang="en-US" sz="1300" dirty="0"/>
          </a:p>
        </p:txBody>
      </p:sp>
      <p:sp>
        <p:nvSpPr>
          <p:cNvPr id="8" name="Text 6"/>
          <p:cNvSpPr txBox="1"/>
          <p:nvPr/>
        </p:nvSpPr>
        <p:spPr>
          <a:xfrm>
            <a:off x="548640" y="3154680"/>
            <a:ext cx="2103120" cy="1005840"/>
          </a:xfrm>
          <a:prstGeom prst="rect">
            <a:avLst/>
          </a:prstGeom>
          <a:noFill/>
          <a:ln/>
        </p:spPr>
        <p:txBody>
          <a:bodyPr wrap="square" lIns="0" tIns="0" rIns="0" bIns="0" rtlCol="0" anchor="t"/>
          <a:lstStyle/>
          <a:p>
            <a:pPr indent="0" marL="0">
              <a:buNone/>
            </a:pPr>
            <a:r>
              <a:rPr lang="en-US" sz="1350" dirty="0">
                <a:solidFill>
                  <a:schemeClr val="tx2"/>
                </a:solidFill>
              </a:rPr>
              <a:t>cp-congest.sh starts creeping congestion on master-2's path and its switch port</a:t>
            </a:r>
            <a:endParaRPr lang="en-US" sz="1350" dirty="0"/>
          </a:p>
        </p:txBody>
      </p:sp>
      <p:sp>
        <p:nvSpPr>
          <p:cNvPr id="9" name="Shape 7"/>
          <p:cNvSpPr/>
          <p:nvPr/>
        </p:nvSpPr>
        <p:spPr>
          <a:xfrm>
            <a:off x="2816352" y="1737360"/>
            <a:ext cx="548640" cy="548640"/>
          </a:xfrm>
          <a:prstGeom prst="ellipse">
            <a:avLst/>
          </a:prstGeom>
          <a:solidFill>
            <a:schemeClr val="accent2"/>
          </a:solidFill>
          <a:ln w="12700">
            <a:solidFill>
              <a:schemeClr val="accent2"/>
            </a:solidFill>
            <a:prstDash val="solid"/>
          </a:ln>
        </p:spPr>
      </p:sp>
      <p:sp>
        <p:nvSpPr>
          <p:cNvPr id="10" name="Text 8"/>
          <p:cNvSpPr txBox="1"/>
          <p:nvPr/>
        </p:nvSpPr>
        <p:spPr>
          <a:xfrm>
            <a:off x="2816352" y="17373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2816352" y="2468880"/>
            <a:ext cx="2103120" cy="365760"/>
          </a:xfrm>
          <a:prstGeom prst="rect">
            <a:avLst/>
          </a:prstGeom>
          <a:noFill/>
          <a:ln/>
        </p:spPr>
        <p:txBody>
          <a:bodyPr wrap="square" lIns="0" tIns="0" rIns="0" bIns="0" rtlCol="0" anchor="t"/>
          <a:lstStyle/>
          <a:p>
            <a:pPr indent="0" marL="0">
              <a:buNone/>
            </a:pPr>
            <a:r>
              <a:rPr lang="en-US" sz="1700" b="1" dirty="0">
                <a:solidFill>
                  <a:schemeClr val="tx1"/>
                </a:solidFill>
              </a:rPr>
              <a:t>Proactive watch</a:t>
            </a:r>
            <a:endParaRPr lang="en-US" sz="1700" dirty="0"/>
          </a:p>
        </p:txBody>
      </p:sp>
      <p:sp>
        <p:nvSpPr>
          <p:cNvPr id="12" name="Text 10"/>
          <p:cNvSpPr txBox="1"/>
          <p:nvPr/>
        </p:nvSpPr>
        <p:spPr>
          <a:xfrm>
            <a:off x="2816352" y="2816352"/>
            <a:ext cx="2103120" cy="320040"/>
          </a:xfrm>
          <a:prstGeom prst="rect">
            <a:avLst/>
          </a:prstGeom>
          <a:noFill/>
          <a:ln/>
        </p:spPr>
        <p:txBody>
          <a:bodyPr wrap="square" lIns="0" tIns="0" rIns="0" bIns="0" rtlCol="0" anchor="t"/>
          <a:lstStyle/>
          <a:p>
            <a:pPr indent="0" marL="0">
              <a:buNone/>
            </a:pPr>
            <a:r>
              <a:rPr lang="en-US" sz="1300" b="1" dirty="0">
                <a:solidFill>
                  <a:schemeClr val="accent2"/>
                </a:solidFill>
              </a:rPr>
              <a:t>~5:00</a:t>
            </a:r>
            <a:endParaRPr lang="en-US" sz="1300" dirty="0"/>
          </a:p>
        </p:txBody>
      </p:sp>
      <p:sp>
        <p:nvSpPr>
          <p:cNvPr id="13" name="Text 11"/>
          <p:cNvSpPr txBox="1"/>
          <p:nvPr/>
        </p:nvSpPr>
        <p:spPr>
          <a:xfrm>
            <a:off x="2816352" y="3154680"/>
            <a:ext cx="2103120" cy="1005840"/>
          </a:xfrm>
          <a:prstGeom prst="rect">
            <a:avLst/>
          </a:prstGeom>
          <a:noFill/>
          <a:ln/>
        </p:spPr>
        <p:txBody>
          <a:bodyPr wrap="square" lIns="0" tIns="0" rIns="0" bIns="0" rtlCol="0" anchor="t"/>
          <a:lstStyle/>
          <a:p>
            <a:pPr indent="0" marL="0">
              <a:buNone/>
            </a:pPr>
            <a:r>
              <a:rPr lang="en-US" sz="1350" dirty="0">
                <a:solidFill>
                  <a:schemeClr val="tx2"/>
                </a:solidFill>
              </a:rPr>
              <a:t>Tools quiet; WatchTower raises a cross-domain watch item, medium confidence</a:t>
            </a:r>
            <a:endParaRPr lang="en-US" sz="1350" dirty="0"/>
          </a:p>
        </p:txBody>
      </p:sp>
      <p:sp>
        <p:nvSpPr>
          <p:cNvPr id="14" name="Shape 12"/>
          <p:cNvSpPr/>
          <p:nvPr/>
        </p:nvSpPr>
        <p:spPr>
          <a:xfrm>
            <a:off x="5084064" y="1737360"/>
            <a:ext cx="548640" cy="548640"/>
          </a:xfrm>
          <a:prstGeom prst="ellipse">
            <a:avLst/>
          </a:prstGeom>
          <a:solidFill>
            <a:schemeClr val="accent3"/>
          </a:solidFill>
          <a:ln w="12700">
            <a:solidFill>
              <a:schemeClr val="accent3"/>
            </a:solidFill>
            <a:prstDash val="solid"/>
          </a:ln>
        </p:spPr>
      </p:sp>
      <p:sp>
        <p:nvSpPr>
          <p:cNvPr id="15" name="Text 13"/>
          <p:cNvSpPr txBox="1"/>
          <p:nvPr/>
        </p:nvSpPr>
        <p:spPr>
          <a:xfrm>
            <a:off x="5084064" y="17373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5084064" y="2468880"/>
            <a:ext cx="2103120" cy="365760"/>
          </a:xfrm>
          <a:prstGeom prst="rect">
            <a:avLst/>
          </a:prstGeom>
          <a:noFill/>
          <a:ln/>
        </p:spPr>
        <p:txBody>
          <a:bodyPr wrap="square" lIns="0" tIns="0" rIns="0" bIns="0" rtlCol="0" anchor="t"/>
          <a:lstStyle/>
          <a:p>
            <a:pPr indent="0" marL="0">
              <a:buNone/>
            </a:pPr>
            <a:r>
              <a:rPr lang="en-US" sz="1700" b="1" dirty="0">
                <a:solidFill>
                  <a:schemeClr val="tx1"/>
                </a:solidFill>
              </a:rPr>
              <a:t>Node flap</a:t>
            </a:r>
            <a:endParaRPr lang="en-US" sz="1700" dirty="0"/>
          </a:p>
        </p:txBody>
      </p:sp>
      <p:sp>
        <p:nvSpPr>
          <p:cNvPr id="17" name="Text 15"/>
          <p:cNvSpPr txBox="1"/>
          <p:nvPr/>
        </p:nvSpPr>
        <p:spPr>
          <a:xfrm>
            <a:off x="5084064" y="2816352"/>
            <a:ext cx="2103120" cy="320040"/>
          </a:xfrm>
          <a:prstGeom prst="rect">
            <a:avLst/>
          </a:prstGeom>
          <a:noFill/>
          <a:ln/>
        </p:spPr>
        <p:txBody>
          <a:bodyPr wrap="square" lIns="0" tIns="0" rIns="0" bIns="0" rtlCol="0" anchor="t"/>
          <a:lstStyle/>
          <a:p>
            <a:pPr indent="0" marL="0">
              <a:buNone/>
            </a:pPr>
            <a:r>
              <a:rPr lang="en-US" sz="1300" b="1" dirty="0">
                <a:solidFill>
                  <a:schemeClr val="accent3"/>
                </a:solidFill>
              </a:rPr>
              <a:t>~10:30</a:t>
            </a:r>
            <a:endParaRPr lang="en-US" sz="1300" dirty="0"/>
          </a:p>
        </p:txBody>
      </p:sp>
      <p:sp>
        <p:nvSpPr>
          <p:cNvPr id="18" name="Text 16"/>
          <p:cNvSpPr txBox="1"/>
          <p:nvPr/>
        </p:nvSpPr>
        <p:spPr>
          <a:xfrm>
            <a:off x="5084064" y="3154680"/>
            <a:ext cx="2103120" cy="1005840"/>
          </a:xfrm>
          <a:prstGeom prst="rect">
            <a:avLst/>
          </a:prstGeom>
          <a:noFill/>
          <a:ln/>
        </p:spPr>
        <p:txBody>
          <a:bodyPr wrap="square" lIns="0" tIns="0" rIns="0" bIns="0" rtlCol="0" anchor="t"/>
          <a:lstStyle/>
          <a:p>
            <a:pPr indent="0" marL="0">
              <a:buNone/>
            </a:pPr>
            <a:r>
              <a:rPr lang="en-US" sz="1350" dirty="0">
                <a:solidFill>
                  <a:schemeClr val="tx2"/>
                </a:solidFill>
              </a:rPr>
              <a:t>master-2 NotReady for about 45 s, then Ready; Splunk alert fires</a:t>
            </a:r>
            <a:endParaRPr lang="en-US" sz="1350" dirty="0"/>
          </a:p>
        </p:txBody>
      </p:sp>
      <p:sp>
        <p:nvSpPr>
          <p:cNvPr id="19" name="Shape 17"/>
          <p:cNvSpPr/>
          <p:nvPr/>
        </p:nvSpPr>
        <p:spPr>
          <a:xfrm>
            <a:off x="7351776" y="1737360"/>
            <a:ext cx="548640" cy="548640"/>
          </a:xfrm>
          <a:prstGeom prst="ellipse">
            <a:avLst/>
          </a:prstGeom>
          <a:solidFill>
            <a:schemeClr val="accent4"/>
          </a:solidFill>
          <a:ln w="12700">
            <a:solidFill>
              <a:schemeClr val="accent4"/>
            </a:solidFill>
            <a:prstDash val="solid"/>
          </a:ln>
        </p:spPr>
      </p:sp>
      <p:sp>
        <p:nvSpPr>
          <p:cNvPr id="20" name="Text 18"/>
          <p:cNvSpPr txBox="1"/>
          <p:nvPr/>
        </p:nvSpPr>
        <p:spPr>
          <a:xfrm>
            <a:off x="7351776" y="17373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 19"/>
          <p:cNvSpPr txBox="1"/>
          <p:nvPr/>
        </p:nvSpPr>
        <p:spPr>
          <a:xfrm>
            <a:off x="7351776" y="2468880"/>
            <a:ext cx="2103120" cy="365760"/>
          </a:xfrm>
          <a:prstGeom prst="rect">
            <a:avLst/>
          </a:prstGeom>
          <a:noFill/>
          <a:ln/>
        </p:spPr>
        <p:txBody>
          <a:bodyPr wrap="square" lIns="0" tIns="0" rIns="0" bIns="0" rtlCol="0" anchor="t"/>
          <a:lstStyle/>
          <a:p>
            <a:pPr indent="0" marL="0">
              <a:buNone/>
            </a:pPr>
            <a:r>
              <a:rPr lang="en-US" sz="1700" b="1" dirty="0">
                <a:solidFill>
                  <a:schemeClr val="tx1"/>
                </a:solidFill>
              </a:rPr>
              <a:t>Investigate</a:t>
            </a:r>
            <a:endParaRPr lang="en-US" sz="1700" dirty="0"/>
          </a:p>
        </p:txBody>
      </p:sp>
      <p:sp>
        <p:nvSpPr>
          <p:cNvPr id="22" name="Text 20"/>
          <p:cNvSpPr txBox="1"/>
          <p:nvPr/>
        </p:nvSpPr>
        <p:spPr>
          <a:xfrm>
            <a:off x="7351776" y="2816352"/>
            <a:ext cx="2103120" cy="320040"/>
          </a:xfrm>
          <a:prstGeom prst="rect">
            <a:avLst/>
          </a:prstGeom>
          <a:noFill/>
          <a:ln/>
        </p:spPr>
        <p:txBody>
          <a:bodyPr wrap="square" lIns="0" tIns="0" rIns="0" bIns="0" rtlCol="0" anchor="t"/>
          <a:lstStyle/>
          <a:p>
            <a:pPr indent="0" marL="0">
              <a:buNone/>
            </a:pPr>
            <a:r>
              <a:rPr lang="en-US" sz="1300" b="1" dirty="0">
                <a:solidFill>
                  <a:schemeClr val="accent4"/>
                </a:solidFill>
              </a:rPr>
              <a:t>11:00</a:t>
            </a:r>
            <a:endParaRPr lang="en-US" sz="1300" dirty="0"/>
          </a:p>
        </p:txBody>
      </p:sp>
      <p:sp>
        <p:nvSpPr>
          <p:cNvPr id="23" name="Text 21"/>
          <p:cNvSpPr txBox="1"/>
          <p:nvPr/>
        </p:nvSpPr>
        <p:spPr>
          <a:xfrm>
            <a:off x="7351776" y="3154680"/>
            <a:ext cx="2103120" cy="1005840"/>
          </a:xfrm>
          <a:prstGeom prst="rect">
            <a:avLst/>
          </a:prstGeom>
          <a:noFill/>
          <a:ln/>
        </p:spPr>
        <p:txBody>
          <a:bodyPr wrap="square" lIns="0" tIns="0" rIns="0" bIns="0" rtlCol="0" anchor="t"/>
          <a:lstStyle/>
          <a:p>
            <a:pPr indent="0" marL="0">
              <a:buNone/>
            </a:pPr>
            <a:r>
              <a:rPr lang="en-US" sz="1350" dirty="0">
                <a:solidFill>
                  <a:schemeClr val="tx2"/>
                </a:solidFill>
              </a:rPr>
              <a:t>SRE clicks Investigate; agents gather evidence live</a:t>
            </a:r>
            <a:endParaRPr lang="en-US" sz="1350" dirty="0"/>
          </a:p>
        </p:txBody>
      </p:sp>
      <p:sp>
        <p:nvSpPr>
          <p:cNvPr id="24" name="Shape 22"/>
          <p:cNvSpPr/>
          <p:nvPr/>
        </p:nvSpPr>
        <p:spPr>
          <a:xfrm>
            <a:off x="9619488" y="1737360"/>
            <a:ext cx="548640" cy="548640"/>
          </a:xfrm>
          <a:prstGeom prst="ellipse">
            <a:avLst/>
          </a:prstGeom>
          <a:solidFill>
            <a:schemeClr val="accent1"/>
          </a:solidFill>
          <a:ln w="12700">
            <a:solidFill>
              <a:schemeClr val="accent1"/>
            </a:solidFill>
            <a:prstDash val="solid"/>
          </a:ln>
        </p:spPr>
      </p:sp>
      <p:sp>
        <p:nvSpPr>
          <p:cNvPr id="25" name="Text 23"/>
          <p:cNvSpPr txBox="1"/>
          <p:nvPr/>
        </p:nvSpPr>
        <p:spPr>
          <a:xfrm>
            <a:off x="9619488" y="17373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6" name="Text 24"/>
          <p:cNvSpPr txBox="1"/>
          <p:nvPr/>
        </p:nvSpPr>
        <p:spPr>
          <a:xfrm>
            <a:off x="9619488" y="2468880"/>
            <a:ext cx="2103120" cy="365760"/>
          </a:xfrm>
          <a:prstGeom prst="rect">
            <a:avLst/>
          </a:prstGeom>
          <a:noFill/>
          <a:ln/>
        </p:spPr>
        <p:txBody>
          <a:bodyPr wrap="square" lIns="0" tIns="0" rIns="0" bIns="0" rtlCol="0" anchor="t"/>
          <a:lstStyle/>
          <a:p>
            <a:pPr indent="0" marL="0">
              <a:buNone/>
            </a:pPr>
            <a:r>
              <a:rPr lang="en-US" sz="1700" b="1" dirty="0">
                <a:solidFill>
                  <a:schemeClr val="tx1"/>
                </a:solidFill>
              </a:rPr>
              <a:t>Answer</a:t>
            </a:r>
            <a:endParaRPr lang="en-US" sz="1700" dirty="0"/>
          </a:p>
        </p:txBody>
      </p:sp>
      <p:sp>
        <p:nvSpPr>
          <p:cNvPr id="27" name="Text 25"/>
          <p:cNvSpPr txBox="1"/>
          <p:nvPr/>
        </p:nvSpPr>
        <p:spPr>
          <a:xfrm>
            <a:off x="9619488" y="2816352"/>
            <a:ext cx="2103120" cy="320040"/>
          </a:xfrm>
          <a:prstGeom prst="rect">
            <a:avLst/>
          </a:prstGeom>
          <a:noFill/>
          <a:ln/>
        </p:spPr>
        <p:txBody>
          <a:bodyPr wrap="square" lIns="0" tIns="0" rIns="0" bIns="0" rtlCol="0" anchor="t"/>
          <a:lstStyle/>
          <a:p>
            <a:pPr indent="0" marL="0">
              <a:buNone/>
            </a:pPr>
            <a:r>
              <a:rPr lang="en-US" sz="1300" b="1" dirty="0">
                <a:solidFill>
                  <a:schemeClr val="accent1"/>
                </a:solidFill>
              </a:rPr>
              <a:t>~13:00</a:t>
            </a:r>
            <a:endParaRPr lang="en-US" sz="1300" dirty="0"/>
          </a:p>
        </p:txBody>
      </p:sp>
      <p:sp>
        <p:nvSpPr>
          <p:cNvPr id="28" name="Text 26"/>
          <p:cNvSpPr txBox="1"/>
          <p:nvPr/>
        </p:nvSpPr>
        <p:spPr>
          <a:xfrm>
            <a:off x="9619488" y="3154680"/>
            <a:ext cx="2103120" cy="1005840"/>
          </a:xfrm>
          <a:prstGeom prst="rect">
            <a:avLst/>
          </a:prstGeom>
          <a:noFill/>
          <a:ln/>
        </p:spPr>
        <p:txBody>
          <a:bodyPr wrap="square" lIns="0" tIns="0" rIns="0" bIns="0" rtlCol="0" anchor="t"/>
          <a:lstStyle/>
          <a:p>
            <a:pPr indent="0" marL="0">
              <a:buNone/>
            </a:pPr>
            <a:r>
              <a:rPr lang="en-US" sz="1350" dirty="0">
                <a:solidFill>
                  <a:schemeClr val="tx2"/>
                </a:solidFill>
              </a:rPr>
              <a:t>Likely cause, no reboot, evidence chain, next steps, Network team P3</a:t>
            </a:r>
            <a:endParaRPr lang="en-US" sz="1350" dirty="0"/>
          </a:p>
        </p:txBody>
      </p:sp>
      <p:sp>
        <p:nvSpPr>
          <p:cNvPr id="29" name="dod"/>
          <p:cNvSpPr/>
          <p:nvPr/>
        </p:nvSpPr>
        <p:spPr>
          <a:xfrm>
            <a:off x="548640" y="4206240"/>
            <a:ext cx="11064240" cy="1965960"/>
          </a:xfrm>
          <a:prstGeom prst="roundRect">
            <a:avLst>
              <a:gd name="adj" fmla="val 5581"/>
            </a:avLst>
          </a:prstGeom>
          <a:solidFill>
            <a:schemeClr val="bg2"/>
          </a:solidFill>
          <a:ln w="12700">
            <a:solidFill>
              <a:schemeClr val="bg2"/>
            </a:solidFill>
            <a:prstDash val="solid"/>
          </a:ln>
        </p:spPr>
      </p:sp>
      <p:sp>
        <p:nvSpPr>
          <p:cNvPr id="30" name="Text 28"/>
          <p:cNvSpPr txBox="1"/>
          <p:nvPr/>
        </p:nvSpPr>
        <p:spPr>
          <a:xfrm>
            <a:off x="822960" y="4370832"/>
            <a:ext cx="10515600" cy="365760"/>
          </a:xfrm>
          <a:prstGeom prst="rect">
            <a:avLst/>
          </a:prstGeom>
          <a:noFill/>
          <a:ln/>
        </p:spPr>
        <p:txBody>
          <a:bodyPr wrap="square" lIns="0" tIns="0" rIns="0" bIns="0" rtlCol="0" anchor="t"/>
          <a:lstStyle/>
          <a:p>
            <a:pPr indent="0" marL="0">
              <a:buNone/>
            </a:pPr>
            <a:r>
              <a:rPr lang="en-US" sz="1500" b="1" dirty="0">
                <a:solidFill>
                  <a:schemeClr val="accent1"/>
                </a:solidFill>
              </a:rPr>
              <a:t>Definition of done</a:t>
            </a:r>
            <a:endParaRPr lang="en-US" sz="1500" dirty="0"/>
          </a:p>
        </p:txBody>
      </p:sp>
      <p:sp>
        <p:nvSpPr>
          <p:cNvPr id="31" name="Text 29"/>
          <p:cNvSpPr txBox="1"/>
          <p:nvPr/>
        </p:nvSpPr>
        <p:spPr>
          <a:xfrm>
            <a:off x="822960" y="4754880"/>
            <a:ext cx="10515600" cy="13716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Watch item naming master-2 and switch port Gi1/0/11 within 6 minutes, while neither stand-in tool has alarmed</a:t>
            </a:r>
            <a:endParaRPr lang="en-US" sz="1400" dirty="0"/>
          </a:p>
          <a:p>
            <a:pPr marL="342900" indent="-342900">
              <a:spcAft>
                <a:spcPts val="500"/>
              </a:spcAft>
              <a:buSzPct val="100000"/>
              <a:buChar char="•"/>
            </a:pPr>
            <a:r>
              <a:rPr lang="en-US" sz="1400" dirty="0">
                <a:solidFill>
                  <a:schemeClr val="tx1"/>
                </a:solidFill>
              </a:rPr>
              <a:t>Investigation within 3 minutes: congestion ranked first at ≥ 0.7, "no reboot" shown from boot-ID evidence, 3+ read-only steps, Network team P3</a:t>
            </a:r>
            <a:endParaRPr lang="en-US" sz="1400" dirty="0"/>
          </a:p>
          <a:p>
            <a:pPr marL="342900" indent="-342900">
              <a:spcAft>
                <a:spcPts val="500"/>
              </a:spcAft>
              <a:buSzPct val="100000"/>
              <a:buChar char="•"/>
            </a:pPr>
            <a:r>
              <a:rPr lang="en-US" sz="1400" dirty="0">
                <a:solidFill>
                  <a:schemeClr val="tx1"/>
                </a:solidFill>
              </a:rPr>
              <a:t>Same top cause with the LLM off; the recorded replay reproduces both screens with the lab stopped</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Build plan</a:t>
            </a:r>
            <a:endParaRPr lang="en-US" sz="3400" dirty="0"/>
          </a:p>
        </p:txBody>
      </p:sp>
      <p:sp>
        <p:nvSpPr>
          <p:cNvPr id="3" name="Shape 1"/>
          <p:cNvSpPr/>
          <p:nvPr/>
        </p:nvSpPr>
        <p:spPr>
          <a:xfrm>
            <a:off x="868680" y="1874520"/>
            <a:ext cx="10424160" cy="0"/>
          </a:xfrm>
          <a:prstGeom prst="line">
            <a:avLst/>
          </a:prstGeom>
          <a:noFill/>
          <a:ln w="38100">
            <a:solidFill>
              <a:srgbClr val="CFE3EA"/>
            </a:solidFill>
            <a:prstDash val="solid"/>
          </a:ln>
        </p:spPr>
      </p:sp>
      <p:sp>
        <p:nvSpPr>
          <p:cNvPr id="4" name="Shape 2"/>
          <p:cNvSpPr/>
          <p:nvPr/>
        </p:nvSpPr>
        <p:spPr>
          <a:xfrm>
            <a:off x="548640" y="1554480"/>
            <a:ext cx="640080" cy="640080"/>
          </a:xfrm>
          <a:prstGeom prst="ellipse">
            <a:avLst/>
          </a:prstGeom>
          <a:solidFill>
            <a:schemeClr val="accent1"/>
          </a:solidFill>
          <a:ln w="12700">
            <a:solidFill>
              <a:schemeClr val="accent1"/>
            </a:solidFill>
            <a:prstDash val="solid"/>
          </a:ln>
        </p:spPr>
      </p:sp>
      <p:sp>
        <p:nvSpPr>
          <p:cNvPr id="5" name="Text 3"/>
          <p:cNvSpPr txBox="1"/>
          <p:nvPr/>
        </p:nvSpPr>
        <p:spPr>
          <a:xfrm>
            <a:off x="548640" y="15544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548640" y="2377440"/>
            <a:ext cx="1325880" cy="640080"/>
          </a:xfrm>
          <a:prstGeom prst="rect">
            <a:avLst/>
          </a:prstGeom>
          <a:noFill/>
          <a:ln/>
        </p:spPr>
        <p:txBody>
          <a:bodyPr wrap="square" lIns="0" tIns="0" rIns="0" bIns="0" rtlCol="0" anchor="t"/>
          <a:lstStyle/>
          <a:p>
            <a:pPr indent="0" marL="0">
              <a:buNone/>
            </a:pPr>
            <a:r>
              <a:rPr lang="en-US" sz="1550" b="1" dirty="0">
                <a:solidFill>
                  <a:schemeClr val="tx1"/>
                </a:solidFill>
              </a:rPr>
              <a:t>Skeleton</a:t>
            </a:r>
            <a:endParaRPr lang="en-US" sz="1550" dirty="0"/>
          </a:p>
        </p:txBody>
      </p:sp>
      <p:sp>
        <p:nvSpPr>
          <p:cNvPr id="7" name="Text 5"/>
          <p:cNvSpPr txBox="1"/>
          <p:nvPr/>
        </p:nvSpPr>
        <p:spPr>
          <a:xfrm>
            <a:off x="548640" y="3017520"/>
            <a:ext cx="1325880" cy="1371600"/>
          </a:xfrm>
          <a:prstGeom prst="rect">
            <a:avLst/>
          </a:prstGeom>
          <a:noFill/>
          <a:ln/>
        </p:spPr>
        <p:txBody>
          <a:bodyPr wrap="square" lIns="0" tIns="0" rIns="0" bIns="0" rtlCol="0" anchor="t"/>
          <a:lstStyle/>
          <a:p>
            <a:pPr indent="0" marL="0">
              <a:buNone/>
            </a:pPr>
            <a:r>
              <a:rPr lang="en-US" sz="1350" dirty="0">
                <a:solidFill>
                  <a:schemeClr val="tx2"/>
                </a:solidFill>
              </a:rPr>
              <a:t>Contracts, bus, LLM client, source and probe adapters</a:t>
            </a:r>
            <a:endParaRPr lang="en-US" sz="1350" dirty="0"/>
          </a:p>
        </p:txBody>
      </p:sp>
      <p:sp>
        <p:nvSpPr>
          <p:cNvPr id="8" name="Shape 6"/>
          <p:cNvSpPr/>
          <p:nvPr/>
        </p:nvSpPr>
        <p:spPr>
          <a:xfrm>
            <a:off x="1947672" y="1554480"/>
            <a:ext cx="640080" cy="640080"/>
          </a:xfrm>
          <a:prstGeom prst="ellipse">
            <a:avLst/>
          </a:prstGeom>
          <a:solidFill>
            <a:schemeClr val="accent1"/>
          </a:solidFill>
          <a:ln w="12700">
            <a:solidFill>
              <a:schemeClr val="accent1"/>
            </a:solidFill>
            <a:prstDash val="solid"/>
          </a:ln>
        </p:spPr>
      </p:sp>
      <p:sp>
        <p:nvSpPr>
          <p:cNvPr id="9" name="Text 7"/>
          <p:cNvSpPr txBox="1"/>
          <p:nvPr/>
        </p:nvSpPr>
        <p:spPr>
          <a:xfrm>
            <a:off x="1947672" y="15544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1947672" y="2377440"/>
            <a:ext cx="1325880" cy="640080"/>
          </a:xfrm>
          <a:prstGeom prst="rect">
            <a:avLst/>
          </a:prstGeom>
          <a:noFill/>
          <a:ln/>
        </p:spPr>
        <p:txBody>
          <a:bodyPr wrap="square" lIns="0" tIns="0" rIns="0" bIns="0" rtlCol="0" anchor="t"/>
          <a:lstStyle/>
          <a:p>
            <a:pPr indent="0" marL="0">
              <a:buNone/>
            </a:pPr>
            <a:r>
              <a:rPr lang="en-US" sz="1550" b="1" dirty="0">
                <a:solidFill>
                  <a:schemeClr val="tx1"/>
                </a:solidFill>
              </a:rPr>
              <a:t>Lab</a:t>
            </a:r>
            <a:endParaRPr lang="en-US" sz="1550" dirty="0"/>
          </a:p>
        </p:txBody>
      </p:sp>
      <p:sp>
        <p:nvSpPr>
          <p:cNvPr id="11" name="Text 9"/>
          <p:cNvSpPr txBox="1"/>
          <p:nvPr/>
        </p:nvSpPr>
        <p:spPr>
          <a:xfrm>
            <a:off x="1947672" y="3017520"/>
            <a:ext cx="1325880" cy="1371600"/>
          </a:xfrm>
          <a:prstGeom prst="rect">
            <a:avLst/>
          </a:prstGeom>
          <a:noFill/>
          <a:ln/>
        </p:spPr>
        <p:txBody>
          <a:bodyPr wrap="square" lIns="0" tIns="0" rIns="0" bIns="0" rtlCol="0" anchor="t"/>
          <a:lstStyle/>
          <a:p>
            <a:pPr indent="0" marL="0">
              <a:buNone/>
            </a:pPr>
            <a:r>
              <a:rPr lang="en-US" sz="1350" dirty="0">
                <a:solidFill>
                  <a:schemeClr val="tx2"/>
                </a:solidFill>
              </a:rPr>
              <a:t>kind HA, svc-prober, Cisco sims, fault script</a:t>
            </a:r>
            <a:endParaRPr lang="en-US" sz="1350" dirty="0"/>
          </a:p>
        </p:txBody>
      </p:sp>
      <p:sp>
        <p:nvSpPr>
          <p:cNvPr id="12" name="Shape 10"/>
          <p:cNvSpPr/>
          <p:nvPr/>
        </p:nvSpPr>
        <p:spPr>
          <a:xfrm>
            <a:off x="3346704" y="1554480"/>
            <a:ext cx="640080" cy="640080"/>
          </a:xfrm>
          <a:prstGeom prst="ellipse">
            <a:avLst/>
          </a:prstGeom>
          <a:solidFill>
            <a:schemeClr val="accent1"/>
          </a:solidFill>
          <a:ln w="12700">
            <a:solidFill>
              <a:schemeClr val="accent1"/>
            </a:solidFill>
            <a:prstDash val="solid"/>
          </a:ln>
        </p:spPr>
      </p:sp>
      <p:sp>
        <p:nvSpPr>
          <p:cNvPr id="13" name="Text 11"/>
          <p:cNvSpPr txBox="1"/>
          <p:nvPr/>
        </p:nvSpPr>
        <p:spPr>
          <a:xfrm>
            <a:off x="3346704" y="15544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2"/>
          <p:cNvSpPr txBox="1"/>
          <p:nvPr/>
        </p:nvSpPr>
        <p:spPr>
          <a:xfrm>
            <a:off x="3346704" y="2377440"/>
            <a:ext cx="1325880" cy="640080"/>
          </a:xfrm>
          <a:prstGeom prst="rect">
            <a:avLst/>
          </a:prstGeom>
          <a:noFill/>
          <a:ln/>
        </p:spPr>
        <p:txBody>
          <a:bodyPr wrap="square" lIns="0" tIns="0" rIns="0" bIns="0" rtlCol="0" anchor="t"/>
          <a:lstStyle/>
          <a:p>
            <a:pPr indent="0" marL="0">
              <a:buNone/>
            </a:pPr>
            <a:r>
              <a:rPr lang="en-US" sz="1550" b="1" dirty="0">
                <a:solidFill>
                  <a:schemeClr val="tx1"/>
                </a:solidFill>
              </a:rPr>
              <a:t>Tools</a:t>
            </a:r>
            <a:endParaRPr lang="en-US" sz="1550" dirty="0"/>
          </a:p>
        </p:txBody>
      </p:sp>
      <p:sp>
        <p:nvSpPr>
          <p:cNvPr id="15" name="Text 13"/>
          <p:cNvSpPr txBox="1"/>
          <p:nvPr/>
        </p:nvSpPr>
        <p:spPr>
          <a:xfrm>
            <a:off x="3346704" y="3017520"/>
            <a:ext cx="1325880" cy="1371600"/>
          </a:xfrm>
          <a:prstGeom prst="rect">
            <a:avLst/>
          </a:prstGeom>
          <a:noFill/>
          <a:ln/>
        </p:spPr>
        <p:txBody>
          <a:bodyPr wrap="square" lIns="0" tIns="0" rIns="0" bIns="0" rtlCol="0" anchor="t"/>
          <a:lstStyle/>
          <a:p>
            <a:pPr indent="0" marL="0">
              <a:buNone/>
            </a:pPr>
            <a:r>
              <a:rPr lang="en-US" sz="1350" dirty="0">
                <a:solidFill>
                  <a:schemeClr val="tx2"/>
                </a:solidFill>
              </a:rPr>
              <a:t>Splunk and SolarWinds stand-ins, forwarder</a:t>
            </a:r>
            <a:endParaRPr lang="en-US" sz="1350" dirty="0"/>
          </a:p>
        </p:txBody>
      </p:sp>
      <p:sp>
        <p:nvSpPr>
          <p:cNvPr id="16" name="Shape 14"/>
          <p:cNvSpPr/>
          <p:nvPr/>
        </p:nvSpPr>
        <p:spPr>
          <a:xfrm>
            <a:off x="4745736" y="1554480"/>
            <a:ext cx="640080" cy="640080"/>
          </a:xfrm>
          <a:prstGeom prst="ellipse">
            <a:avLst/>
          </a:prstGeom>
          <a:solidFill>
            <a:schemeClr val="accent1"/>
          </a:solidFill>
          <a:ln w="12700">
            <a:solidFill>
              <a:schemeClr val="accent1"/>
            </a:solidFill>
            <a:prstDash val="solid"/>
          </a:ln>
        </p:spPr>
      </p:sp>
      <p:sp>
        <p:nvSpPr>
          <p:cNvPr id="17" name="Text 15"/>
          <p:cNvSpPr txBox="1"/>
          <p:nvPr/>
        </p:nvSpPr>
        <p:spPr>
          <a:xfrm>
            <a:off x="4745736" y="15544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8" name="Text 16"/>
          <p:cNvSpPr txBox="1"/>
          <p:nvPr/>
        </p:nvSpPr>
        <p:spPr>
          <a:xfrm>
            <a:off x="4745736" y="2377440"/>
            <a:ext cx="1325880" cy="640080"/>
          </a:xfrm>
          <a:prstGeom prst="rect">
            <a:avLst/>
          </a:prstGeom>
          <a:noFill/>
          <a:ln/>
        </p:spPr>
        <p:txBody>
          <a:bodyPr wrap="square" lIns="0" tIns="0" rIns="0" bIns="0" rtlCol="0" anchor="t"/>
          <a:lstStyle/>
          <a:p>
            <a:pPr indent="0" marL="0">
              <a:buNone/>
            </a:pPr>
            <a:r>
              <a:rPr lang="en-US" sz="1550" b="1" dirty="0">
                <a:solidFill>
                  <a:schemeClr val="tx1"/>
                </a:solidFill>
              </a:rPr>
              <a:t>Domain agents</a:t>
            </a:r>
            <a:endParaRPr lang="en-US" sz="1550" dirty="0"/>
          </a:p>
        </p:txBody>
      </p:sp>
      <p:sp>
        <p:nvSpPr>
          <p:cNvPr id="19" name="Text 17"/>
          <p:cNvSpPr txBox="1"/>
          <p:nvPr/>
        </p:nvSpPr>
        <p:spPr>
          <a:xfrm>
            <a:off x="4745736" y="3017520"/>
            <a:ext cx="1325880" cy="1371600"/>
          </a:xfrm>
          <a:prstGeom prst="rect">
            <a:avLst/>
          </a:prstGeom>
          <a:noFill/>
          <a:ln/>
        </p:spPr>
        <p:txBody>
          <a:bodyPr wrap="square" lIns="0" tIns="0" rIns="0" bIns="0" rtlCol="0" anchor="t"/>
          <a:lstStyle/>
          <a:p>
            <a:pPr indent="0" marL="0">
              <a:buNone/>
            </a:pPr>
            <a:r>
              <a:rPr lang="en-US" sz="1350" dirty="0">
                <a:solidFill>
                  <a:schemeClr val="tx2"/>
                </a:solidFill>
              </a:rPr>
              <a:t>Watch rules; reuse first, probe second</a:t>
            </a:r>
            <a:endParaRPr lang="en-US" sz="1350" dirty="0"/>
          </a:p>
        </p:txBody>
      </p:sp>
      <p:sp>
        <p:nvSpPr>
          <p:cNvPr id="20" name="Shape 18"/>
          <p:cNvSpPr/>
          <p:nvPr/>
        </p:nvSpPr>
        <p:spPr>
          <a:xfrm>
            <a:off x="6144768" y="1554480"/>
            <a:ext cx="640080" cy="640080"/>
          </a:xfrm>
          <a:prstGeom prst="ellipse">
            <a:avLst/>
          </a:prstGeom>
          <a:solidFill>
            <a:schemeClr val="accent1"/>
          </a:solidFill>
          <a:ln w="12700">
            <a:solidFill>
              <a:schemeClr val="accent1"/>
            </a:solidFill>
            <a:prstDash val="solid"/>
          </a:ln>
        </p:spPr>
      </p:sp>
      <p:sp>
        <p:nvSpPr>
          <p:cNvPr id="21" name="Text 19"/>
          <p:cNvSpPr txBox="1"/>
          <p:nvPr/>
        </p:nvSpPr>
        <p:spPr>
          <a:xfrm>
            <a:off x="6144768" y="15544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2" name="Text 20"/>
          <p:cNvSpPr txBox="1"/>
          <p:nvPr/>
        </p:nvSpPr>
        <p:spPr>
          <a:xfrm>
            <a:off x="6144768" y="2377440"/>
            <a:ext cx="1325880" cy="640080"/>
          </a:xfrm>
          <a:prstGeom prst="rect">
            <a:avLst/>
          </a:prstGeom>
          <a:noFill/>
          <a:ln/>
        </p:spPr>
        <p:txBody>
          <a:bodyPr wrap="square" lIns="0" tIns="0" rIns="0" bIns="0" rtlCol="0" anchor="t"/>
          <a:lstStyle/>
          <a:p>
            <a:pPr indent="0" marL="0">
              <a:buNone/>
            </a:pPr>
            <a:r>
              <a:rPr lang="en-US" sz="1550" b="1" dirty="0">
                <a:solidFill>
                  <a:schemeClr val="tx1"/>
                </a:solidFill>
              </a:rPr>
              <a:t>Parent</a:t>
            </a:r>
            <a:endParaRPr lang="en-US" sz="1550" dirty="0"/>
          </a:p>
        </p:txBody>
      </p:sp>
      <p:sp>
        <p:nvSpPr>
          <p:cNvPr id="23" name="Text 21"/>
          <p:cNvSpPr txBox="1"/>
          <p:nvPr/>
        </p:nvSpPr>
        <p:spPr>
          <a:xfrm>
            <a:off x="6144768" y="3017520"/>
            <a:ext cx="1325880" cy="1371600"/>
          </a:xfrm>
          <a:prstGeom prst="rect">
            <a:avLst/>
          </a:prstGeom>
          <a:noFill/>
          <a:ln/>
        </p:spPr>
        <p:txBody>
          <a:bodyPr wrap="square" lIns="0" tIns="0" rIns="0" bIns="0" rtlCol="0" anchor="t"/>
          <a:lstStyle/>
          <a:p>
            <a:pPr indent="0" marL="0">
              <a:buNone/>
            </a:pPr>
            <a:r>
              <a:rPr lang="en-US" sz="1350" dirty="0">
                <a:solidFill>
                  <a:schemeClr val="tx2"/>
                </a:solidFill>
              </a:rPr>
              <a:t>Correlate, playbooks, confidence, escalation</a:t>
            </a:r>
            <a:endParaRPr lang="en-US" sz="1350" dirty="0"/>
          </a:p>
        </p:txBody>
      </p:sp>
      <p:sp>
        <p:nvSpPr>
          <p:cNvPr id="24" name="Shape 22"/>
          <p:cNvSpPr/>
          <p:nvPr/>
        </p:nvSpPr>
        <p:spPr>
          <a:xfrm>
            <a:off x="7543800" y="1554480"/>
            <a:ext cx="640080" cy="640080"/>
          </a:xfrm>
          <a:prstGeom prst="ellipse">
            <a:avLst/>
          </a:prstGeom>
          <a:solidFill>
            <a:schemeClr val="accent1"/>
          </a:solidFill>
          <a:ln w="12700">
            <a:solidFill>
              <a:schemeClr val="accent1"/>
            </a:solidFill>
            <a:prstDash val="solid"/>
          </a:ln>
        </p:spPr>
      </p:sp>
      <p:sp>
        <p:nvSpPr>
          <p:cNvPr id="25" name="Text 23"/>
          <p:cNvSpPr txBox="1"/>
          <p:nvPr/>
        </p:nvSpPr>
        <p:spPr>
          <a:xfrm>
            <a:off x="7543800" y="15544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6" name="Text 24"/>
          <p:cNvSpPr txBox="1"/>
          <p:nvPr/>
        </p:nvSpPr>
        <p:spPr>
          <a:xfrm>
            <a:off x="7543800" y="2377440"/>
            <a:ext cx="1325880" cy="640080"/>
          </a:xfrm>
          <a:prstGeom prst="rect">
            <a:avLst/>
          </a:prstGeom>
          <a:noFill/>
          <a:ln/>
        </p:spPr>
        <p:txBody>
          <a:bodyPr wrap="square" lIns="0" tIns="0" rIns="0" bIns="0" rtlCol="0" anchor="t"/>
          <a:lstStyle/>
          <a:p>
            <a:pPr indent="0" marL="0">
              <a:buNone/>
            </a:pPr>
            <a:r>
              <a:rPr lang="en-US" sz="1550" b="1" dirty="0">
                <a:solidFill>
                  <a:schemeClr val="tx1"/>
                </a:solidFill>
              </a:rPr>
              <a:t>Copilot</a:t>
            </a:r>
            <a:endParaRPr lang="en-US" sz="1550" dirty="0"/>
          </a:p>
        </p:txBody>
      </p:sp>
      <p:sp>
        <p:nvSpPr>
          <p:cNvPr id="27" name="Text 25"/>
          <p:cNvSpPr txBox="1"/>
          <p:nvPr/>
        </p:nvSpPr>
        <p:spPr>
          <a:xfrm>
            <a:off x="7543800" y="3017520"/>
            <a:ext cx="1325880" cy="1371600"/>
          </a:xfrm>
          <a:prstGeom prst="rect">
            <a:avLst/>
          </a:prstGeom>
          <a:noFill/>
          <a:ln/>
        </p:spPr>
        <p:txBody>
          <a:bodyPr wrap="square" lIns="0" tIns="0" rIns="0" bIns="0" rtlCol="0" anchor="t"/>
          <a:lstStyle/>
          <a:p>
            <a:pPr indent="0" marL="0">
              <a:buNone/>
            </a:pPr>
            <a:r>
              <a:rPr lang="en-US" sz="1350" dirty="0">
                <a:solidFill>
                  <a:schemeClr val="tx2"/>
                </a:solidFill>
              </a:rPr>
              <a:t>Both screens, Investigate, Ask</a:t>
            </a:r>
            <a:endParaRPr lang="en-US" sz="1350" dirty="0"/>
          </a:p>
        </p:txBody>
      </p:sp>
      <p:sp>
        <p:nvSpPr>
          <p:cNvPr id="28" name="Shape 26"/>
          <p:cNvSpPr/>
          <p:nvPr/>
        </p:nvSpPr>
        <p:spPr>
          <a:xfrm>
            <a:off x="8942832" y="1554480"/>
            <a:ext cx="640080" cy="640080"/>
          </a:xfrm>
          <a:prstGeom prst="ellipse">
            <a:avLst/>
          </a:prstGeom>
          <a:solidFill>
            <a:schemeClr val="accent3"/>
          </a:solidFill>
          <a:ln w="12700">
            <a:solidFill>
              <a:schemeClr val="accent3"/>
            </a:solidFill>
            <a:prstDash val="solid"/>
          </a:ln>
        </p:spPr>
      </p:sp>
      <p:sp>
        <p:nvSpPr>
          <p:cNvPr id="29" name="Text 27"/>
          <p:cNvSpPr txBox="1"/>
          <p:nvPr/>
        </p:nvSpPr>
        <p:spPr>
          <a:xfrm>
            <a:off x="8942832" y="15544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30" name="Text 28"/>
          <p:cNvSpPr txBox="1"/>
          <p:nvPr/>
        </p:nvSpPr>
        <p:spPr>
          <a:xfrm>
            <a:off x="8942832" y="2377440"/>
            <a:ext cx="1325880" cy="640080"/>
          </a:xfrm>
          <a:prstGeom prst="rect">
            <a:avLst/>
          </a:prstGeom>
          <a:noFill/>
          <a:ln/>
        </p:spPr>
        <p:txBody>
          <a:bodyPr wrap="square" lIns="0" tIns="0" rIns="0" bIns="0" rtlCol="0" anchor="t"/>
          <a:lstStyle/>
          <a:p>
            <a:pPr indent="0" marL="0">
              <a:buNone/>
            </a:pPr>
            <a:r>
              <a:rPr lang="en-US" sz="1550" b="1" dirty="0">
                <a:solidFill>
                  <a:schemeClr val="tx1"/>
                </a:solidFill>
              </a:rPr>
              <a:t>Demo</a:t>
            </a:r>
            <a:endParaRPr lang="en-US" sz="1550" dirty="0"/>
          </a:p>
        </p:txBody>
      </p:sp>
      <p:sp>
        <p:nvSpPr>
          <p:cNvPr id="31" name="Text 29"/>
          <p:cNvSpPr txBox="1"/>
          <p:nvPr/>
        </p:nvSpPr>
        <p:spPr>
          <a:xfrm>
            <a:off x="8942832" y="3017520"/>
            <a:ext cx="1325880" cy="1371600"/>
          </a:xfrm>
          <a:prstGeom prst="rect">
            <a:avLst/>
          </a:prstGeom>
          <a:noFill/>
          <a:ln/>
        </p:spPr>
        <p:txBody>
          <a:bodyPr wrap="square" lIns="0" tIns="0" rIns="0" bIns="0" rtlCol="0" anchor="t"/>
          <a:lstStyle/>
          <a:p>
            <a:pPr indent="0" marL="0">
              <a:buNone/>
            </a:pPr>
            <a:r>
              <a:rPr lang="en-US" sz="1350" dirty="0">
                <a:solidFill>
                  <a:schemeClr val="tx2"/>
                </a:solidFill>
              </a:rPr>
              <a:t>Script, record, replay</a:t>
            </a:r>
            <a:endParaRPr lang="en-US" sz="1350" dirty="0"/>
          </a:p>
        </p:txBody>
      </p:sp>
      <p:sp>
        <p:nvSpPr>
          <p:cNvPr id="32" name="Shape 30"/>
          <p:cNvSpPr/>
          <p:nvPr/>
        </p:nvSpPr>
        <p:spPr>
          <a:xfrm>
            <a:off x="10341864" y="1554480"/>
            <a:ext cx="640080" cy="640080"/>
          </a:xfrm>
          <a:prstGeom prst="ellipse">
            <a:avLst/>
          </a:prstGeom>
          <a:solidFill>
            <a:schemeClr val="accent1"/>
          </a:solidFill>
          <a:ln w="12700">
            <a:solidFill>
              <a:schemeClr val="accent1"/>
            </a:solidFill>
            <a:prstDash val="solid"/>
          </a:ln>
        </p:spPr>
      </p:sp>
      <p:sp>
        <p:nvSpPr>
          <p:cNvPr id="33" name="Text 31"/>
          <p:cNvSpPr txBox="1"/>
          <p:nvPr/>
        </p:nvSpPr>
        <p:spPr>
          <a:xfrm>
            <a:off x="10341864" y="15544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34" name="Text 32"/>
          <p:cNvSpPr txBox="1"/>
          <p:nvPr/>
        </p:nvSpPr>
        <p:spPr>
          <a:xfrm>
            <a:off x="10341864" y="2377440"/>
            <a:ext cx="1325880" cy="640080"/>
          </a:xfrm>
          <a:prstGeom prst="rect">
            <a:avLst/>
          </a:prstGeom>
          <a:noFill/>
          <a:ln/>
        </p:spPr>
        <p:txBody>
          <a:bodyPr wrap="square" lIns="0" tIns="0" rIns="0" bIns="0" rtlCol="0" anchor="t"/>
          <a:lstStyle/>
          <a:p>
            <a:pPr indent="0" marL="0">
              <a:buNone/>
            </a:pPr>
            <a:r>
              <a:rPr lang="en-US" sz="1550" b="1" dirty="0">
                <a:solidFill>
                  <a:schemeClr val="tx1"/>
                </a:solidFill>
              </a:rPr>
              <a:t>Eval</a:t>
            </a:r>
            <a:endParaRPr lang="en-US" sz="1550" dirty="0"/>
          </a:p>
        </p:txBody>
      </p:sp>
      <p:sp>
        <p:nvSpPr>
          <p:cNvPr id="35" name="Text 33"/>
          <p:cNvSpPr txBox="1"/>
          <p:nvPr/>
        </p:nvSpPr>
        <p:spPr>
          <a:xfrm>
            <a:off x="10341864" y="3017520"/>
            <a:ext cx="1325880" cy="1371600"/>
          </a:xfrm>
          <a:prstGeom prst="rect">
            <a:avLst/>
          </a:prstGeom>
          <a:noFill/>
          <a:ln/>
        </p:spPr>
        <p:txBody>
          <a:bodyPr wrap="square" lIns="0" tIns="0" rIns="0" bIns="0" rtlCol="0" anchor="t"/>
          <a:lstStyle/>
          <a:p>
            <a:pPr indent="0" marL="0">
              <a:buNone/>
            </a:pPr>
            <a:r>
              <a:rPr lang="en-US" sz="1350" dirty="0">
                <a:solidFill>
                  <a:schemeClr val="tx2"/>
                </a:solidFill>
              </a:rPr>
              <a:t>Score the model; offline runs</a:t>
            </a:r>
            <a:endParaRPr lang="en-US" sz="1350" dirty="0"/>
          </a:p>
        </p:txBody>
      </p:sp>
      <p:sp>
        <p:nvSpPr>
          <p:cNvPr id="36" name="kit"/>
          <p:cNvSpPr/>
          <p:nvPr/>
        </p:nvSpPr>
        <p:spPr>
          <a:xfrm>
            <a:off x="548640" y="4572000"/>
            <a:ext cx="11064240" cy="1554480"/>
          </a:xfrm>
          <a:prstGeom prst="roundRect">
            <a:avLst>
              <a:gd name="adj" fmla="val 7059"/>
            </a:avLst>
          </a:prstGeom>
          <a:solidFill>
            <a:schemeClr val="bg2"/>
          </a:solidFill>
          <a:ln w="12700">
            <a:solidFill>
              <a:schemeClr val="bg2"/>
            </a:solidFill>
            <a:prstDash val="solid"/>
          </a:ln>
        </p:spPr>
      </p:sp>
      <p:sp>
        <p:nvSpPr>
          <p:cNvPr id="37" name="Text 35"/>
          <p:cNvSpPr txBox="1"/>
          <p:nvPr/>
        </p:nvSpPr>
        <p:spPr>
          <a:xfrm>
            <a:off x="822960" y="4736592"/>
            <a:ext cx="10515600" cy="365760"/>
          </a:xfrm>
          <a:prstGeom prst="rect">
            <a:avLst/>
          </a:prstGeom>
          <a:noFill/>
          <a:ln/>
        </p:spPr>
        <p:txBody>
          <a:bodyPr wrap="square" lIns="0" tIns="0" rIns="0" bIns="0" rtlCol="0" anchor="t"/>
          <a:lstStyle/>
          <a:p>
            <a:pPr indent="0" marL="0">
              <a:buNone/>
            </a:pPr>
            <a:r>
              <a:rPr lang="en-US" sz="1500" b="1" dirty="0">
                <a:solidFill>
                  <a:schemeClr val="accent1"/>
                </a:solidFill>
              </a:rPr>
              <a:t>In the PoC kit</a:t>
            </a:r>
            <a:endParaRPr lang="en-US" sz="1500" dirty="0"/>
          </a:p>
        </p:txBody>
      </p:sp>
      <p:sp>
        <p:nvSpPr>
          <p:cNvPr id="38" name="Text 36"/>
          <p:cNvSpPr txBox="1"/>
          <p:nvPr/>
        </p:nvSpPr>
        <p:spPr>
          <a:xfrm>
            <a:off x="822960" y="5102352"/>
            <a:ext cx="10515600" cy="960120"/>
          </a:xfrm>
          <a:prstGeom prst="rect">
            <a:avLst/>
          </a:prstGeom>
          <a:noFill/>
          <a:ln/>
        </p:spPr>
        <p:txBody>
          <a:bodyPr wrap="square" lIns="0" tIns="0" rIns="0" bIns="0" rtlCol="0" anchor="t"/>
          <a:lstStyle/>
          <a:p>
            <a:pPr indent="0" marL="0">
              <a:buNone/>
            </a:pPr>
            <a:r>
              <a:rPr lang="en-US" sz="1400" dirty="0">
                <a:solidFill>
                  <a:schemeClr val="tx1"/>
                </a:solidFill>
              </a:rPr>
              <a:t>Master prompt and CLAUDE.md for Claude Code, eight phase prompts with "done when" checks, four skills (lab control, domain agent, investigation playbooks, demo), contracts (signal, investigation, sources, topology, escalation), two playbooks, the wireframes and the fault script.</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From PoC to production</a:t>
            </a:r>
            <a:endParaRPr lang="en-US" sz="3400" dirty="0"/>
          </a:p>
        </p:txBody>
      </p:sp>
      <p:sp>
        <p:nvSpPr>
          <p:cNvPr id="3" name="rm0"/>
          <p:cNvSpPr/>
          <p:nvPr/>
        </p:nvSpPr>
        <p:spPr>
          <a:xfrm>
            <a:off x="548640" y="1508760"/>
            <a:ext cx="2606040" cy="3566160"/>
          </a:xfrm>
          <a:prstGeom prst="roundRect">
            <a:avLst>
              <a:gd name="adj" fmla="val 4211"/>
            </a:avLst>
          </a:prstGeom>
          <a:solidFill>
            <a:schemeClr val="accent1"/>
          </a:solidFill>
          <a:ln w="12700">
            <a:solidFill>
              <a:schemeClr val="accent1"/>
            </a:solidFill>
            <a:prstDash val="solid"/>
          </a:ln>
        </p:spPr>
      </p:sp>
      <p:sp>
        <p:nvSpPr>
          <p:cNvPr id="4" name="Text 2"/>
          <p:cNvSpPr txBox="1"/>
          <p:nvPr/>
        </p:nvSpPr>
        <p:spPr>
          <a:xfrm>
            <a:off x="822960" y="1737360"/>
            <a:ext cx="2103120" cy="320040"/>
          </a:xfrm>
          <a:prstGeom prst="rect">
            <a:avLst/>
          </a:prstGeom>
          <a:noFill/>
          <a:ln/>
        </p:spPr>
        <p:txBody>
          <a:bodyPr wrap="square" lIns="0" tIns="0" rIns="0" bIns="0" rtlCol="0" anchor="t"/>
          <a:lstStyle/>
          <a:p>
            <a:pPr indent="0" marL="0">
              <a:buNone/>
            </a:pPr>
            <a:r>
              <a:rPr lang="en-US" sz="1300" b="1" spc="200" kern="0" dirty="0">
                <a:solidFill>
                  <a:schemeClr val="bg1"/>
                </a:solidFill>
              </a:rPr>
              <a:t>BUILDERS DAY</a:t>
            </a:r>
            <a:endParaRPr lang="en-US" sz="1300" dirty="0"/>
          </a:p>
        </p:txBody>
      </p:sp>
      <p:sp>
        <p:nvSpPr>
          <p:cNvPr id="5" name="Text 3"/>
          <p:cNvSpPr txBox="1"/>
          <p:nvPr/>
        </p:nvSpPr>
        <p:spPr>
          <a:xfrm>
            <a:off x="822960" y="2103120"/>
            <a:ext cx="2103120" cy="822960"/>
          </a:xfrm>
          <a:prstGeom prst="rect">
            <a:avLst/>
          </a:prstGeom>
          <a:noFill/>
          <a:ln/>
        </p:spPr>
        <p:txBody>
          <a:bodyPr wrap="square" lIns="0" tIns="0" rIns="0" bIns="0" rtlCol="0" anchor="t"/>
          <a:lstStyle/>
          <a:p>
            <a:pPr indent="0" marL="0">
              <a:buNone/>
            </a:pPr>
            <a:r>
              <a:rPr lang="en-US" sz="2600" b="1" dirty="0">
                <a:solidFill>
                  <a:schemeClr val="bg1"/>
                </a:solidFill>
                <a:latin typeface="Arial" pitchFamily="34" charset="0"/>
                <a:ea typeface="Arial" pitchFamily="34" charset="-122"/>
                <a:cs typeface="Arial" pitchFamily="34" charset="-120"/>
              </a:rPr>
              <a:t>PoC</a:t>
            </a:r>
            <a:endParaRPr lang="en-US" sz="2600" dirty="0"/>
          </a:p>
        </p:txBody>
      </p:sp>
      <p:sp>
        <p:nvSpPr>
          <p:cNvPr id="6" name="Text 4"/>
          <p:cNvSpPr txBox="1"/>
          <p:nvPr/>
        </p:nvSpPr>
        <p:spPr>
          <a:xfrm>
            <a:off x="822960" y="3017520"/>
            <a:ext cx="2103120" cy="2377440"/>
          </a:xfrm>
          <a:prstGeom prst="rect">
            <a:avLst/>
          </a:prstGeom>
          <a:noFill/>
          <a:ln/>
        </p:spPr>
        <p:txBody>
          <a:bodyPr wrap="square" lIns="0" tIns="0" rIns="0" bIns="0" rtlCol="0" anchor="t"/>
          <a:lstStyle/>
          <a:p>
            <a:pPr indent="0" marL="0">
              <a:buNone/>
            </a:pPr>
            <a:r>
              <a:rPr lang="en-US" sz="1550" dirty="0">
                <a:solidFill>
                  <a:schemeClr val="bg1"/>
                </a:solidFill>
              </a:rPr>
              <a:t>MacBook Air lab: Cisco + OpenShift, one fault, both modes</a:t>
            </a:r>
            <a:endParaRPr lang="en-US" sz="1550" dirty="0"/>
          </a:p>
        </p:txBody>
      </p:sp>
      <p:sp>
        <p:nvSpPr>
          <p:cNvPr id="7" name="rm1"/>
          <p:cNvSpPr/>
          <p:nvPr/>
        </p:nvSpPr>
        <p:spPr>
          <a:xfrm>
            <a:off x="3383280" y="1508760"/>
            <a:ext cx="2606040" cy="3566160"/>
          </a:xfrm>
          <a:prstGeom prst="roundRect">
            <a:avLst>
              <a:gd name="adj" fmla="val 4211"/>
            </a:avLst>
          </a:prstGeom>
          <a:solidFill>
            <a:schemeClr val="accent4"/>
          </a:solidFill>
          <a:ln w="12700">
            <a:solidFill>
              <a:schemeClr val="accent4"/>
            </a:solidFill>
            <a:prstDash val="solid"/>
          </a:ln>
        </p:spPr>
      </p:sp>
      <p:sp>
        <p:nvSpPr>
          <p:cNvPr id="8" name="Text 6"/>
          <p:cNvSpPr txBox="1"/>
          <p:nvPr/>
        </p:nvSpPr>
        <p:spPr>
          <a:xfrm>
            <a:off x="3657600" y="1737360"/>
            <a:ext cx="2103120" cy="320040"/>
          </a:xfrm>
          <a:prstGeom prst="rect">
            <a:avLst/>
          </a:prstGeom>
          <a:noFill/>
          <a:ln/>
        </p:spPr>
        <p:txBody>
          <a:bodyPr wrap="square" lIns="0" tIns="0" rIns="0" bIns="0" rtlCol="0" anchor="t"/>
          <a:lstStyle/>
          <a:p>
            <a:pPr indent="0" marL="0">
              <a:buNone/>
            </a:pPr>
            <a:r>
              <a:rPr lang="en-US" sz="1300" b="1" spc="200" kern="0" dirty="0">
                <a:solidFill>
                  <a:schemeClr val="bg1"/>
                </a:solidFill>
              </a:rPr>
              <a:t>NEXT</a:t>
            </a:r>
            <a:endParaRPr lang="en-US" sz="1300" dirty="0"/>
          </a:p>
        </p:txBody>
      </p:sp>
      <p:sp>
        <p:nvSpPr>
          <p:cNvPr id="9" name="Text 7"/>
          <p:cNvSpPr txBox="1"/>
          <p:nvPr/>
        </p:nvSpPr>
        <p:spPr>
          <a:xfrm>
            <a:off x="3657600" y="2103120"/>
            <a:ext cx="2103120" cy="822960"/>
          </a:xfrm>
          <a:prstGeom prst="rect">
            <a:avLst/>
          </a:prstGeom>
          <a:noFill/>
          <a:ln/>
        </p:spPr>
        <p:txBody>
          <a:bodyPr wrap="square" lIns="0" tIns="0" rIns="0" bIns="0" rtlCol="0" anchor="t"/>
          <a:lstStyle/>
          <a:p>
            <a:pPr indent="0" marL="0">
              <a:buNone/>
            </a:pPr>
            <a:r>
              <a:rPr lang="en-US" sz="2600" b="1" dirty="0">
                <a:solidFill>
                  <a:schemeClr val="bg1"/>
                </a:solidFill>
                <a:latin typeface="Arial" pitchFamily="34" charset="0"/>
                <a:ea typeface="Arial" pitchFamily="34" charset="-122"/>
                <a:cs typeface="Arial" pitchFamily="34" charset="-120"/>
              </a:rPr>
              <a:t>Pilot</a:t>
            </a:r>
            <a:endParaRPr lang="en-US" sz="2600" dirty="0"/>
          </a:p>
        </p:txBody>
      </p:sp>
      <p:sp>
        <p:nvSpPr>
          <p:cNvPr id="10" name="Text 8"/>
          <p:cNvSpPr txBox="1"/>
          <p:nvPr/>
        </p:nvSpPr>
        <p:spPr>
          <a:xfrm>
            <a:off x="3657600" y="3017520"/>
            <a:ext cx="2103120" cy="2377440"/>
          </a:xfrm>
          <a:prstGeom prst="rect">
            <a:avLst/>
          </a:prstGeom>
          <a:noFill/>
          <a:ln/>
        </p:spPr>
        <p:txBody>
          <a:bodyPr wrap="square" lIns="0" tIns="0" rIns="0" bIns="0" rtlCol="0" anchor="t"/>
          <a:lstStyle/>
          <a:p>
            <a:pPr indent="0" marL="0">
              <a:buNone/>
            </a:pPr>
            <a:r>
              <a:rPr lang="en-US" sz="1550" dirty="0">
                <a:solidFill>
                  <a:schemeClr val="bg1"/>
                </a:solidFill>
              </a:rPr>
              <a:t>One real OCP cluster and its switches, real Splunk and SolarWinds, on-prem Gemma, read-only</a:t>
            </a:r>
            <a:endParaRPr lang="en-US" sz="1550" dirty="0"/>
          </a:p>
        </p:txBody>
      </p:sp>
      <p:sp>
        <p:nvSpPr>
          <p:cNvPr id="11" name="rm2"/>
          <p:cNvSpPr/>
          <p:nvPr/>
        </p:nvSpPr>
        <p:spPr>
          <a:xfrm>
            <a:off x="6217920" y="1508760"/>
            <a:ext cx="2606040" cy="3566160"/>
          </a:xfrm>
          <a:prstGeom prst="roundRect">
            <a:avLst>
              <a:gd name="adj" fmla="val 4211"/>
            </a:avLst>
          </a:prstGeom>
          <a:solidFill>
            <a:schemeClr val="tx1"/>
          </a:solidFill>
          <a:ln w="12700">
            <a:solidFill>
              <a:schemeClr val="tx1"/>
            </a:solidFill>
            <a:prstDash val="solid"/>
          </a:ln>
        </p:spPr>
      </p:sp>
      <p:sp>
        <p:nvSpPr>
          <p:cNvPr id="12" name="Text 10"/>
          <p:cNvSpPr txBox="1"/>
          <p:nvPr/>
        </p:nvSpPr>
        <p:spPr>
          <a:xfrm>
            <a:off x="6492240" y="1737360"/>
            <a:ext cx="2103120" cy="320040"/>
          </a:xfrm>
          <a:prstGeom prst="rect">
            <a:avLst/>
          </a:prstGeom>
          <a:noFill/>
          <a:ln/>
        </p:spPr>
        <p:txBody>
          <a:bodyPr wrap="square" lIns="0" tIns="0" rIns="0" bIns="0" rtlCol="0" anchor="t"/>
          <a:lstStyle/>
          <a:p>
            <a:pPr indent="0" marL="0">
              <a:buNone/>
            </a:pPr>
            <a:r>
              <a:rPr lang="en-US" sz="1300" b="1" spc="200" kern="0" dirty="0">
                <a:solidFill>
                  <a:schemeClr val="bg1"/>
                </a:solidFill>
              </a:rPr>
              <a:t>LATER</a:t>
            </a:r>
            <a:endParaRPr lang="en-US" sz="1300" dirty="0"/>
          </a:p>
        </p:txBody>
      </p:sp>
      <p:sp>
        <p:nvSpPr>
          <p:cNvPr id="13" name="Text 11"/>
          <p:cNvSpPr txBox="1"/>
          <p:nvPr/>
        </p:nvSpPr>
        <p:spPr>
          <a:xfrm>
            <a:off x="6492240" y="2103120"/>
            <a:ext cx="2103120" cy="822960"/>
          </a:xfrm>
          <a:prstGeom prst="rect">
            <a:avLst/>
          </a:prstGeom>
          <a:noFill/>
          <a:ln/>
        </p:spPr>
        <p:txBody>
          <a:bodyPr wrap="square" lIns="0" tIns="0" rIns="0" bIns="0" rtlCol="0" anchor="t"/>
          <a:lstStyle/>
          <a:p>
            <a:pPr indent="0" marL="0">
              <a:buNone/>
            </a:pPr>
            <a:r>
              <a:rPr lang="en-US" sz="2600" b="1" dirty="0">
                <a:solidFill>
                  <a:schemeClr val="bg1"/>
                </a:solidFill>
                <a:latin typeface="Arial" pitchFamily="34" charset="0"/>
                <a:ea typeface="Arial" pitchFamily="34" charset="-122"/>
                <a:cs typeface="Arial" pitchFamily="34" charset="-120"/>
              </a:rPr>
              <a:t>Expand</a:t>
            </a:r>
            <a:endParaRPr lang="en-US" sz="2600" dirty="0"/>
          </a:p>
        </p:txBody>
      </p:sp>
      <p:sp>
        <p:nvSpPr>
          <p:cNvPr id="14" name="Text 12"/>
          <p:cNvSpPr txBox="1"/>
          <p:nvPr/>
        </p:nvSpPr>
        <p:spPr>
          <a:xfrm>
            <a:off x="6492240" y="3017520"/>
            <a:ext cx="2103120" cy="2377440"/>
          </a:xfrm>
          <a:prstGeom prst="rect">
            <a:avLst/>
          </a:prstGeom>
          <a:noFill/>
          <a:ln/>
        </p:spPr>
        <p:txBody>
          <a:bodyPr wrap="square" lIns="0" tIns="0" rIns="0" bIns="0" rtlCol="0" anchor="t"/>
          <a:lstStyle/>
          <a:p>
            <a:pPr indent="0" marL="0">
              <a:buNone/>
            </a:pPr>
            <a:r>
              <a:rPr lang="en-US" sz="1550" dirty="0">
                <a:solidFill>
                  <a:schemeClr val="bg1"/>
                </a:solidFill>
              </a:rPr>
              <a:t>More playbooks and clusters; Palo Alto and Nutanix agents on the same pattern</a:t>
            </a:r>
            <a:endParaRPr lang="en-US" sz="1550" dirty="0"/>
          </a:p>
        </p:txBody>
      </p:sp>
      <p:sp>
        <p:nvSpPr>
          <p:cNvPr id="15" name="rm3"/>
          <p:cNvSpPr/>
          <p:nvPr/>
        </p:nvSpPr>
        <p:spPr>
          <a:xfrm>
            <a:off x="9052560" y="1508760"/>
            <a:ext cx="2606040" cy="3566160"/>
          </a:xfrm>
          <a:prstGeom prst="roundRect">
            <a:avLst>
              <a:gd name="adj" fmla="val 4211"/>
            </a:avLst>
          </a:prstGeom>
          <a:solidFill>
            <a:schemeClr val="tx2"/>
          </a:solidFill>
          <a:ln w="12700">
            <a:solidFill>
              <a:schemeClr val="tx2"/>
            </a:solidFill>
            <a:prstDash val="solid"/>
          </a:ln>
        </p:spPr>
      </p:sp>
      <p:sp>
        <p:nvSpPr>
          <p:cNvPr id="16" name="Text 14"/>
          <p:cNvSpPr txBox="1"/>
          <p:nvPr/>
        </p:nvSpPr>
        <p:spPr>
          <a:xfrm>
            <a:off x="9326880" y="1737360"/>
            <a:ext cx="2103120" cy="320040"/>
          </a:xfrm>
          <a:prstGeom prst="rect">
            <a:avLst/>
          </a:prstGeom>
          <a:noFill/>
          <a:ln/>
        </p:spPr>
        <p:txBody>
          <a:bodyPr wrap="square" lIns="0" tIns="0" rIns="0" bIns="0" rtlCol="0" anchor="t"/>
          <a:lstStyle/>
          <a:p>
            <a:pPr indent="0" marL="0">
              <a:buNone/>
            </a:pPr>
            <a:r>
              <a:rPr lang="en-US" sz="1300" b="1" spc="200" kern="0" dirty="0">
                <a:solidFill>
                  <a:schemeClr val="bg1"/>
                </a:solidFill>
              </a:rPr>
              <a:t>NOT NOW</a:t>
            </a:r>
            <a:endParaRPr lang="en-US" sz="1300" dirty="0"/>
          </a:p>
        </p:txBody>
      </p:sp>
      <p:sp>
        <p:nvSpPr>
          <p:cNvPr id="17" name="Text 15"/>
          <p:cNvSpPr txBox="1"/>
          <p:nvPr/>
        </p:nvSpPr>
        <p:spPr>
          <a:xfrm>
            <a:off x="9326880" y="2103120"/>
            <a:ext cx="2103120" cy="822960"/>
          </a:xfrm>
          <a:prstGeom prst="rect">
            <a:avLst/>
          </a:prstGeom>
          <a:noFill/>
          <a:ln/>
        </p:spPr>
        <p:txBody>
          <a:bodyPr wrap="square" lIns="0" tIns="0" rIns="0" bIns="0" rtlCol="0" anchor="t"/>
          <a:lstStyle/>
          <a:p>
            <a:pPr indent="0" marL="0">
              <a:buNone/>
            </a:pPr>
            <a:r>
              <a:rPr lang="en-US" sz="2600" b="1" dirty="0">
                <a:solidFill>
                  <a:schemeClr val="bg1"/>
                </a:solidFill>
                <a:latin typeface="Arial" pitchFamily="34" charset="0"/>
                <a:ea typeface="Arial" pitchFamily="34" charset="-122"/>
                <a:cs typeface="Arial" pitchFamily="34" charset="-120"/>
              </a:rPr>
              <a:t>Out of scope</a:t>
            </a:r>
            <a:endParaRPr lang="en-US" sz="2600" dirty="0"/>
          </a:p>
        </p:txBody>
      </p:sp>
      <p:sp>
        <p:nvSpPr>
          <p:cNvPr id="18" name="Text 16"/>
          <p:cNvSpPr txBox="1"/>
          <p:nvPr/>
        </p:nvSpPr>
        <p:spPr>
          <a:xfrm>
            <a:off x="9326880" y="3017520"/>
            <a:ext cx="2103120" cy="2377440"/>
          </a:xfrm>
          <a:prstGeom prst="rect">
            <a:avLst/>
          </a:prstGeom>
          <a:noFill/>
          <a:ln/>
        </p:spPr>
        <p:txBody>
          <a:bodyPr wrap="square" lIns="0" tIns="0" rIns="0" bIns="0" rtlCol="0" anchor="t"/>
          <a:lstStyle/>
          <a:p>
            <a:pPr indent="0" marL="0">
              <a:buNone/>
            </a:pPr>
            <a:r>
              <a:rPr lang="en-US" sz="1550" dirty="0">
                <a:solidFill>
                  <a:schemeClr val="bg1"/>
                </a:solidFill>
              </a:rPr>
              <a:t>Remediation. Only ever with SRE approval and change control, if at all</a:t>
            </a:r>
            <a:endParaRPr lang="en-US" sz="1550" dirty="0"/>
          </a:p>
        </p:txBody>
      </p:sp>
      <p:sp>
        <p:nvSpPr>
          <p:cNvPr id="19" name="Text 17"/>
          <p:cNvSpPr txBox="1"/>
          <p:nvPr/>
        </p:nvSpPr>
        <p:spPr>
          <a:xfrm>
            <a:off x="548640" y="5349240"/>
            <a:ext cx="11064240" cy="365760"/>
          </a:xfrm>
          <a:prstGeom prst="rect">
            <a:avLst/>
          </a:prstGeom>
          <a:noFill/>
          <a:ln/>
        </p:spPr>
        <p:txBody>
          <a:bodyPr wrap="square" lIns="0" tIns="0" rIns="0" bIns="0" rtlCol="0" anchor="t"/>
          <a:lstStyle/>
          <a:p>
            <a:pPr indent="0" marL="0">
              <a:buNone/>
            </a:pPr>
            <a:r>
              <a:rPr lang="en-US" sz="1400" i="1" dirty="0">
                <a:solidFill>
                  <a:schemeClr val="tx2"/>
                </a:solidFill>
              </a:rPr>
              <a:t>Pilot sizing depends on the open questions on the last slide.</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400" b="1" dirty="0">
                <a:solidFill>
                  <a:schemeClr val="tx1"/>
                </a:solidFill>
              </a:rPr>
              <a:t>Risks and how we handle them</a:t>
            </a:r>
            <a:endParaRPr lang="en-US" sz="3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840480"/>
                <a:gridCol w="7223760"/>
              </a:tblGrid>
              <a:tr h="658368">
                <a:tc>
                  <a:txBody>
                    <a:bodyPr/>
                    <a:lstStyle/>
                    <a:p>
                      <a:pPr indent="0" marL="0">
                        <a:buNone/>
                      </a:pPr>
                      <a:r>
                        <a:rPr lang="en-US" sz="1400" b="1" dirty="0">
                          <a:solidFill>
                            <a:schemeClr val="bg1"/>
                          </a:solidFill>
                        </a:rPr>
                        <a:t>Risk</a:t>
                      </a:r>
                      <a:endParaRPr lang="en-US" sz="14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Mitigation</a:t>
                      </a:r>
                      <a:endParaRPr lang="en-US" sz="14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tx1"/>
                    </a:solidFill>
                  </a:tcPr>
                </a:tc>
              </a:tr>
              <a:tr h="658368">
                <a:tc>
                  <a:txBody>
                    <a:bodyPr/>
                    <a:lstStyle/>
                    <a:p>
                      <a:pPr indent="0" marL="0">
                        <a:buNone/>
                      </a:pPr>
                      <a:r>
                        <a:rPr lang="en-US" sz="1300" b="1" dirty="0">
                          <a:solidFill>
                            <a:schemeClr val="tx1"/>
                          </a:solidFill>
                        </a:rPr>
                        <a:t>Wrong or invented explanation</a:t>
                      </a:r>
                      <a:endParaRPr lang="en-US" sz="13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Rules rank hypotheses; the model must cite evidence; schema-validated; rule fallback; ±0.10 cap</a:t>
                      </a:r>
                      <a:endParaRPr lang="en-US" sz="13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r h="658368">
                <a:tc>
                  <a:txBody>
                    <a:bodyPr/>
                    <a:lstStyle/>
                    <a:p>
                      <a:pPr indent="0" marL="0">
                        <a:buNone/>
                      </a:pPr>
                      <a:r>
                        <a:rPr lang="en-US" sz="1300" b="1" dirty="0">
                          <a:solidFill>
                            <a:schemeClr val="tx1"/>
                          </a:solidFill>
                        </a:rPr>
                        <a:t>Noisy watch items erode trust</a:t>
                      </a:r>
                      <a:endParaRPr lang="en-US" sz="13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Only cross-domain, topology-linked items rise to medium; SRE "not relevant" feedback tunes rules</a:t>
                      </a:r>
                      <a:endParaRPr lang="en-US" sz="13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r h="658368">
                <a:tc>
                  <a:txBody>
                    <a:bodyPr/>
                    <a:lstStyle/>
                    <a:p>
                      <a:pPr indent="0" marL="0">
                        <a:buNone/>
                      </a:pPr>
                      <a:r>
                        <a:rPr lang="en-US" sz="1300" b="1" dirty="0">
                          <a:solidFill>
                            <a:schemeClr val="tx1"/>
                          </a:solidFill>
                        </a:rPr>
                        <a:t>Probes add load or risk on devices</a:t>
                      </a:r>
                      <a:endParaRPr lang="en-US" sz="13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Reuse first; show-only allowlist; probe cap per investigation; rate limit per device; audit log</a:t>
                      </a:r>
                      <a:endParaRPr lang="en-US" sz="13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r h="658368">
                <a:tc>
                  <a:txBody>
                    <a:bodyPr/>
                    <a:lstStyle/>
                    <a:p>
                      <a:pPr indent="0" marL="0">
                        <a:buNone/>
                      </a:pPr>
                      <a:r>
                        <a:rPr lang="en-US" sz="1300" b="1" dirty="0">
                          <a:solidFill>
                            <a:schemeClr val="tx1"/>
                          </a:solidFill>
                        </a:rPr>
                        <a:t>Splunk or SolarWinds lack a needed signal</a:t>
                      </a:r>
                      <a:endParaRPr lang="en-US" sz="13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Sources map shows the gap; add it to the existing tool rather than a new collector where possible</a:t>
                      </a:r>
                      <a:endParaRPr lang="en-US" sz="13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r h="658368">
                <a:tc>
                  <a:txBody>
                    <a:bodyPr/>
                    <a:lstStyle/>
                    <a:p>
                      <a:pPr indent="0" marL="0">
                        <a:buNone/>
                      </a:pPr>
                      <a:r>
                        <a:rPr lang="en-US" sz="1300" b="1" dirty="0">
                          <a:solidFill>
                            <a:schemeClr val="tx1"/>
                          </a:solidFill>
                        </a:rPr>
                        <a:t>On-prem Gemma not competent enough</a:t>
                      </a:r>
                      <a:endParaRPr lang="en-US" sz="13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Narrow jobs, few-shot, schemas; demo works with the model off; eval measures it</a:t>
                      </a:r>
                      <a:endParaRPr lang="en-US" sz="13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r h="658368">
                <a:tc>
                  <a:txBody>
                    <a:bodyPr/>
                    <a:lstStyle/>
                    <a:p>
                      <a:pPr indent="0" marL="0">
                        <a:buNone/>
                      </a:pPr>
                      <a:r>
                        <a:rPr lang="en-US" sz="1300" b="1" dirty="0">
                          <a:solidFill>
                            <a:schemeClr val="tx1"/>
                          </a:solidFill>
                        </a:rPr>
                        <a:t>Agent credentials widen attack surface</a:t>
                      </a:r>
                      <a:endParaRPr lang="en-US" sz="13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Read-only scoped accounts in a vault; RBAC get/list/watch; security review before pilot</a:t>
                      </a:r>
                      <a:endParaRPr lang="en-US" sz="1300" dirty="0"/>
                    </a:p>
                  </a:txBody>
                  <a:tcPr marL="91440" marR="91440" marT="91440" marB="91440" anchor="ctr">
                    <a:lnL w="9525" cap="flat" cmpd="sng" algn="ctr">
                      <a:solidFill>
                        <a:srgbClr val="CFE3EA"/>
                      </a:solidFill>
                      <a:prstDash val="solid"/>
                      <a:round/>
                      <a:headEnd type="none" w="med" len="med"/>
                      <a:tailEnd type="none" w="med" len="med"/>
                    </a:lnL>
                    <a:lnR w="9525" cap="flat" cmpd="sng" algn="ctr">
                      <a:solidFill>
                        <a:srgbClr val="CFE3EA"/>
                      </a:solidFill>
                      <a:prstDash val="solid"/>
                      <a:round/>
                      <a:headEnd type="none" w="med" len="med"/>
                      <a:tailEnd type="none" w="med" len="med"/>
                    </a:lnR>
                    <a:lnT w="9525" cap="flat" cmpd="sng" algn="ctr">
                      <a:solidFill>
                        <a:srgbClr val="CFE3EA"/>
                      </a:solidFill>
                      <a:prstDash val="solid"/>
                      <a:round/>
                      <a:headEnd type="none" w="med" len="med"/>
                      <a:tailEnd type="none" w="med" len="med"/>
                    </a:lnT>
                    <a:lnB w="9525" cap="flat" cmpd="sng" algn="ctr">
                      <a:solidFill>
                        <a:srgbClr val="CFE3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10698480" cy="1005840"/>
          </a:xfrm>
          <a:prstGeom prst="rect">
            <a:avLst/>
          </a:prstGeom>
          <a:noFill/>
          <a:ln/>
        </p:spPr>
        <p:txBody>
          <a:bodyPr wrap="square" lIns="0" tIns="0" rIns="0" bIns="0" rtlCol="0" anchor="ctr"/>
          <a:lstStyle/>
          <a:p>
            <a:pPr algn="l" indent="0" marL="0">
              <a:buNone/>
            </a:pPr>
            <a:r>
              <a:rPr lang="en-US" sz="4000" b="1" dirty="0">
                <a:solidFill>
                  <a:schemeClr val="bg1"/>
                </a:solidFill>
              </a:rPr>
              <a:t>What we know, and what is still open</a:t>
            </a:r>
            <a:endParaRPr lang="en-US" sz="4000" dirty="0"/>
          </a:p>
        </p:txBody>
      </p:sp>
      <p:sp>
        <p:nvSpPr>
          <p:cNvPr id="3" name="Text 1"/>
          <p:cNvSpPr txBox="1"/>
          <p:nvPr/>
        </p:nvSpPr>
        <p:spPr>
          <a:xfrm>
            <a:off x="731520" y="1828800"/>
            <a:ext cx="5120640" cy="365760"/>
          </a:xfrm>
          <a:prstGeom prst="rect">
            <a:avLst/>
          </a:prstGeom>
          <a:noFill/>
          <a:ln/>
        </p:spPr>
        <p:txBody>
          <a:bodyPr wrap="square" lIns="0" tIns="0" rIns="0" bIns="0" rtlCol="0" anchor="t"/>
          <a:lstStyle/>
          <a:p>
            <a:pPr indent="0" marL="0">
              <a:buNone/>
            </a:pPr>
            <a:r>
              <a:rPr lang="en-US" sz="1400" b="1" spc="200" kern="0" dirty="0">
                <a:solidFill>
                  <a:schemeClr val="accent1"/>
                </a:solidFill>
              </a:rPr>
              <a:t>CONFIRMED</a:t>
            </a:r>
            <a:endParaRPr lang="en-US" sz="1400" dirty="0"/>
          </a:p>
        </p:txBody>
      </p:sp>
      <p:sp>
        <p:nvSpPr>
          <p:cNvPr id="4" name="Text 2"/>
          <p:cNvSpPr txBox="1"/>
          <p:nvPr/>
        </p:nvSpPr>
        <p:spPr>
          <a:xfrm>
            <a:off x="731520" y="2286000"/>
            <a:ext cx="5120640" cy="3931920"/>
          </a:xfrm>
          <a:prstGeom prst="rect">
            <a:avLst/>
          </a:prstGeom>
          <a:noFill/>
          <a:ln/>
        </p:spPr>
        <p:txBody>
          <a:bodyPr wrap="square" lIns="0" tIns="0" rIns="0" bIns="0" rtlCol="0" anchor="t"/>
          <a:lstStyle/>
          <a:p>
            <a:pPr marL="342900" indent="-342900">
              <a:spcAft>
                <a:spcPts val="1100"/>
              </a:spcAft>
              <a:buSzPct val="100000"/>
              <a:buChar char="•"/>
            </a:pPr>
            <a:r>
              <a:rPr lang="en-US" sz="1800" dirty="0">
                <a:solidFill>
                  <a:schemeClr val="bg1"/>
                </a:solidFill>
              </a:rPr>
              <a:t>Copilot above SolarWinds and Splunk, Cisco + OpenShift first</a:t>
            </a:r>
            <a:endParaRPr lang="en-US" sz="1800" dirty="0"/>
          </a:p>
          <a:p>
            <a:pPr marL="342900" indent="-342900">
              <a:spcAft>
                <a:spcPts val="1100"/>
              </a:spcAft>
              <a:buSzPct val="100000"/>
              <a:buChar char="•"/>
            </a:pPr>
            <a:r>
              <a:rPr lang="en-US" sz="1800" dirty="0">
                <a:solidFill>
                  <a:schemeClr val="bg1"/>
                </a:solidFill>
              </a:rPr>
              <a:t>OpenShift events go into Splunk</a:t>
            </a:r>
            <a:endParaRPr lang="en-US" sz="1800" dirty="0"/>
          </a:p>
          <a:p>
            <a:pPr marL="342900" indent="-342900">
              <a:spcAft>
                <a:spcPts val="1100"/>
              </a:spcAft>
              <a:buSzPct val="100000"/>
              <a:buChar char="•"/>
            </a:pPr>
            <a:r>
              <a:rPr lang="en-US" sz="1800" dirty="0">
                <a:solidFill>
                  <a:schemeClr val="bg1"/>
                </a:solidFill>
              </a:rPr>
              <a:t>On-prem Gemma (~40B) is available</a:t>
            </a:r>
            <a:endParaRPr lang="en-US" sz="1800" dirty="0"/>
          </a:p>
          <a:p>
            <a:pPr marL="342900" indent="-342900">
              <a:spcAft>
                <a:spcPts val="1100"/>
              </a:spcAft>
              <a:buSzPct val="100000"/>
              <a:buChar char="•"/>
            </a:pPr>
            <a:r>
              <a:rPr lang="en-US" sz="1800" dirty="0">
                <a:solidFill>
                  <a:schemeClr val="bg1"/>
                </a:solidFill>
              </a:rPr>
              <a:t>Read-only access; no remediation</a:t>
            </a:r>
            <a:endParaRPr lang="en-US" sz="1800" dirty="0"/>
          </a:p>
          <a:p>
            <a:pPr marL="342900" indent="-342900">
              <a:spcAft>
                <a:spcPts val="1100"/>
              </a:spcAft>
              <a:buSzPct val="100000"/>
              <a:buChar char="•"/>
            </a:pPr>
            <a:r>
              <a:rPr lang="en-US" sz="1800" dirty="0">
                <a:solidFill>
                  <a:schemeClr val="bg1"/>
                </a:solidFill>
              </a:rPr>
              <a:t>Reuse Splunk and SolarWinds; do not re-ingest</a:t>
            </a:r>
            <a:endParaRPr lang="en-US" sz="1800" dirty="0"/>
          </a:p>
          <a:p>
            <a:pPr marL="342900" indent="-342900">
              <a:spcAft>
                <a:spcPts val="1100"/>
              </a:spcAft>
              <a:buSzPct val="100000"/>
              <a:buChar char="•"/>
            </a:pPr>
            <a:r>
              <a:rPr lang="en-US" sz="1800" dirty="0">
                <a:solidFill>
                  <a:schemeClr val="bg1"/>
                </a:solidFill>
              </a:rPr>
              <a:t>MacBook Air M2 with 8 GB: lite profile; walkthrough first, live if possible</a:t>
            </a:r>
            <a:endParaRPr lang="en-US" sz="1800" dirty="0"/>
          </a:p>
        </p:txBody>
      </p:sp>
      <p:sp>
        <p:nvSpPr>
          <p:cNvPr id="5" name="Text 3"/>
          <p:cNvSpPr txBox="1"/>
          <p:nvPr/>
        </p:nvSpPr>
        <p:spPr>
          <a:xfrm>
            <a:off x="6400800" y="1828800"/>
            <a:ext cx="512064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STILL OPEN</a:t>
            </a:r>
            <a:endParaRPr lang="en-US" sz="1400" dirty="0"/>
          </a:p>
        </p:txBody>
      </p:sp>
      <p:sp>
        <p:nvSpPr>
          <p:cNvPr id="6" name="Text 4"/>
          <p:cNvSpPr txBox="1"/>
          <p:nvPr/>
        </p:nvSpPr>
        <p:spPr>
          <a:xfrm>
            <a:off x="6400800" y="2286000"/>
            <a:ext cx="5120640" cy="3931920"/>
          </a:xfrm>
          <a:prstGeom prst="rect">
            <a:avLst/>
          </a:prstGeom>
          <a:noFill/>
          <a:ln/>
        </p:spPr>
        <p:txBody>
          <a:bodyPr wrap="square" lIns="0" tIns="0" rIns="0" bIns="0" rtlCol="0" anchor="t"/>
          <a:lstStyle/>
          <a:p>
            <a:pPr marL="342900" indent="-342900">
              <a:spcAft>
                <a:spcPts val="1100"/>
              </a:spcAft>
              <a:buSzPct val="100000"/>
              <a:buChar char="•"/>
            </a:pPr>
            <a:r>
              <a:rPr lang="en-US" sz="1800" dirty="0">
                <a:solidFill>
                  <a:schemeClr val="bg1"/>
                </a:solidFill>
              </a:rPr>
              <a:t>Incident data to confirm the node-flap explanation (event times, switch drops)</a:t>
            </a:r>
            <a:endParaRPr lang="en-US" sz="1800" dirty="0"/>
          </a:p>
          <a:p>
            <a:pPr marL="342900" indent="-342900">
              <a:spcAft>
                <a:spcPts val="1100"/>
              </a:spcAft>
              <a:buSzPct val="100000"/>
              <a:buChar char="•"/>
            </a:pPr>
            <a:r>
              <a:rPr lang="en-US" sz="1800" dirty="0">
                <a:solidFill>
                  <a:schemeClr val="bg1"/>
                </a:solidFill>
              </a:rPr>
              <a:t>Do kubelet and control-plane logs reach Splunk too? (assumed)</a:t>
            </a:r>
            <a:endParaRPr lang="en-US" sz="1800" dirty="0"/>
          </a:p>
          <a:p>
            <a:pPr marL="342900" indent="-342900">
              <a:spcAft>
                <a:spcPts val="1100"/>
              </a:spcAft>
              <a:buSzPct val="100000"/>
              <a:buChar char="•"/>
            </a:pPr>
            <a:r>
              <a:rPr lang="en-US" sz="1800" dirty="0">
                <a:solidFill>
                  <a:schemeClr val="bg1"/>
                </a:solidFill>
              </a:rPr>
              <a:t>Which switch metrics SolarWinds polls (discards, errors)</a:t>
            </a:r>
            <a:endParaRPr lang="en-US" sz="1800" dirty="0"/>
          </a:p>
          <a:p>
            <a:pPr marL="342900" indent="-342900">
              <a:spcAft>
                <a:spcPts val="1100"/>
              </a:spcAft>
              <a:buSzPct val="100000"/>
              <a:buChar char="•"/>
            </a:pPr>
            <a:r>
              <a:rPr lang="en-US" sz="1800" dirty="0">
                <a:solidFill>
                  <a:schemeClr val="bg1"/>
                </a:solidFill>
              </a:rPr>
              <a:t>Gemma's serving API and context window</a:t>
            </a:r>
            <a:endParaRPr lang="en-US" sz="1800" dirty="0"/>
          </a:p>
        </p:txBody>
      </p:sp>
      <p:sp>
        <p:nvSpPr>
          <p:cNvPr id="8" name="Text 0"/>
          <p:cNvSpPr/>
          <p:nvPr>
            <p:ph idx="101" type="body" hasCustomPrompt="1"/>
          </p:nvPr>
        </p:nvSpPr>
        <p:spPr>
          <a:xfrm>
            <a:off x="731520" y="1920240"/>
            <a:ext cx="10698480" cy="4206240"/>
          </a:xfrm>
          <a:prstGeom prst="rect">
            <a:avLst/>
          </a:prstGeom>
          <a:noFill/>
          <a:ln/>
        </p:spPr>
        <p:txBody>
          <a:bodyPr wrap="square" lIns="0" tIns="0" rIns="0" bIns="0" rtlCol="0" anchor="t"/>
          <a:lstStyle/>
          <a:p>
            <a:pPr indent="0" marL="0">
              <a:buNone/>
            </a:pPr>
            <a:endParaRPr lang="en-US" sz="2200" dirty="0"/>
          </a:p>
        </p:txBody>
      </p:sp>
    </p:spTree>
  </p:cSld>
  <p:clrMapOvr>
    <a:masterClrMapping/>
  </p:clrMapOvr>
</p:sld>
</file>

<file path=ppt/theme/theme1.xml><?xml version="1.0" encoding="utf-8"?>
<a:theme xmlns:a="http://schemas.openxmlformats.org/drawingml/2006/main" name="WatchTower">
  <a:themeElements>
    <a:clrScheme name="WatchTower">
      <a:dk1>
        <a:srgbClr val="12263A"/>
      </a:dk1>
      <a:lt1>
        <a:srgbClr val="FFFFFF"/>
      </a:lt1>
      <a:dk2>
        <a:srgbClr val="5B6B7A"/>
      </a:dk2>
      <a:lt2>
        <a:srgbClr val="EEF3F6"/>
      </a:lt2>
      <a:accent1>
        <a:srgbClr val="0E9F8E"/>
      </a:accent1>
      <a:accent2>
        <a:srgbClr val="E89B2C"/>
      </a:accent2>
      <a:accent3>
        <a:srgbClr val="D9534F"/>
      </a:accent3>
      <a:accent4>
        <a:srgbClr val="1F4E6B"/>
      </a:accent4>
      <a:accent5>
        <a:srgbClr val="CFE3EA"/>
      </a:accent5>
      <a:accent6>
        <a:srgbClr val="E6FFFB"/>
      </a:accent6>
      <a:hlink>
        <a:srgbClr val="0E9F8E"/>
      </a:hlink>
      <a:folHlink>
        <a:srgbClr val="5B6B7A"/>
      </a:folHlink>
    </a:clrScheme>
    <a:fontScheme name="WatchTow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WatchTower: an AI operations copilot</dc:title>
  <dc:subject>PptxGenJS Presentation</dc:subject>
  <dc:creator>YH</dc:creator>
  <cp:lastModifiedBy>YH</cp:lastModifiedBy>
  <cp:revision>1</cp:revision>
  <dcterms:created xsi:type="dcterms:W3CDTF">2026-10-10T09:26:42Z</dcterms:created>
  <dcterms:modified xsi:type="dcterms:W3CDTF">2026-10-10T09:26:42Z</dcterms:modified>
</cp:coreProperties>
</file>