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WatchTower is an AI copilot for the people who watch our monitoring tools. It sits above SolarWinds and Splunk, investigates when something looks wrong, and tells the SRE the likely cause, the evidence and what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incident: an OpenShift master's calls to the kubernetes service timed out, probably because of a network bottleneck, and the node briefly dropped out and came back without rebooting. Each clue lived in a different tool, and none crossed an alarm threshold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Monitoring stays deterministic: thresholds, baselines and basic correlation are plain code. The AI does what people do today: forms hypotheses, reads the evidence, explains it and suggests next steps. Scope is Cisco and OpenShift only for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screenshots from the prototype. It runs on an 8 GB MacBook Air against stand-ins: a small Kubernetes cluster for OpenShift, a simulated Cisco switch, and Splunk and SolarWinds stand-ins with the real API shapes. The agents, playbooks and Copilot are real code. One injected fault shows both modes: the watch item appears while the tools are quiet, then the node flaps and the investigation explains it. It recovered without a reboot, which matches the real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is framed as expected benefits: the prototype runs against stand-ins, so real time savings are for the pilot to measure. From the prototype's eval on recorded runs: the rules ranked the right cause in all 7 cases; gemma3:4b cited evidence correctly 86% of the time and gemma3:1b 57%, which is why the model only words, suggests and explains. The pilot is where we would measure time to first diagnosis and how often the top cause is right. Remediation stays out of scope; WatchTower stops at recommending.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ITCH">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Shape 0"/>
          <p:cNvSpPr/>
          <p:nvPr/>
        </p:nvSpPr>
        <p:spPr>
          <a:xfrm>
            <a:off x="548640" y="1207008"/>
            <a:ext cx="822960" cy="54864"/>
          </a:xfrm>
          <a:prstGeom prst="rect">
            <a:avLst/>
          </a:prstGeom>
          <a:solidFill>
            <a:schemeClr val="accent1"/>
          </a:solidFill>
          <a:ln w="12700">
            <a:solidFill>
              <a:schemeClr val="accent1"/>
            </a:solidFill>
            <a:prstDash val="solid"/>
          </a:ln>
        </p:spPr>
      </p:sp>
      <p:sp>
        <p:nvSpPr>
          <p:cNvPr id="4"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WatchTower  ·  AI Builder's Day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ITCH_TITL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ICI AI BUILDER'S DAY</a:t>
            </a:r>
            <a:endParaRPr lang="en-US" sz="1200" dirty="0"/>
          </a:p>
        </p:txBody>
      </p:sp>
      <p:sp>
        <p:nvSpPr>
          <p:cNvPr id="3" name="Text 1"/>
          <p:cNvSpPr txBox="1"/>
          <p:nvPr/>
        </p:nvSpPr>
        <p:spPr>
          <a:xfrm>
            <a:off x="548640" y="1600200"/>
            <a:ext cx="6766560" cy="1097280"/>
          </a:xfrm>
          <a:prstGeom prst="rect">
            <a:avLst/>
          </a:prstGeom>
          <a:noFill/>
          <a:ln/>
        </p:spPr>
        <p:txBody>
          <a:bodyPr wrap="square" lIns="0" tIns="0" rIns="0" bIns="0" rtlCol="0" anchor="t"/>
          <a:lstStyle/>
          <a:p>
            <a:pPr indent="0" marL="0">
              <a:buNone/>
            </a:pPr>
            <a:r>
              <a:rPr lang="en-US" sz="6000" b="1" dirty="0">
                <a:solidFill>
                  <a:schemeClr val="bg1"/>
                </a:solidFill>
                <a:latin typeface="Arial" pitchFamily="34" charset="0"/>
                <a:ea typeface="Arial" pitchFamily="34" charset="-122"/>
                <a:cs typeface="Arial" pitchFamily="34" charset="-120"/>
              </a:rPr>
              <a:t>WatchTower</a:t>
            </a:r>
            <a:endParaRPr lang="en-US" sz="6000" dirty="0"/>
          </a:p>
        </p:txBody>
      </p:sp>
      <p:sp>
        <p:nvSpPr>
          <p:cNvPr id="4" name="Shape 2"/>
          <p:cNvSpPr/>
          <p:nvPr/>
        </p:nvSpPr>
        <p:spPr>
          <a:xfrm>
            <a:off x="548640" y="2788920"/>
            <a:ext cx="822960" cy="54864"/>
          </a:xfrm>
          <a:prstGeom prst="rect">
            <a:avLst/>
          </a:prstGeom>
          <a:solidFill>
            <a:schemeClr val="accent1"/>
          </a:solidFill>
          <a:ln w="12700">
            <a:solidFill>
              <a:schemeClr val="accent1"/>
            </a:solidFill>
            <a:prstDash val="solid"/>
          </a:ln>
        </p:spPr>
      </p:sp>
      <p:sp>
        <p:nvSpPr>
          <p:cNvPr id="5" name="Text 3"/>
          <p:cNvSpPr txBox="1"/>
          <p:nvPr/>
        </p:nvSpPr>
        <p:spPr>
          <a:xfrm>
            <a:off x="548640" y="3063240"/>
            <a:ext cx="6583680" cy="1280160"/>
          </a:xfrm>
          <a:prstGeom prst="rect">
            <a:avLst/>
          </a:prstGeom>
          <a:noFill/>
          <a:ln/>
        </p:spPr>
        <p:txBody>
          <a:bodyPr wrap="square" lIns="0" tIns="0" rIns="0" bIns="0" rtlCol="0" anchor="t"/>
          <a:lstStyle/>
          <a:p>
            <a:pPr indent="0" marL="0">
              <a:buNone/>
            </a:pPr>
            <a:r>
              <a:rPr lang="en-US" sz="2200" dirty="0">
                <a:solidFill>
                  <a:schemeClr val="bg1"/>
                </a:solidFill>
                <a:latin typeface="Calibri" pitchFamily="34" charset="0"/>
                <a:ea typeface="Calibri" pitchFamily="34" charset="-122"/>
                <a:cs typeface="Calibri" pitchFamily="34" charset="-120"/>
              </a:rPr>
              <a:t>An AI operations copilot that helps the 24/7 monitoring team spot, explain and escalate network and OpenShift issues faster.</a:t>
            </a:r>
            <a:endParaRPr lang="en-US" sz="2200" dirty="0"/>
          </a:p>
        </p:txBody>
      </p:sp>
      <p:sp>
        <p:nvSpPr>
          <p:cNvPr id="6" name="Text 4"/>
          <p:cNvSpPr txBox="1"/>
          <p:nvPr/>
        </p:nvSpPr>
        <p:spPr>
          <a:xfrm>
            <a:off x="548640" y="4892040"/>
            <a:ext cx="1828800" cy="274320"/>
          </a:xfrm>
          <a:prstGeom prst="rect">
            <a:avLst/>
          </a:prstGeom>
          <a:noFill/>
          <a:ln/>
        </p:spPr>
        <p:txBody>
          <a:bodyPr wrap="square" lIns="0" tIns="0" rIns="0" bIns="0" rtlCol="0" anchor="t"/>
          <a:lstStyle/>
          <a:p>
            <a:pPr indent="0" marL="0">
              <a:buNone/>
            </a:pPr>
            <a:r>
              <a:rPr lang="en-US" sz="1200" b="1" spc="200" kern="0" dirty="0">
                <a:solidFill>
                  <a:schemeClr val="tx2"/>
                </a:solidFill>
                <a:latin typeface="Calibri" pitchFamily="34" charset="0"/>
                <a:ea typeface="Calibri" pitchFamily="34" charset="-122"/>
                <a:cs typeface="Calibri" pitchFamily="34" charset="-120"/>
              </a:rPr>
              <a:t>TEAM</a:t>
            </a:r>
            <a:endParaRPr lang="en-US" sz="1200" dirty="0"/>
          </a:p>
        </p:txBody>
      </p:sp>
      <p:sp>
        <p:nvSpPr>
          <p:cNvPr id="7" name="Text 5"/>
          <p:cNvSpPr txBox="1"/>
          <p:nvPr/>
        </p:nvSpPr>
        <p:spPr>
          <a:xfrm>
            <a:off x="548640" y="5212080"/>
            <a:ext cx="6949440" cy="457200"/>
          </a:xfrm>
          <a:prstGeom prst="rect">
            <a:avLst/>
          </a:prstGeom>
          <a:noFill/>
          <a:ln/>
        </p:spPr>
        <p:txBody>
          <a:bodyPr wrap="square" lIns="0" tIns="0" rIns="0" bIns="0" rtlCol="0" anchor="t"/>
          <a:lstStyle/>
          <a:p>
            <a:pPr indent="0" marL="0">
              <a:buNone/>
            </a:pPr>
            <a:r>
              <a:rPr lang="en-US" sz="1800" dirty="0">
                <a:solidFill>
                  <a:schemeClr val="bg1"/>
                </a:solidFill>
                <a:latin typeface="Calibri" pitchFamily="34" charset="0"/>
                <a:ea typeface="Calibri" pitchFamily="34" charset="-122"/>
                <a:cs typeface="Calibri" pitchFamily="34" charset="-120"/>
              </a:rPr>
              <a:t>Dyne LAI  ·  CHAN Lip Ann  ·  Marcus LIAU  ·  Harry LEE  ·  WONG Yi Hao</a:t>
            </a:r>
            <a:endParaRPr lang="en-US" sz="1800" dirty="0"/>
          </a:p>
        </p:txBody>
      </p:sp>
      <p:sp>
        <p:nvSpPr>
          <p:cNvPr id="8" name="hero0"/>
          <p:cNvSpPr/>
          <p:nvPr/>
        </p:nvSpPr>
        <p:spPr>
          <a:xfrm>
            <a:off x="7863840" y="1325880"/>
            <a:ext cx="3749040" cy="1143000"/>
          </a:xfrm>
          <a:prstGeom prst="roundRect">
            <a:avLst>
              <a:gd name="adj" fmla="val 8000"/>
            </a:avLst>
          </a:prstGeom>
          <a:solidFill>
            <a:schemeClr val="bg2"/>
          </a:solidFill>
          <a:ln w="15875">
            <a:solidFill>
              <a:schemeClr val="accent3"/>
            </a:solidFill>
            <a:prstDash val="solid"/>
          </a:ln>
        </p:spPr>
      </p:sp>
      <p:sp>
        <p:nvSpPr>
          <p:cNvPr id="9" name="Text 7"/>
          <p:cNvSpPr txBox="1"/>
          <p:nvPr/>
        </p:nvSpPr>
        <p:spPr>
          <a:xfrm>
            <a:off x="8092440" y="1508760"/>
            <a:ext cx="3291840" cy="41148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SolarWinds + Splunk</a:t>
            </a:r>
            <a:endParaRPr lang="en-US" sz="1900" dirty="0"/>
          </a:p>
        </p:txBody>
      </p:sp>
      <p:sp>
        <p:nvSpPr>
          <p:cNvPr id="10" name="Text 8"/>
          <p:cNvSpPr txBox="1"/>
          <p:nvPr/>
        </p:nvSpPr>
        <p:spPr>
          <a:xfrm>
            <a:off x="8092440" y="1947672"/>
            <a:ext cx="329184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keep observing</a:t>
            </a:r>
            <a:endParaRPr lang="en-US" sz="1400" dirty="0"/>
          </a:p>
        </p:txBody>
      </p:sp>
      <p:sp>
        <p:nvSpPr>
          <p:cNvPr id="11" name="Shape 9"/>
          <p:cNvSpPr/>
          <p:nvPr/>
        </p:nvSpPr>
        <p:spPr>
          <a:xfrm>
            <a:off x="9738360" y="2487168"/>
            <a:ext cx="0" cy="420624"/>
          </a:xfrm>
          <a:prstGeom prst="line">
            <a:avLst/>
          </a:prstGeom>
          <a:noFill/>
          <a:ln w="25400">
            <a:solidFill>
              <a:schemeClr val="accent1"/>
            </a:solidFill>
            <a:prstDash val="solid"/>
            <a:tailEnd type="triangle"/>
          </a:ln>
        </p:spPr>
      </p:sp>
      <p:sp>
        <p:nvSpPr>
          <p:cNvPr id="12" name="hero1"/>
          <p:cNvSpPr/>
          <p:nvPr/>
        </p:nvSpPr>
        <p:spPr>
          <a:xfrm>
            <a:off x="7863840" y="2926080"/>
            <a:ext cx="3749040" cy="1143000"/>
          </a:xfrm>
          <a:prstGeom prst="roundRect">
            <a:avLst>
              <a:gd name="adj" fmla="val 8000"/>
            </a:avLst>
          </a:prstGeom>
          <a:solidFill>
            <a:schemeClr val="accent1"/>
          </a:solidFill>
          <a:ln w="12700">
            <a:solidFill>
              <a:schemeClr val="accent1"/>
            </a:solidFill>
            <a:prstDash val="solid"/>
          </a:ln>
        </p:spPr>
      </p:sp>
      <p:sp>
        <p:nvSpPr>
          <p:cNvPr id="13" name="Text 11"/>
          <p:cNvSpPr txBox="1"/>
          <p:nvPr/>
        </p:nvSpPr>
        <p:spPr>
          <a:xfrm>
            <a:off x="8092440" y="3108960"/>
            <a:ext cx="3291840" cy="411480"/>
          </a:xfrm>
          <a:prstGeom prst="rect">
            <a:avLst/>
          </a:prstGeom>
          <a:noFill/>
          <a:ln/>
        </p:spPr>
        <p:txBody>
          <a:bodyPr wrap="square" lIns="0" tIns="0" rIns="0" bIns="0" rtlCol="0" anchor="t"/>
          <a:lstStyle/>
          <a:p>
            <a:pPr indent="0" marL="0">
              <a:buNone/>
            </a:pPr>
            <a:r>
              <a:rPr lang="en-US" sz="1900" b="1" dirty="0">
                <a:solidFill>
                  <a:schemeClr val="tx1"/>
                </a:solidFill>
                <a:latin typeface="Arial" pitchFamily="34" charset="0"/>
                <a:ea typeface="Arial" pitchFamily="34" charset="-122"/>
                <a:cs typeface="Arial" pitchFamily="34" charset="-120"/>
              </a:rPr>
              <a:t>WatchTower agents</a:t>
            </a:r>
            <a:endParaRPr lang="en-US" sz="1900" dirty="0"/>
          </a:p>
        </p:txBody>
      </p:sp>
      <p:sp>
        <p:nvSpPr>
          <p:cNvPr id="14" name="Text 12"/>
          <p:cNvSpPr txBox="1"/>
          <p:nvPr/>
        </p:nvSpPr>
        <p:spPr>
          <a:xfrm>
            <a:off x="8092440" y="3547872"/>
            <a:ext cx="3291840" cy="36576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investigate and connect the dots</a:t>
            </a:r>
            <a:endParaRPr lang="en-US" sz="1400" dirty="0"/>
          </a:p>
        </p:txBody>
      </p:sp>
      <p:sp>
        <p:nvSpPr>
          <p:cNvPr id="15" name="Shape 13"/>
          <p:cNvSpPr/>
          <p:nvPr/>
        </p:nvSpPr>
        <p:spPr>
          <a:xfrm>
            <a:off x="9738360" y="4087368"/>
            <a:ext cx="0" cy="420624"/>
          </a:xfrm>
          <a:prstGeom prst="line">
            <a:avLst/>
          </a:prstGeom>
          <a:noFill/>
          <a:ln w="25400">
            <a:solidFill>
              <a:schemeClr val="accent1"/>
            </a:solidFill>
            <a:prstDash val="solid"/>
            <a:tailEnd type="triangle"/>
          </a:ln>
        </p:spPr>
      </p:sp>
      <p:sp>
        <p:nvSpPr>
          <p:cNvPr id="16" name="hero2"/>
          <p:cNvSpPr/>
          <p:nvPr/>
        </p:nvSpPr>
        <p:spPr>
          <a:xfrm>
            <a:off x="7863840" y="4526280"/>
            <a:ext cx="3749040" cy="1143000"/>
          </a:xfrm>
          <a:prstGeom prst="roundRect">
            <a:avLst>
              <a:gd name="adj" fmla="val 8000"/>
            </a:avLst>
          </a:prstGeom>
          <a:solidFill>
            <a:schemeClr val="bg2"/>
          </a:solidFill>
          <a:ln w="15875">
            <a:solidFill>
              <a:schemeClr val="accent3"/>
            </a:solidFill>
            <a:prstDash val="solid"/>
          </a:ln>
        </p:spPr>
      </p:sp>
      <p:sp>
        <p:nvSpPr>
          <p:cNvPr id="17" name="Text 15"/>
          <p:cNvSpPr txBox="1"/>
          <p:nvPr/>
        </p:nvSpPr>
        <p:spPr>
          <a:xfrm>
            <a:off x="8092440" y="4709160"/>
            <a:ext cx="3291840" cy="411480"/>
          </a:xfrm>
          <a:prstGeom prst="rect">
            <a:avLst/>
          </a:prstGeom>
          <a:noFill/>
          <a:ln/>
        </p:spPr>
        <p:txBody>
          <a:bodyPr wrap="square" lIns="0" tIns="0" rIns="0" bIns="0" rtlCol="0" anchor="t"/>
          <a:lstStyle/>
          <a:p>
            <a:pPr indent="0" marL="0">
              <a:buNone/>
            </a:pPr>
            <a:r>
              <a:rPr lang="en-US" sz="1900" b="1" dirty="0">
                <a:solidFill>
                  <a:schemeClr val="bg1"/>
                </a:solidFill>
                <a:latin typeface="Arial" pitchFamily="34" charset="0"/>
                <a:ea typeface="Arial" pitchFamily="34" charset="-122"/>
                <a:cs typeface="Arial" pitchFamily="34" charset="-120"/>
              </a:rPr>
              <a:t>24/7 SRE</a:t>
            </a:r>
            <a:endParaRPr lang="en-US" sz="1900" dirty="0"/>
          </a:p>
        </p:txBody>
      </p:sp>
      <p:sp>
        <p:nvSpPr>
          <p:cNvPr id="18" name="Text 16"/>
          <p:cNvSpPr txBox="1"/>
          <p:nvPr/>
        </p:nvSpPr>
        <p:spPr>
          <a:xfrm>
            <a:off x="8092440" y="5148072"/>
            <a:ext cx="329184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gets cause, evidence, next steps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bg1"/>
                </a:solidFill>
              </a:rPr>
              <a:t>The problem: people connect the dots by hand</a:t>
            </a:r>
            <a:endParaRPr lang="en-US" sz="3200" dirty="0"/>
          </a:p>
        </p:txBody>
      </p:sp>
      <p:sp>
        <p:nvSpPr>
          <p:cNvPr id="3" name="Text 1"/>
          <p:cNvSpPr txBox="1"/>
          <p:nvPr/>
        </p:nvSpPr>
        <p:spPr>
          <a:xfrm>
            <a:off x="548640" y="1508760"/>
            <a:ext cx="5212080" cy="914400"/>
          </a:xfrm>
          <a:prstGeom prst="rect">
            <a:avLst/>
          </a:prstGeom>
          <a:noFill/>
          <a:ln/>
        </p:spPr>
        <p:txBody>
          <a:bodyPr wrap="square" lIns="0" tIns="0" rIns="0" bIns="0" rtlCol="0" anchor="t"/>
          <a:lstStyle/>
          <a:p>
            <a:pPr indent="0" marL="0">
              <a:buNone/>
            </a:pPr>
            <a:r>
              <a:rPr lang="en-US" sz="2000" b="1" dirty="0">
                <a:solidFill>
                  <a:schemeClr val="bg1"/>
                </a:solidFill>
                <a:latin typeface="Calibri" pitchFamily="34" charset="0"/>
                <a:ea typeface="Calibri" pitchFamily="34" charset="-122"/>
                <a:cs typeface="Calibri" pitchFamily="34" charset="-120"/>
              </a:rPr>
              <a:t>When something goes wrong, the 24/7 team pulls evidence from several consoles and joins it up by hand.</a:t>
            </a:r>
            <a:endParaRPr lang="en-US" sz="2000" dirty="0"/>
          </a:p>
        </p:txBody>
      </p:sp>
      <p:sp>
        <p:nvSpPr>
          <p:cNvPr id="4" name="Text 2"/>
          <p:cNvSpPr txBox="1"/>
          <p:nvPr/>
        </p:nvSpPr>
        <p:spPr>
          <a:xfrm>
            <a:off x="548640" y="2743200"/>
            <a:ext cx="1280160" cy="32004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WHO</a:t>
            </a:r>
            <a:endParaRPr lang="en-US" sz="1200" dirty="0"/>
          </a:p>
        </p:txBody>
      </p:sp>
      <p:sp>
        <p:nvSpPr>
          <p:cNvPr id="5" name="Text 3"/>
          <p:cNvSpPr txBox="1"/>
          <p:nvPr/>
        </p:nvSpPr>
        <p:spPr>
          <a:xfrm>
            <a:off x="1828800" y="2706624"/>
            <a:ext cx="3931920" cy="82296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24/7 monitoring team and on-call SREs for Cisco switching and Red Hat OpenShift</a:t>
            </a:r>
            <a:endParaRPr lang="en-US" sz="1500" dirty="0"/>
          </a:p>
        </p:txBody>
      </p:sp>
      <p:sp>
        <p:nvSpPr>
          <p:cNvPr id="6" name="Text 4"/>
          <p:cNvSpPr txBox="1"/>
          <p:nvPr/>
        </p:nvSpPr>
        <p:spPr>
          <a:xfrm>
            <a:off x="548640" y="3611880"/>
            <a:ext cx="1280160" cy="32004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IMPACT</a:t>
            </a:r>
            <a:endParaRPr lang="en-US" sz="1200" dirty="0"/>
          </a:p>
        </p:txBody>
      </p:sp>
      <p:sp>
        <p:nvSpPr>
          <p:cNvPr id="7" name="Text 5"/>
          <p:cNvSpPr txBox="1"/>
          <p:nvPr/>
        </p:nvSpPr>
        <p:spPr>
          <a:xfrm>
            <a:off x="1828800" y="3575304"/>
            <a:ext cx="3931920" cy="82296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Weak signals across domains stay below thresholds; diagnosis is slow, manual and depends on who is on shift</a:t>
            </a:r>
            <a:endParaRPr lang="en-US" sz="1500" dirty="0"/>
          </a:p>
        </p:txBody>
      </p:sp>
      <p:sp>
        <p:nvSpPr>
          <p:cNvPr id="8" name="Text 6"/>
          <p:cNvSpPr txBox="1"/>
          <p:nvPr/>
        </p:nvSpPr>
        <p:spPr>
          <a:xfrm>
            <a:off x="548640" y="4480560"/>
            <a:ext cx="1280160" cy="32004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REAL CASE</a:t>
            </a:r>
            <a:endParaRPr lang="en-US" sz="1200" dirty="0"/>
          </a:p>
        </p:txBody>
      </p:sp>
      <p:sp>
        <p:nvSpPr>
          <p:cNvPr id="9" name="Text 7"/>
          <p:cNvSpPr txBox="1"/>
          <p:nvPr/>
        </p:nvSpPr>
        <p:spPr>
          <a:xfrm>
            <a:off x="1828800" y="4443984"/>
            <a:ext cx="3931920" cy="82296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An OpenShift master's API calls timed out over a congested network path; the node dropped out and came back</a:t>
            </a:r>
            <a:endParaRPr lang="en-US" sz="1500" dirty="0"/>
          </a:p>
        </p:txBody>
      </p:sp>
      <p:sp>
        <p:nvSpPr>
          <p:cNvPr id="10" name="Text 8"/>
          <p:cNvSpPr txBox="1"/>
          <p:nvPr/>
        </p:nvSpPr>
        <p:spPr>
          <a:xfrm>
            <a:off x="548640" y="5349240"/>
            <a:ext cx="1280160" cy="320040"/>
          </a:xfrm>
          <a:prstGeom prst="rect">
            <a:avLst/>
          </a:prstGeom>
          <a:noFill/>
          <a:ln/>
        </p:spPr>
        <p:txBody>
          <a:bodyPr wrap="square" lIns="0" tIns="0" rIns="0" bIns="0" rtlCol="0" anchor="t"/>
          <a:lstStyle/>
          <a:p>
            <a:pPr indent="0" marL="0">
              <a:buNone/>
            </a:pPr>
            <a:r>
              <a:rPr lang="en-US" sz="1200" b="1" spc="100" kern="0" dirty="0">
                <a:solidFill>
                  <a:schemeClr val="accent1"/>
                </a:solidFill>
                <a:latin typeface="Calibri" pitchFamily="34" charset="0"/>
                <a:ea typeface="Calibri" pitchFamily="34" charset="-122"/>
                <a:cs typeface="Calibri" pitchFamily="34" charset="-120"/>
              </a:rPr>
              <a:t>WHY NOW</a:t>
            </a:r>
            <a:endParaRPr lang="en-US" sz="1200" dirty="0"/>
          </a:p>
        </p:txBody>
      </p:sp>
      <p:sp>
        <p:nvSpPr>
          <p:cNvPr id="11" name="Text 9"/>
          <p:cNvSpPr txBox="1"/>
          <p:nvPr/>
        </p:nvSpPr>
        <p:spPr>
          <a:xfrm>
            <a:off x="1828800" y="5312664"/>
            <a:ext cx="3931920" cy="822960"/>
          </a:xfrm>
          <a:prstGeom prst="rect">
            <a:avLst/>
          </a:prstGeom>
          <a:noFill/>
          <a:ln/>
        </p:spPr>
        <p:txBody>
          <a:bodyPr wrap="square" lIns="0" tIns="0" rIns="0" bIns="0" rtlCol="0" anchor="t"/>
          <a:lstStyle/>
          <a:p>
            <a:pPr indent="0" marL="0">
              <a:buNone/>
            </a:pPr>
            <a:r>
              <a:rPr lang="en-US" sz="1500" dirty="0">
                <a:solidFill>
                  <a:schemeClr val="bg1"/>
                </a:solidFill>
                <a:latin typeface="Calibri" pitchFamily="34" charset="0"/>
                <a:ea typeface="Calibri" pitchFamily="34" charset="-122"/>
                <a:cs typeface="Calibri" pitchFamily="34" charset="-120"/>
              </a:rPr>
              <a:t>GAIA, an on-prem Gemma model, is available inside the air gap, with read-only access to the systems</a:t>
            </a:r>
            <a:endParaRPr lang="en-US" sz="1500" dirty="0"/>
          </a:p>
        </p:txBody>
      </p:sp>
      <p:sp>
        <p:nvSpPr>
          <p:cNvPr id="12" name="scenario"/>
          <p:cNvSpPr/>
          <p:nvPr/>
        </p:nvSpPr>
        <p:spPr>
          <a:xfrm>
            <a:off x="6217920" y="1508760"/>
            <a:ext cx="5394960" cy="4663440"/>
          </a:xfrm>
          <a:prstGeom prst="roundRect">
            <a:avLst>
              <a:gd name="adj" fmla="val 1961"/>
            </a:avLst>
          </a:prstGeom>
          <a:solidFill>
            <a:schemeClr val="bg2"/>
          </a:solidFill>
          <a:ln w="15875">
            <a:solidFill>
              <a:schemeClr val="accent3"/>
            </a:solidFill>
            <a:prstDash val="solid"/>
          </a:ln>
        </p:spPr>
      </p:sp>
      <p:sp>
        <p:nvSpPr>
          <p:cNvPr id="13" name="Text 11"/>
          <p:cNvSpPr txBox="1"/>
          <p:nvPr/>
        </p:nvSpPr>
        <p:spPr>
          <a:xfrm>
            <a:off x="649224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2 A.M., ONE ALARM</a:t>
            </a:r>
            <a:endParaRPr lang="en-US" sz="1200" dirty="0"/>
          </a:p>
        </p:txBody>
      </p:sp>
      <p:sp>
        <p:nvSpPr>
          <p:cNvPr id="14" name="Shape 12"/>
          <p:cNvSpPr/>
          <p:nvPr/>
        </p:nvSpPr>
        <p:spPr>
          <a:xfrm>
            <a:off x="6492240" y="2194560"/>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6492240" y="21945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16" name="Text 14"/>
          <p:cNvSpPr txBox="1"/>
          <p:nvPr/>
        </p:nvSpPr>
        <p:spPr>
          <a:xfrm>
            <a:off x="7086600" y="2167128"/>
            <a:ext cx="42976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Splunk alert: master node NotReady</a:t>
            </a:r>
            <a:endParaRPr lang="en-US" sz="1600" dirty="0"/>
          </a:p>
        </p:txBody>
      </p:sp>
      <p:sp>
        <p:nvSpPr>
          <p:cNvPr id="17" name="Text 15"/>
          <p:cNvSpPr txBox="1"/>
          <p:nvPr/>
        </p:nvSpPr>
        <p:spPr>
          <a:xfrm>
            <a:off x="7086600" y="2523744"/>
            <a:ext cx="4297680" cy="3657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Back a minute later. What happened?</a:t>
            </a:r>
            <a:endParaRPr lang="en-US" sz="1350" dirty="0"/>
          </a:p>
        </p:txBody>
      </p:sp>
      <p:sp>
        <p:nvSpPr>
          <p:cNvPr id="18" name="Shape 16"/>
          <p:cNvSpPr/>
          <p:nvPr/>
        </p:nvSpPr>
        <p:spPr>
          <a:xfrm>
            <a:off x="6492240" y="3108960"/>
            <a:ext cx="384048" cy="384048"/>
          </a:xfrm>
          <a:prstGeom prst="ellipse">
            <a:avLst/>
          </a:prstGeom>
          <a:solidFill>
            <a:schemeClr val="accent1"/>
          </a:solidFill>
          <a:ln w="12700">
            <a:solidFill>
              <a:schemeClr val="accent1"/>
            </a:solidFill>
            <a:prstDash val="solid"/>
          </a:ln>
        </p:spPr>
      </p:sp>
      <p:sp>
        <p:nvSpPr>
          <p:cNvPr id="19" name="Text 17"/>
          <p:cNvSpPr txBox="1"/>
          <p:nvPr/>
        </p:nvSpPr>
        <p:spPr>
          <a:xfrm>
            <a:off x="6492240" y="31089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20" name="Text 18"/>
          <p:cNvSpPr txBox="1"/>
          <p:nvPr/>
        </p:nvSpPr>
        <p:spPr>
          <a:xfrm>
            <a:off x="7086600" y="3081528"/>
            <a:ext cx="42976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Check SolarWinds</a:t>
            </a:r>
            <a:endParaRPr lang="en-US" sz="1600" dirty="0"/>
          </a:p>
        </p:txBody>
      </p:sp>
      <p:sp>
        <p:nvSpPr>
          <p:cNvPr id="21" name="Text 19"/>
          <p:cNvSpPr txBox="1"/>
          <p:nvPr/>
        </p:nvSpPr>
        <p:spPr>
          <a:xfrm>
            <a:off x="7086600" y="3438144"/>
            <a:ext cx="4297680" cy="3657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The switch port looks fine: below its alert threshold</a:t>
            </a:r>
            <a:endParaRPr lang="en-US" sz="1350" dirty="0"/>
          </a:p>
        </p:txBody>
      </p:sp>
      <p:sp>
        <p:nvSpPr>
          <p:cNvPr id="22" name="Shape 20"/>
          <p:cNvSpPr/>
          <p:nvPr/>
        </p:nvSpPr>
        <p:spPr>
          <a:xfrm>
            <a:off x="6492240" y="4023360"/>
            <a:ext cx="384048" cy="384048"/>
          </a:xfrm>
          <a:prstGeom prst="ellipse">
            <a:avLst/>
          </a:prstGeom>
          <a:solidFill>
            <a:schemeClr val="accent1"/>
          </a:solidFill>
          <a:ln w="12700">
            <a:solidFill>
              <a:schemeClr val="accent1"/>
            </a:solidFill>
            <a:prstDash val="solid"/>
          </a:ln>
        </p:spPr>
      </p:sp>
      <p:sp>
        <p:nvSpPr>
          <p:cNvPr id="23" name="Text 21"/>
          <p:cNvSpPr txBox="1"/>
          <p:nvPr/>
        </p:nvSpPr>
        <p:spPr>
          <a:xfrm>
            <a:off x="6492240" y="40233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24" name="Text 22"/>
          <p:cNvSpPr txBox="1"/>
          <p:nvPr/>
        </p:nvSpPr>
        <p:spPr>
          <a:xfrm>
            <a:off x="7086600" y="3995928"/>
            <a:ext cx="42976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Search Splunk logs</a:t>
            </a:r>
            <a:endParaRPr lang="en-US" sz="1600" dirty="0"/>
          </a:p>
        </p:txBody>
      </p:sp>
      <p:sp>
        <p:nvSpPr>
          <p:cNvPr id="25" name="Text 23"/>
          <p:cNvSpPr txBox="1"/>
          <p:nvPr/>
        </p:nvSpPr>
        <p:spPr>
          <a:xfrm>
            <a:off x="7086600" y="4352544"/>
            <a:ext cx="4297680" cy="3657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Which logs, which node, which time window?</a:t>
            </a:r>
            <a:endParaRPr lang="en-US" sz="1350" dirty="0"/>
          </a:p>
        </p:txBody>
      </p:sp>
      <p:sp>
        <p:nvSpPr>
          <p:cNvPr id="26" name="Shape 24"/>
          <p:cNvSpPr/>
          <p:nvPr/>
        </p:nvSpPr>
        <p:spPr>
          <a:xfrm>
            <a:off x="6492240" y="4937760"/>
            <a:ext cx="384048" cy="384048"/>
          </a:xfrm>
          <a:prstGeom prst="ellipse">
            <a:avLst/>
          </a:prstGeom>
          <a:solidFill>
            <a:schemeClr val="accent1"/>
          </a:solidFill>
          <a:ln w="12700">
            <a:solidFill>
              <a:schemeClr val="accent1"/>
            </a:solidFill>
            <a:prstDash val="solid"/>
          </a:ln>
        </p:spPr>
      </p:sp>
      <p:sp>
        <p:nvSpPr>
          <p:cNvPr id="27" name="Text 25"/>
          <p:cNvSpPr txBox="1"/>
          <p:nvPr/>
        </p:nvSpPr>
        <p:spPr>
          <a:xfrm>
            <a:off x="6492240" y="49377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7086600" y="4910328"/>
            <a:ext cx="429768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Decide and escalate</a:t>
            </a:r>
            <a:endParaRPr lang="en-US" sz="1600" dirty="0"/>
          </a:p>
        </p:txBody>
      </p:sp>
      <p:sp>
        <p:nvSpPr>
          <p:cNvPr id="29" name="Text 27"/>
          <p:cNvSpPr txBox="1"/>
          <p:nvPr/>
        </p:nvSpPr>
        <p:spPr>
          <a:xfrm>
            <a:off x="7086600" y="5266944"/>
            <a:ext cx="4297680" cy="36576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Network or platform team? Often a best guess</a:t>
            </a:r>
            <a:endParaRPr lang="en-US" sz="1350" dirty="0"/>
          </a:p>
        </p:txBody>
      </p:sp>
      <p:sp>
        <p:nvSpPr>
          <p:cNvPr id="30" name="Text 28"/>
          <p:cNvSpPr txBox="1"/>
          <p:nvPr/>
        </p:nvSpPr>
        <p:spPr>
          <a:xfrm>
            <a:off x="6492240" y="5742432"/>
            <a:ext cx="4937760" cy="320040"/>
          </a:xfrm>
          <a:prstGeom prst="rect">
            <a:avLst/>
          </a:prstGeom>
          <a:noFill/>
          <a:ln/>
        </p:spPr>
        <p:txBody>
          <a:bodyPr wrap="square" lIns="0" tIns="0" rIns="0" bIns="0" rtlCol="0" anchor="t"/>
          <a:lstStyle/>
          <a:p>
            <a:pPr indent="0" marL="0">
              <a:buNone/>
            </a:pPr>
            <a:r>
              <a:rPr lang="en-US" sz="1400" i="1" dirty="0">
                <a:solidFill>
                  <a:schemeClr val="accent1"/>
                </a:solidFill>
                <a:latin typeface="Calibri" pitchFamily="34" charset="0"/>
                <a:ea typeface="Calibri" pitchFamily="34" charset="-122"/>
                <a:cs typeface="Calibri" pitchFamily="34" charset="-120"/>
              </a:rPr>
              <a:t>Three consoles, manual correlation, no single view of the evidence.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bg1"/>
                </a:solidFill>
              </a:rPr>
              <a:t>The solution: an AI copilot above our tools</a:t>
            </a:r>
            <a:endParaRPr lang="en-US" sz="3200" dirty="0"/>
          </a:p>
        </p:txBody>
      </p:sp>
      <p:sp>
        <p:nvSpPr>
          <p:cNvPr id="3" name="col0"/>
          <p:cNvSpPr/>
          <p:nvPr/>
        </p:nvSpPr>
        <p:spPr>
          <a:xfrm>
            <a:off x="548640" y="1554480"/>
            <a:ext cx="3383280" cy="2971800"/>
          </a:xfrm>
          <a:prstGeom prst="roundRect">
            <a:avLst>
              <a:gd name="adj" fmla="val 3077"/>
            </a:avLst>
          </a:prstGeom>
          <a:solidFill>
            <a:schemeClr val="bg2"/>
          </a:solidFill>
          <a:ln w="15875">
            <a:solidFill>
              <a:schemeClr val="accent3"/>
            </a:solidFill>
            <a:prstDash val="solid"/>
          </a:ln>
        </p:spPr>
      </p:sp>
      <p:sp>
        <p:nvSpPr>
          <p:cNvPr id="4" name="Text 2"/>
          <p:cNvSpPr txBox="1"/>
          <p:nvPr/>
        </p:nvSpPr>
        <p:spPr>
          <a:xfrm>
            <a:off x="822960" y="1755648"/>
            <a:ext cx="283464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INPUT</a:t>
            </a:r>
            <a:endParaRPr lang="en-US" sz="1200" dirty="0"/>
          </a:p>
        </p:txBody>
      </p:sp>
      <p:sp>
        <p:nvSpPr>
          <p:cNvPr id="5" name="Text 3"/>
          <p:cNvSpPr txBox="1"/>
          <p:nvPr/>
        </p:nvSpPr>
        <p:spPr>
          <a:xfrm>
            <a:off x="822960" y="2057400"/>
            <a:ext cx="2834640" cy="45720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Data we already have</a:t>
            </a:r>
            <a:endParaRPr lang="en-US" sz="2000" dirty="0"/>
          </a:p>
        </p:txBody>
      </p:sp>
      <p:sp>
        <p:nvSpPr>
          <p:cNvPr id="6" name="Text 4"/>
          <p:cNvSpPr txBox="1"/>
          <p:nvPr/>
        </p:nvSpPr>
        <p:spPr>
          <a:xfrm>
            <a:off x="822960" y="2651760"/>
            <a:ext cx="2880360" cy="17830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bg1"/>
                </a:solidFill>
                <a:latin typeface="Calibri" pitchFamily="34" charset="0"/>
                <a:ea typeface="Calibri" pitchFamily="34" charset="-122"/>
                <a:cs typeface="Calibri" pitchFamily="34" charset="-120"/>
              </a:rPr>
              <a:t>SolarWinds: switch metrics</a:t>
            </a:r>
            <a:endParaRPr lang="en-US" sz="1450" dirty="0"/>
          </a:p>
          <a:p>
            <a:pPr marL="342900" indent="-342900">
              <a:spcAft>
                <a:spcPts val="600"/>
              </a:spcAft>
              <a:buSzPct val="100000"/>
              <a:buChar char="•"/>
            </a:pPr>
            <a:r>
              <a:rPr lang="en-US" sz="1450" dirty="0">
                <a:solidFill>
                  <a:schemeClr val="bg1"/>
                </a:solidFill>
                <a:latin typeface="Calibri" pitchFamily="34" charset="0"/>
                <a:ea typeface="Calibri" pitchFamily="34" charset="-122"/>
                <a:cs typeface="Calibri" pitchFamily="34" charset="-120"/>
              </a:rPr>
              <a:t>Splunk: OpenShift events and logs</a:t>
            </a:r>
            <a:endParaRPr lang="en-US" sz="1450" dirty="0"/>
          </a:p>
          <a:p>
            <a:pPr marL="342900" indent="-342900">
              <a:spcAft>
                <a:spcPts val="600"/>
              </a:spcAft>
              <a:buSzPct val="100000"/>
              <a:buChar char="•"/>
            </a:pPr>
            <a:r>
              <a:rPr lang="en-US" sz="1450" dirty="0">
                <a:solidFill>
                  <a:schemeClr val="bg1"/>
                </a:solidFill>
                <a:latin typeface="Calibri" pitchFamily="34" charset="0"/>
                <a:ea typeface="Calibri" pitchFamily="34" charset="-122"/>
                <a:cs typeface="Calibri" pitchFamily="34" charset="-120"/>
              </a:rPr>
              <a:t>Live device checks only when needed</a:t>
            </a:r>
            <a:endParaRPr lang="en-US" sz="1450" dirty="0"/>
          </a:p>
        </p:txBody>
      </p:sp>
      <p:sp>
        <p:nvSpPr>
          <p:cNvPr id="7" name="Shape 5"/>
          <p:cNvSpPr/>
          <p:nvPr/>
        </p:nvSpPr>
        <p:spPr>
          <a:xfrm>
            <a:off x="3977640" y="3035808"/>
            <a:ext cx="347472" cy="0"/>
          </a:xfrm>
          <a:prstGeom prst="line">
            <a:avLst/>
          </a:prstGeom>
          <a:noFill/>
          <a:ln w="25400">
            <a:solidFill>
              <a:schemeClr val="accent1"/>
            </a:solidFill>
            <a:prstDash val="solid"/>
            <a:tailEnd type="triangle"/>
          </a:ln>
        </p:spPr>
      </p:sp>
      <p:sp>
        <p:nvSpPr>
          <p:cNvPr id="8" name="col1"/>
          <p:cNvSpPr/>
          <p:nvPr/>
        </p:nvSpPr>
        <p:spPr>
          <a:xfrm>
            <a:off x="4343400" y="1554480"/>
            <a:ext cx="3383280" cy="2971800"/>
          </a:xfrm>
          <a:prstGeom prst="roundRect">
            <a:avLst>
              <a:gd name="adj" fmla="val 3077"/>
            </a:avLst>
          </a:prstGeom>
          <a:solidFill>
            <a:schemeClr val="accent1"/>
          </a:solidFill>
          <a:ln w="12700">
            <a:solidFill>
              <a:schemeClr val="accent1"/>
            </a:solidFill>
            <a:prstDash val="solid"/>
          </a:ln>
        </p:spPr>
      </p:sp>
      <p:sp>
        <p:nvSpPr>
          <p:cNvPr id="9" name="Text 7"/>
          <p:cNvSpPr txBox="1"/>
          <p:nvPr/>
        </p:nvSpPr>
        <p:spPr>
          <a:xfrm>
            <a:off x="4617720" y="1755648"/>
            <a:ext cx="2834640" cy="274320"/>
          </a:xfrm>
          <a:prstGeom prst="rect">
            <a:avLst/>
          </a:prstGeom>
          <a:noFill/>
          <a:ln/>
        </p:spPr>
        <p:txBody>
          <a:bodyPr wrap="square" lIns="0" tIns="0" rIns="0" bIns="0" rtlCol="0" anchor="t"/>
          <a:lstStyle/>
          <a:p>
            <a:pPr indent="0" marL="0">
              <a:buNone/>
            </a:pPr>
            <a:r>
              <a:rPr lang="en-US" sz="1200" b="1" spc="200" kern="0" dirty="0">
                <a:solidFill>
                  <a:schemeClr val="tx1"/>
                </a:solidFill>
                <a:latin typeface="Calibri" pitchFamily="34" charset="0"/>
                <a:ea typeface="Calibri" pitchFamily="34" charset="-122"/>
                <a:cs typeface="Calibri" pitchFamily="34" charset="-120"/>
              </a:rPr>
              <a:t>AI PROCESSING</a:t>
            </a:r>
            <a:endParaRPr lang="en-US" sz="1200" dirty="0"/>
          </a:p>
        </p:txBody>
      </p:sp>
      <p:sp>
        <p:nvSpPr>
          <p:cNvPr id="10" name="Text 8"/>
          <p:cNvSpPr txBox="1"/>
          <p:nvPr/>
        </p:nvSpPr>
        <p:spPr>
          <a:xfrm>
            <a:off x="4617720" y="2057400"/>
            <a:ext cx="2834640" cy="457200"/>
          </a:xfrm>
          <a:prstGeom prst="rect">
            <a:avLst/>
          </a:prstGeom>
          <a:noFill/>
          <a:ln/>
        </p:spPr>
        <p:txBody>
          <a:bodyPr wrap="square" lIns="0" tIns="0" rIns="0" bIns="0" rtlCol="0" anchor="t"/>
          <a:lstStyle/>
          <a:p>
            <a:pPr indent="0" marL="0">
              <a:buNone/>
            </a:pPr>
            <a:r>
              <a:rPr lang="en-US" sz="2000" b="1" dirty="0">
                <a:solidFill>
                  <a:schemeClr val="tx1"/>
                </a:solidFill>
                <a:latin typeface="Arial" pitchFamily="34" charset="0"/>
                <a:ea typeface="Arial" pitchFamily="34" charset="-122"/>
                <a:cs typeface="Arial" pitchFamily="34" charset="-120"/>
              </a:rPr>
              <a:t>Agents investigate</a:t>
            </a:r>
            <a:endParaRPr lang="en-US" sz="2000" dirty="0"/>
          </a:p>
        </p:txBody>
      </p:sp>
      <p:sp>
        <p:nvSpPr>
          <p:cNvPr id="11" name="Text 9"/>
          <p:cNvSpPr txBox="1"/>
          <p:nvPr/>
        </p:nvSpPr>
        <p:spPr>
          <a:xfrm>
            <a:off x="4617720" y="2651760"/>
            <a:ext cx="2880360" cy="17830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1"/>
                </a:solidFill>
                <a:latin typeface="Calibri" pitchFamily="34" charset="0"/>
                <a:ea typeface="Calibri" pitchFamily="34" charset="-122"/>
                <a:cs typeface="Calibri" pitchFamily="34" charset="-120"/>
              </a:rPr>
              <a:t>Network and OpenShift agents spot weak signals</a:t>
            </a:r>
            <a:endParaRPr lang="en-US" sz="1450" dirty="0"/>
          </a:p>
          <a:p>
            <a:pPr marL="342900" indent="-342900">
              <a:spcAft>
                <a:spcPts val="600"/>
              </a:spcAft>
              <a:buSzPct val="100000"/>
              <a:buChar char="•"/>
            </a:pPr>
            <a:r>
              <a:rPr lang="en-US" sz="1450" dirty="0">
                <a:solidFill>
                  <a:schemeClr val="tx1"/>
                </a:solidFill>
                <a:latin typeface="Calibri" pitchFamily="34" charset="0"/>
                <a:ea typeface="Calibri" pitchFamily="34" charset="-122"/>
                <a:cs typeface="Calibri" pitchFamily="34" charset="-120"/>
              </a:rPr>
              <a:t>A parent agent connects them and tests likely causes</a:t>
            </a:r>
            <a:endParaRPr lang="en-US" sz="1450" dirty="0"/>
          </a:p>
          <a:p>
            <a:pPr marL="342900" indent="-342900">
              <a:spcAft>
                <a:spcPts val="600"/>
              </a:spcAft>
              <a:buSzPct val="100000"/>
              <a:buChar char="•"/>
            </a:pPr>
            <a:r>
              <a:rPr lang="en-US" sz="1450" dirty="0">
                <a:solidFill>
                  <a:schemeClr val="tx1"/>
                </a:solidFill>
                <a:latin typeface="Calibri" pitchFamily="34" charset="0"/>
                <a:ea typeface="Calibri" pitchFamily="34" charset="-122"/>
                <a:cs typeface="Calibri" pitchFamily="34" charset="-120"/>
              </a:rPr>
              <a:t>Confidence comes from evidence, not opinion</a:t>
            </a:r>
            <a:endParaRPr lang="en-US" sz="1450" dirty="0"/>
          </a:p>
        </p:txBody>
      </p:sp>
      <p:sp>
        <p:nvSpPr>
          <p:cNvPr id="12" name="Shape 10"/>
          <p:cNvSpPr/>
          <p:nvPr/>
        </p:nvSpPr>
        <p:spPr>
          <a:xfrm>
            <a:off x="7772400" y="3035808"/>
            <a:ext cx="347472" cy="0"/>
          </a:xfrm>
          <a:prstGeom prst="line">
            <a:avLst/>
          </a:prstGeom>
          <a:noFill/>
          <a:ln w="25400">
            <a:solidFill>
              <a:schemeClr val="accent1"/>
            </a:solidFill>
            <a:prstDash val="solid"/>
            <a:tailEnd type="triangle"/>
          </a:ln>
        </p:spPr>
      </p:sp>
      <p:sp>
        <p:nvSpPr>
          <p:cNvPr id="13" name="col2"/>
          <p:cNvSpPr/>
          <p:nvPr/>
        </p:nvSpPr>
        <p:spPr>
          <a:xfrm>
            <a:off x="8138160" y="1554480"/>
            <a:ext cx="3383280" cy="2971800"/>
          </a:xfrm>
          <a:prstGeom prst="roundRect">
            <a:avLst>
              <a:gd name="adj" fmla="val 3077"/>
            </a:avLst>
          </a:prstGeom>
          <a:solidFill>
            <a:schemeClr val="bg2"/>
          </a:solidFill>
          <a:ln w="15875">
            <a:solidFill>
              <a:schemeClr val="accent3"/>
            </a:solidFill>
            <a:prstDash val="solid"/>
          </a:ln>
        </p:spPr>
      </p:sp>
      <p:sp>
        <p:nvSpPr>
          <p:cNvPr id="14" name="Text 12"/>
          <p:cNvSpPr txBox="1"/>
          <p:nvPr/>
        </p:nvSpPr>
        <p:spPr>
          <a:xfrm>
            <a:off x="8412480" y="1755648"/>
            <a:ext cx="283464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OUTCOME</a:t>
            </a:r>
            <a:endParaRPr lang="en-US" sz="1200" dirty="0"/>
          </a:p>
        </p:txBody>
      </p:sp>
      <p:sp>
        <p:nvSpPr>
          <p:cNvPr id="15" name="Text 13"/>
          <p:cNvSpPr txBox="1"/>
          <p:nvPr/>
        </p:nvSpPr>
        <p:spPr>
          <a:xfrm>
            <a:off x="8412480" y="2057400"/>
            <a:ext cx="2834640" cy="457200"/>
          </a:xfrm>
          <a:prstGeom prst="rect">
            <a:avLst/>
          </a:prstGeom>
          <a:noFill/>
          <a:ln/>
        </p:spPr>
        <p:txBody>
          <a:bodyPr wrap="square" lIns="0" tIns="0" rIns="0" bIns="0" rtlCol="0" anchor="t"/>
          <a:lstStyle/>
          <a:p>
            <a:pPr indent="0" marL="0">
              <a:buNone/>
            </a:pPr>
            <a:r>
              <a:rPr lang="en-US" sz="2000" b="1" dirty="0">
                <a:solidFill>
                  <a:schemeClr val="bg1"/>
                </a:solidFill>
                <a:latin typeface="Arial" pitchFamily="34" charset="0"/>
                <a:ea typeface="Arial" pitchFamily="34" charset="-122"/>
                <a:cs typeface="Arial" pitchFamily="34" charset="-120"/>
              </a:rPr>
              <a:t>The SRE gets guidance</a:t>
            </a:r>
            <a:endParaRPr lang="en-US" sz="2000" dirty="0"/>
          </a:p>
        </p:txBody>
      </p:sp>
      <p:sp>
        <p:nvSpPr>
          <p:cNvPr id="16" name="Text 14"/>
          <p:cNvSpPr txBox="1"/>
          <p:nvPr/>
        </p:nvSpPr>
        <p:spPr>
          <a:xfrm>
            <a:off x="8412480" y="2651760"/>
            <a:ext cx="2880360" cy="178308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bg1"/>
                </a:solidFill>
                <a:latin typeface="Calibri" pitchFamily="34" charset="0"/>
                <a:ea typeface="Calibri" pitchFamily="34" charset="-122"/>
                <a:cs typeface="Calibri" pitchFamily="34" charset="-120"/>
              </a:rPr>
              <a:t>Likely cause, with the evidence</a:t>
            </a:r>
            <a:endParaRPr lang="en-US" sz="1450" dirty="0"/>
          </a:p>
          <a:p>
            <a:pPr marL="342900" indent="-342900">
              <a:spcAft>
                <a:spcPts val="600"/>
              </a:spcAft>
              <a:buSzPct val="100000"/>
              <a:buChar char="•"/>
            </a:pPr>
            <a:r>
              <a:rPr lang="en-US" sz="1450" dirty="0">
                <a:solidFill>
                  <a:schemeClr val="bg1"/>
                </a:solidFill>
                <a:latin typeface="Calibri" pitchFamily="34" charset="0"/>
                <a:ea typeface="Calibri" pitchFamily="34" charset="-122"/>
                <a:cs typeface="Calibri" pitchFamily="34" charset="-120"/>
              </a:rPr>
              <a:t>Next read-only checks</a:t>
            </a:r>
            <a:endParaRPr lang="en-US" sz="1450" dirty="0"/>
          </a:p>
          <a:p>
            <a:pPr marL="342900" indent="-342900">
              <a:spcAft>
                <a:spcPts val="600"/>
              </a:spcAft>
              <a:buSzPct val="100000"/>
              <a:buChar char="•"/>
            </a:pPr>
            <a:r>
              <a:rPr lang="en-US" sz="1450" dirty="0">
                <a:solidFill>
                  <a:schemeClr val="bg1"/>
                </a:solidFill>
                <a:latin typeface="Calibri" pitchFamily="34" charset="0"/>
                <a:ea typeface="Calibri" pitchFamily="34" charset="-122"/>
                <a:cs typeface="Calibri" pitchFamily="34" charset="-120"/>
              </a:rPr>
              <a:t>Which team to escalate to</a:t>
            </a:r>
            <a:endParaRPr lang="en-US" sz="1450" dirty="0"/>
          </a:p>
        </p:txBody>
      </p:sp>
      <p:sp>
        <p:nvSpPr>
          <p:cNvPr id="17" name="tools"/>
          <p:cNvSpPr/>
          <p:nvPr/>
        </p:nvSpPr>
        <p:spPr>
          <a:xfrm>
            <a:off x="548640" y="4754880"/>
            <a:ext cx="5486400" cy="1417320"/>
          </a:xfrm>
          <a:prstGeom prst="roundRect">
            <a:avLst>
              <a:gd name="adj" fmla="val 6452"/>
            </a:avLst>
          </a:prstGeom>
          <a:solidFill>
            <a:schemeClr val="bg2"/>
          </a:solidFill>
          <a:ln w="15875">
            <a:solidFill>
              <a:schemeClr val="accent3"/>
            </a:solidFill>
            <a:prstDash val="solid"/>
          </a:ln>
        </p:spPr>
      </p:sp>
      <p:sp>
        <p:nvSpPr>
          <p:cNvPr id="18" name="Text 16"/>
          <p:cNvSpPr txBox="1"/>
          <p:nvPr/>
        </p:nvSpPr>
        <p:spPr>
          <a:xfrm>
            <a:off x="822960" y="4919472"/>
            <a:ext cx="493776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AI PLATFORM AND TOOLS</a:t>
            </a:r>
            <a:endParaRPr lang="en-US" sz="1200" dirty="0"/>
          </a:p>
        </p:txBody>
      </p:sp>
      <p:sp>
        <p:nvSpPr>
          <p:cNvPr id="19" name="Text 17"/>
          <p:cNvSpPr txBox="1"/>
          <p:nvPr/>
        </p:nvSpPr>
        <p:spPr>
          <a:xfrm>
            <a:off x="822960" y="5257800"/>
            <a:ext cx="5029200" cy="868680"/>
          </a:xfrm>
          <a:prstGeom prst="rect">
            <a:avLst/>
          </a:prstGeom>
          <a:noFill/>
          <a:ln/>
        </p:spPr>
        <p:txBody>
          <a:bodyPr wrap="square" lIns="0" tIns="0" rIns="0" bIns="0" rtlCol="0" anchor="t"/>
          <a:lstStyle/>
          <a:p>
            <a:pPr indent="0" marL="0">
              <a:spcAft>
                <a:spcPts val="400"/>
              </a:spcAft>
              <a:buNone/>
            </a:pPr>
            <a:r>
              <a:rPr lang="en-US" sz="1400" b="1" dirty="0">
                <a:solidFill>
                  <a:schemeClr val="accent1"/>
                </a:solidFill>
                <a:latin typeface="Calibri" pitchFamily="34" charset="0"/>
                <a:ea typeface="Calibri" pitchFamily="34" charset="-122"/>
                <a:cs typeface="Calibri" pitchFamily="34" charset="-120"/>
              </a:rPr>
              <a:t>Built with: </a:t>
            </a:r>
            <a:pPr indent="0" marL="0">
              <a:spcAft>
                <a:spcPts val="400"/>
              </a:spcAft>
              <a:buNone/>
            </a:pPr>
            <a:r>
              <a:rPr lang="en-US" sz="1400" dirty="0">
                <a:solidFill>
                  <a:schemeClr val="bg1"/>
                </a:solidFill>
                <a:latin typeface="Calibri" pitchFamily="34" charset="0"/>
                <a:ea typeface="Calibri" pitchFamily="34" charset="-122"/>
                <a:cs typeface="Calibri" pitchFamily="34" charset="-120"/>
              </a:rPr>
              <a:t>Claude Opus 5.5</a:t>
            </a:r>
            <a:endParaRPr lang="en-US" sz="1400" dirty="0"/>
          </a:p>
          <a:p>
            <a:pPr indent="0" marL="0">
              <a:spcAft>
                <a:spcPts val="400"/>
              </a:spcAft>
              <a:buNone/>
            </a:pPr>
            <a:r>
              <a:rPr lang="en-US" sz="1400" b="1" dirty="0">
                <a:solidFill>
                  <a:schemeClr val="accent1"/>
                </a:solidFill>
                <a:latin typeface="Calibri" pitchFamily="34" charset="0"/>
                <a:ea typeface="Calibri" pitchFamily="34" charset="-122"/>
                <a:cs typeface="Calibri" pitchFamily="34" charset="-120"/>
              </a:rPr>
              <a:t>Agents run on: </a:t>
            </a:r>
            <a:pPr indent="0" marL="0">
              <a:spcAft>
                <a:spcPts val="400"/>
              </a:spcAft>
              <a:buNone/>
            </a:pPr>
            <a:r>
              <a:rPr lang="en-US" sz="1400" dirty="0">
                <a:solidFill>
                  <a:schemeClr val="bg1"/>
                </a:solidFill>
                <a:latin typeface="Calibri" pitchFamily="34" charset="0"/>
                <a:ea typeface="Calibri" pitchFamily="34" charset="-122"/>
                <a:cs typeface="Calibri" pitchFamily="34" charset="-120"/>
              </a:rPr>
              <a:t>Gemma (GAIA), on-prem inside the air gap; Gemma 3 via Ollama in the prototype</a:t>
            </a:r>
            <a:endParaRPr lang="en-US" sz="1400" dirty="0"/>
          </a:p>
        </p:txBody>
      </p:sp>
      <p:sp>
        <p:nvSpPr>
          <p:cNvPr id="20" name="diff"/>
          <p:cNvSpPr/>
          <p:nvPr/>
        </p:nvSpPr>
        <p:spPr>
          <a:xfrm>
            <a:off x="6263640" y="4754880"/>
            <a:ext cx="5349240" cy="1417320"/>
          </a:xfrm>
          <a:prstGeom prst="roundRect">
            <a:avLst>
              <a:gd name="adj" fmla="val 6452"/>
            </a:avLst>
          </a:prstGeom>
          <a:solidFill>
            <a:schemeClr val="bg2"/>
          </a:solidFill>
          <a:ln w="15875">
            <a:solidFill>
              <a:schemeClr val="accent3"/>
            </a:solidFill>
            <a:prstDash val="solid"/>
          </a:ln>
        </p:spPr>
      </p:sp>
      <p:sp>
        <p:nvSpPr>
          <p:cNvPr id="21" name="Text 19"/>
          <p:cNvSpPr txBox="1"/>
          <p:nvPr/>
        </p:nvSpPr>
        <p:spPr>
          <a:xfrm>
            <a:off x="6537960" y="4919472"/>
            <a:ext cx="484632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WHAT MAKES IT DIFFERENT</a:t>
            </a:r>
            <a:endParaRPr lang="en-US" sz="1200" dirty="0"/>
          </a:p>
        </p:txBody>
      </p:sp>
      <p:sp>
        <p:nvSpPr>
          <p:cNvPr id="22" name="Text 20"/>
          <p:cNvSpPr txBox="1"/>
          <p:nvPr/>
        </p:nvSpPr>
        <p:spPr>
          <a:xfrm>
            <a:off x="6537960" y="5257800"/>
            <a:ext cx="4846320" cy="868680"/>
          </a:xfrm>
          <a:prstGeom prst="rect">
            <a:avLst/>
          </a:prstGeom>
          <a:noFill/>
          <a:ln/>
        </p:spPr>
        <p:txBody>
          <a:bodyPr wrap="square" lIns="0" tIns="0" rIns="0" bIns="0" rtlCol="0" anchor="t"/>
          <a:lstStyle/>
          <a:p>
            <a:pPr marL="342900" indent="-342900">
              <a:buSzPct val="100000"/>
              <a:buChar char="•"/>
            </a:pPr>
            <a:r>
              <a:rPr lang="en-US" sz="1400" dirty="0">
                <a:solidFill>
                  <a:schemeClr val="bg1"/>
                </a:solidFill>
                <a:latin typeface="Calibri" pitchFamily="34" charset="0"/>
                <a:ea typeface="Calibri" pitchFamily="34" charset="-122"/>
                <a:cs typeface="Calibri" pitchFamily="34" charset="-120"/>
              </a:rPr>
              <a:t>Reuses Splunk and SolarWinds; no new data collection</a:t>
            </a:r>
            <a:endParaRPr lang="en-US" sz="1400" dirty="0"/>
          </a:p>
          <a:p>
            <a:pPr marL="342900" indent="-342900">
              <a:buSzPct val="100000"/>
              <a:buChar char="•"/>
            </a:pPr>
            <a:r>
              <a:rPr lang="en-US" sz="1400" dirty="0">
                <a:solidFill>
                  <a:schemeClr val="bg1"/>
                </a:solidFill>
                <a:latin typeface="Calibri" pitchFamily="34" charset="0"/>
                <a:ea typeface="Calibri" pitchFamily="34" charset="-122"/>
                <a:cs typeface="Calibri" pitchFamily="34" charset="-120"/>
              </a:rPr>
              <a:t>Every conclusion traces back to evidence</a:t>
            </a:r>
            <a:endParaRPr lang="en-US" sz="1400" dirty="0"/>
          </a:p>
          <a:p>
            <a:pPr marL="342900" indent="-342900">
              <a:buSzPct val="100000"/>
              <a:buChar char="•"/>
            </a:pPr>
            <a:r>
              <a:rPr lang="en-US" sz="1400" dirty="0">
                <a:solidFill>
                  <a:schemeClr val="bg1"/>
                </a:solidFill>
                <a:latin typeface="Calibri" pitchFamily="34" charset="0"/>
                <a:ea typeface="Calibri" pitchFamily="34" charset="-122"/>
                <a:cs typeface="Calibri" pitchFamily="34" charset="-120"/>
              </a:rPr>
              <a:t>Read-only: it recommends, people act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bg1"/>
                </a:solidFill>
              </a:rPr>
              <a:t>Demonstration: the working prototype</a:t>
            </a:r>
            <a:endParaRPr lang="en-US" sz="3200" dirty="0"/>
          </a:p>
        </p:txBody>
      </p:sp>
      <p:sp>
        <p:nvSpPr>
          <p:cNvPr id="3" name="Shape 1"/>
          <p:cNvSpPr/>
          <p:nvPr/>
        </p:nvSpPr>
        <p:spPr>
          <a:xfrm>
            <a:off x="548640" y="1481328"/>
            <a:ext cx="365760" cy="365760"/>
          </a:xfrm>
          <a:prstGeom prst="ellipse">
            <a:avLst/>
          </a:prstGeom>
          <a:solidFill>
            <a:schemeClr val="accent1"/>
          </a:solidFill>
          <a:ln w="12700">
            <a:solidFill>
              <a:schemeClr val="accent1"/>
            </a:solidFill>
            <a:prstDash val="solid"/>
          </a:ln>
        </p:spPr>
      </p:sp>
      <p:sp>
        <p:nvSpPr>
          <p:cNvPr id="4" name="Text 2"/>
          <p:cNvSpPr txBox="1"/>
          <p:nvPr/>
        </p:nvSpPr>
        <p:spPr>
          <a:xfrm>
            <a:off x="548640" y="148132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051560" y="1463040"/>
            <a:ext cx="411480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Proactive watch</a:t>
            </a:r>
            <a:endParaRPr lang="en-US" sz="1800" dirty="0"/>
          </a:p>
        </p:txBody>
      </p:sp>
      <p:pic>
        <p:nvPicPr>
          <p:cNvPr id="6" name="Image 0" descr="Prototype screenshot: proactive watch, a cross-domain watch item while Splunk and SolarWinds show no alarms">    </p:cNvPr>
          <p:cNvPicPr>
            <a:picLocks noChangeAspect="1"/>
          </p:cNvPicPr>
          <p:nvPr/>
        </p:nvPicPr>
        <p:blipFill>
          <a:blip r:embed="rId1"/>
          <a:stretch>
            <a:fillRect/>
          </a:stretch>
        </p:blipFill>
        <p:spPr>
          <a:xfrm>
            <a:off x="548640" y="1965960"/>
            <a:ext cx="5394960" cy="3371850"/>
          </a:xfrm>
          <a:prstGeom prst="rect">
            <a:avLst/>
          </a:prstGeom>
        </p:spPr>
      </p:pic>
      <p:sp>
        <p:nvSpPr>
          <p:cNvPr id="7" name="Shape 4"/>
          <p:cNvSpPr/>
          <p:nvPr/>
        </p:nvSpPr>
        <p:spPr>
          <a:xfrm>
            <a:off x="6217920" y="1481328"/>
            <a:ext cx="365760" cy="365760"/>
          </a:xfrm>
          <a:prstGeom prst="ellipse">
            <a:avLst/>
          </a:prstGeom>
          <a:solidFill>
            <a:schemeClr val="accent1"/>
          </a:solidFill>
          <a:ln w="12700">
            <a:solidFill>
              <a:schemeClr val="accent1"/>
            </a:solidFill>
            <a:prstDash val="solid"/>
          </a:ln>
        </p:spPr>
      </p:sp>
      <p:sp>
        <p:nvSpPr>
          <p:cNvPr id="8" name="Text 5"/>
          <p:cNvSpPr txBox="1"/>
          <p:nvPr/>
        </p:nvSpPr>
        <p:spPr>
          <a:xfrm>
            <a:off x="6217920" y="1481328"/>
            <a:ext cx="365760" cy="36576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9" name="Text 6"/>
          <p:cNvSpPr txBox="1"/>
          <p:nvPr/>
        </p:nvSpPr>
        <p:spPr>
          <a:xfrm>
            <a:off x="6720840" y="1463040"/>
            <a:ext cx="4114800" cy="411480"/>
          </a:xfrm>
          <a:prstGeom prst="rect">
            <a:avLst/>
          </a:prstGeom>
          <a:noFill/>
          <a:ln/>
        </p:spPr>
        <p:txBody>
          <a:bodyPr wrap="square" lIns="0" tIns="0" rIns="0" bIns="0" rtlCol="0" anchor="ctr"/>
          <a:lstStyle/>
          <a:p>
            <a:pPr indent="0" marL="0">
              <a:buNone/>
            </a:pPr>
            <a:r>
              <a:rPr lang="en-US" sz="1800" b="1" dirty="0">
                <a:solidFill>
                  <a:schemeClr val="bg1"/>
                </a:solidFill>
                <a:latin typeface="Calibri" pitchFamily="34" charset="0"/>
                <a:ea typeface="Calibri" pitchFamily="34" charset="-122"/>
                <a:cs typeface="Calibri" pitchFamily="34" charset="-120"/>
              </a:rPr>
              <a:t>Incident investigation</a:t>
            </a:r>
            <a:endParaRPr lang="en-US" sz="1800" dirty="0"/>
          </a:p>
        </p:txBody>
      </p:sp>
      <p:pic>
        <p:nvPicPr>
          <p:cNvPr id="10" name="Image 1" descr="Prototype screenshot: incident investigation, likely cause with high confidence, evidence chain, hypotheses, next steps and escalation">    </p:cNvPr>
          <p:cNvPicPr>
            <a:picLocks noChangeAspect="1"/>
          </p:cNvPicPr>
          <p:nvPr/>
        </p:nvPicPr>
        <p:blipFill>
          <a:blip r:embed="rId2"/>
          <a:stretch>
            <a:fillRect/>
          </a:stretch>
        </p:blipFill>
        <p:spPr>
          <a:xfrm>
            <a:off x="6217920" y="1965960"/>
            <a:ext cx="5394960" cy="3371850"/>
          </a:xfrm>
          <a:prstGeom prst="rect">
            <a:avLst/>
          </a:prstGeom>
        </p:spPr>
      </p:pic>
      <p:sp>
        <p:nvSpPr>
          <p:cNvPr id="11" name="Text 7"/>
          <p:cNvSpPr txBox="1"/>
          <p:nvPr/>
        </p:nvSpPr>
        <p:spPr>
          <a:xfrm>
            <a:off x="548640" y="5486400"/>
            <a:ext cx="320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1</a:t>
            </a:r>
            <a:endParaRPr lang="en-US" sz="2000" dirty="0"/>
          </a:p>
        </p:txBody>
      </p:sp>
      <p:sp>
        <p:nvSpPr>
          <p:cNvPr id="12" name="Text 8"/>
          <p:cNvSpPr txBox="1"/>
          <p:nvPr/>
        </p:nvSpPr>
        <p:spPr>
          <a:xfrm>
            <a:off x="896112" y="5486400"/>
            <a:ext cx="2377440" cy="73152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node's switch port slowly congests; Splunk and SolarWinds stay quiet</a:t>
            </a:r>
            <a:endParaRPr lang="en-US" sz="1300" dirty="0"/>
          </a:p>
        </p:txBody>
      </p:sp>
      <p:sp>
        <p:nvSpPr>
          <p:cNvPr id="13" name="Text 9"/>
          <p:cNvSpPr txBox="1"/>
          <p:nvPr/>
        </p:nvSpPr>
        <p:spPr>
          <a:xfrm>
            <a:off x="3383280" y="5486400"/>
            <a:ext cx="320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2</a:t>
            </a:r>
            <a:endParaRPr lang="en-US" sz="2000" dirty="0"/>
          </a:p>
        </p:txBody>
      </p:sp>
      <p:sp>
        <p:nvSpPr>
          <p:cNvPr id="14" name="Text 10"/>
          <p:cNvSpPr txBox="1"/>
          <p:nvPr/>
        </p:nvSpPr>
        <p:spPr>
          <a:xfrm>
            <a:off x="3730752" y="5486400"/>
            <a:ext cx="2377440" cy="73152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WatchTower links timeouts and port drops into an early watch item</a:t>
            </a:r>
            <a:endParaRPr lang="en-US" sz="1300" dirty="0"/>
          </a:p>
        </p:txBody>
      </p:sp>
      <p:sp>
        <p:nvSpPr>
          <p:cNvPr id="15" name="Text 11"/>
          <p:cNvSpPr txBox="1"/>
          <p:nvPr/>
        </p:nvSpPr>
        <p:spPr>
          <a:xfrm>
            <a:off x="6217920" y="5486400"/>
            <a:ext cx="320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3</a:t>
            </a:r>
            <a:endParaRPr lang="en-US" sz="2000" dirty="0"/>
          </a:p>
        </p:txBody>
      </p:sp>
      <p:sp>
        <p:nvSpPr>
          <p:cNvPr id="16" name="Text 12"/>
          <p:cNvSpPr txBox="1"/>
          <p:nvPr/>
        </p:nvSpPr>
        <p:spPr>
          <a:xfrm>
            <a:off x="6565392" y="5486400"/>
            <a:ext cx="2377440" cy="73152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The node flaps NotReady for 46 s; the SRE clicks Investigate</a:t>
            </a:r>
            <a:endParaRPr lang="en-US" sz="1300" dirty="0"/>
          </a:p>
        </p:txBody>
      </p:sp>
      <p:sp>
        <p:nvSpPr>
          <p:cNvPr id="17" name="Text 13"/>
          <p:cNvSpPr txBox="1"/>
          <p:nvPr/>
        </p:nvSpPr>
        <p:spPr>
          <a:xfrm>
            <a:off x="9052560" y="5486400"/>
            <a:ext cx="320040" cy="365760"/>
          </a:xfrm>
          <a:prstGeom prst="rect">
            <a:avLst/>
          </a:prstGeom>
          <a:noFill/>
          <a:ln/>
        </p:spPr>
        <p:txBody>
          <a:bodyPr wrap="square" lIns="0" tIns="0" rIns="0" bIns="0" rtlCol="0" anchor="t"/>
          <a:lstStyle/>
          <a:p>
            <a:pPr indent="0" marL="0">
              <a:buNone/>
            </a:pPr>
            <a:r>
              <a:rPr lang="en-US" sz="2000" b="1" dirty="0">
                <a:solidFill>
                  <a:schemeClr val="accent1"/>
                </a:solidFill>
                <a:latin typeface="Calibri" pitchFamily="34" charset="0"/>
                <a:ea typeface="Calibri" pitchFamily="34" charset="-122"/>
                <a:cs typeface="Calibri" pitchFamily="34" charset="-120"/>
              </a:rPr>
              <a:t>4</a:t>
            </a:r>
            <a:endParaRPr lang="en-US" sz="2000" dirty="0"/>
          </a:p>
        </p:txBody>
      </p:sp>
      <p:sp>
        <p:nvSpPr>
          <p:cNvPr id="18" name="Text 14"/>
          <p:cNvSpPr txBox="1"/>
          <p:nvPr/>
        </p:nvSpPr>
        <p:spPr>
          <a:xfrm>
            <a:off x="9400032" y="5486400"/>
            <a:ext cx="2377440" cy="73152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Likely cause, 12 of 13 evidence items reused, Network team P3</a:t>
            </a:r>
            <a:endParaRPr lang="en-US" sz="1300" dirty="0"/>
          </a:p>
        </p:txBody>
      </p:sp>
      <p:sp>
        <p:nvSpPr>
          <p:cNvPr id="19" name="Text 15"/>
          <p:cNvSpPr txBox="1"/>
          <p:nvPr/>
        </p:nvSpPr>
        <p:spPr>
          <a:xfrm>
            <a:off x="6217920" y="6400800"/>
            <a:ext cx="4846320" cy="274320"/>
          </a:xfrm>
          <a:prstGeom prst="rect">
            <a:avLst/>
          </a:prstGeom>
          <a:noFill/>
          <a:ln/>
        </p:spPr>
        <p:txBody>
          <a:bodyPr wrap="square" lIns="0" tIns="0" rIns="0" bIns="0" rtlCol="0" anchor="t"/>
          <a:lstStyle/>
          <a:p>
            <a:pPr algn="r" indent="0" marL="0">
              <a:buNone/>
            </a:pPr>
            <a:r>
              <a:rPr lang="en-US" sz="1000" i="1" dirty="0">
                <a:solidFill>
                  <a:schemeClr val="tx2"/>
                </a:solidFill>
                <a:latin typeface="Calibri" pitchFamily="34" charset="0"/>
                <a:ea typeface="Calibri" pitchFamily="34" charset="-122"/>
                <a:cs typeface="Calibri" pitchFamily="34" charset="-120"/>
              </a:rPr>
              <a:t>Screenshots from the prototype on an 8 GB MacBook Air lab</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bg1"/>
                </a:solidFill>
              </a:rPr>
              <a:t>Value and learning</a:t>
            </a:r>
            <a:endParaRPr lang="en-US" sz="3200" dirty="0"/>
          </a:p>
        </p:txBody>
      </p:sp>
      <p:sp>
        <p:nvSpPr>
          <p:cNvPr id="3" name="value"/>
          <p:cNvSpPr/>
          <p:nvPr/>
        </p:nvSpPr>
        <p:spPr>
          <a:xfrm>
            <a:off x="548640" y="1508760"/>
            <a:ext cx="5394960" cy="4663440"/>
          </a:xfrm>
          <a:prstGeom prst="roundRect">
            <a:avLst>
              <a:gd name="adj" fmla="val 1961"/>
            </a:avLst>
          </a:prstGeom>
          <a:solidFill>
            <a:schemeClr val="bg2"/>
          </a:solidFill>
          <a:ln w="15875">
            <a:solidFill>
              <a:schemeClr val="accent3"/>
            </a:solidFill>
            <a:prstDash val="solid"/>
          </a:ln>
        </p:spPr>
      </p:sp>
      <p:sp>
        <p:nvSpPr>
          <p:cNvPr id="4" name="Text 2"/>
          <p:cNvSpPr txBox="1"/>
          <p:nvPr/>
        </p:nvSpPr>
        <p:spPr>
          <a:xfrm>
            <a:off x="82296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VALUE</a:t>
            </a:r>
            <a:endParaRPr lang="en-US" sz="1200" dirty="0"/>
          </a:p>
        </p:txBody>
      </p:sp>
      <p:sp>
        <p:nvSpPr>
          <p:cNvPr id="5" name="Shape 3"/>
          <p:cNvSpPr/>
          <p:nvPr/>
        </p:nvSpPr>
        <p:spPr>
          <a:xfrm>
            <a:off x="822960" y="219456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822960" y="219456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417320" y="2167128"/>
            <a:ext cx="434340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Faster first-level diagnosis</a:t>
            </a:r>
            <a:endParaRPr lang="en-US" sz="1600" dirty="0"/>
          </a:p>
        </p:txBody>
      </p:sp>
      <p:sp>
        <p:nvSpPr>
          <p:cNvPr id="8" name="Text 6"/>
          <p:cNvSpPr txBox="1"/>
          <p:nvPr/>
        </p:nvSpPr>
        <p:spPr>
          <a:xfrm>
            <a:off x="1417320" y="2523744"/>
            <a:ext cx="4343400" cy="50292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Cause, evidence and next steps in one place</a:t>
            </a:r>
            <a:endParaRPr lang="en-US" sz="1350" dirty="0"/>
          </a:p>
        </p:txBody>
      </p:sp>
      <p:sp>
        <p:nvSpPr>
          <p:cNvPr id="9" name="Shape 7"/>
          <p:cNvSpPr/>
          <p:nvPr/>
        </p:nvSpPr>
        <p:spPr>
          <a:xfrm>
            <a:off x="822960" y="315468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822960" y="315468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2</a:t>
            </a:r>
            <a:endParaRPr lang="en-US" sz="1400" dirty="0"/>
          </a:p>
        </p:txBody>
      </p:sp>
      <p:sp>
        <p:nvSpPr>
          <p:cNvPr id="11" name="Text 9"/>
          <p:cNvSpPr txBox="1"/>
          <p:nvPr/>
        </p:nvSpPr>
        <p:spPr>
          <a:xfrm>
            <a:off x="1417320" y="3127248"/>
            <a:ext cx="434340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Earlier warning</a:t>
            </a:r>
            <a:endParaRPr lang="en-US" sz="1600" dirty="0"/>
          </a:p>
        </p:txBody>
      </p:sp>
      <p:sp>
        <p:nvSpPr>
          <p:cNvPr id="12" name="Text 10"/>
          <p:cNvSpPr txBox="1"/>
          <p:nvPr/>
        </p:nvSpPr>
        <p:spPr>
          <a:xfrm>
            <a:off x="1417320" y="3483864"/>
            <a:ext cx="4343400" cy="50292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Cross-domain issues flagged while each tool is still below threshold</a:t>
            </a:r>
            <a:endParaRPr lang="en-US" sz="1350" dirty="0"/>
          </a:p>
        </p:txBody>
      </p:sp>
      <p:sp>
        <p:nvSpPr>
          <p:cNvPr id="13" name="Shape 11"/>
          <p:cNvSpPr/>
          <p:nvPr/>
        </p:nvSpPr>
        <p:spPr>
          <a:xfrm>
            <a:off x="822960" y="411480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822960" y="411480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3</a:t>
            </a:r>
            <a:endParaRPr lang="en-US" sz="1400" dirty="0"/>
          </a:p>
        </p:txBody>
      </p:sp>
      <p:sp>
        <p:nvSpPr>
          <p:cNvPr id="15" name="Text 13"/>
          <p:cNvSpPr txBox="1"/>
          <p:nvPr/>
        </p:nvSpPr>
        <p:spPr>
          <a:xfrm>
            <a:off x="1417320" y="4087368"/>
            <a:ext cx="434340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Builds on what we have</a:t>
            </a:r>
            <a:endParaRPr lang="en-US" sz="1600" dirty="0"/>
          </a:p>
        </p:txBody>
      </p:sp>
      <p:sp>
        <p:nvSpPr>
          <p:cNvPr id="16" name="Text 14"/>
          <p:cNvSpPr txBox="1"/>
          <p:nvPr/>
        </p:nvSpPr>
        <p:spPr>
          <a:xfrm>
            <a:off x="1417320" y="4443984"/>
            <a:ext cx="4343400" cy="50292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12 of 13 evidence items in the demo came from Splunk and SolarWinds</a:t>
            </a:r>
            <a:endParaRPr lang="en-US" sz="1350" dirty="0"/>
          </a:p>
        </p:txBody>
      </p:sp>
      <p:sp>
        <p:nvSpPr>
          <p:cNvPr id="17" name="Shape 15"/>
          <p:cNvSpPr/>
          <p:nvPr/>
        </p:nvSpPr>
        <p:spPr>
          <a:xfrm>
            <a:off x="822960" y="50749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822960" y="5074920"/>
            <a:ext cx="384048"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4</a:t>
            </a:r>
            <a:endParaRPr lang="en-US" sz="1400" dirty="0"/>
          </a:p>
        </p:txBody>
      </p:sp>
      <p:sp>
        <p:nvSpPr>
          <p:cNvPr id="19" name="Text 17"/>
          <p:cNvSpPr txBox="1"/>
          <p:nvPr/>
        </p:nvSpPr>
        <p:spPr>
          <a:xfrm>
            <a:off x="1417320" y="5047488"/>
            <a:ext cx="4343400" cy="365760"/>
          </a:xfrm>
          <a:prstGeom prst="rect">
            <a:avLst/>
          </a:prstGeom>
          <a:noFill/>
          <a:ln/>
        </p:spPr>
        <p:txBody>
          <a:bodyPr wrap="square" lIns="0" tIns="0" rIns="0" bIns="0" rtlCol="0" anchor="t"/>
          <a:lstStyle/>
          <a:p>
            <a:pPr indent="0" marL="0">
              <a:buNone/>
            </a:pPr>
            <a:r>
              <a:rPr lang="en-US" sz="1600" b="1" dirty="0">
                <a:solidFill>
                  <a:schemeClr val="bg1"/>
                </a:solidFill>
                <a:latin typeface="Calibri" pitchFamily="34" charset="0"/>
                <a:ea typeface="Calibri" pitchFamily="34" charset="-122"/>
                <a:cs typeface="Calibri" pitchFamily="34" charset="-120"/>
              </a:rPr>
              <a:t>Reusable by other teams</a:t>
            </a:r>
            <a:endParaRPr lang="en-US" sz="1600" dirty="0"/>
          </a:p>
        </p:txBody>
      </p:sp>
      <p:sp>
        <p:nvSpPr>
          <p:cNvPr id="20" name="Text 18"/>
          <p:cNvSpPr txBox="1"/>
          <p:nvPr/>
        </p:nvSpPr>
        <p:spPr>
          <a:xfrm>
            <a:off x="1417320" y="5404104"/>
            <a:ext cx="4343400" cy="502920"/>
          </a:xfrm>
          <a:prstGeom prst="rect">
            <a:avLst/>
          </a:prstGeom>
          <a:noFill/>
          <a:ln/>
        </p:spPr>
        <p:txBody>
          <a:bodyPr wrap="square" lIns="0" tIns="0" rIns="0" bIns="0" rtlCol="0" anchor="t"/>
          <a:lstStyle/>
          <a:p>
            <a:pPr indent="0" marL="0">
              <a:buNone/>
            </a:pPr>
            <a:r>
              <a:rPr lang="en-US" sz="1350" dirty="0">
                <a:solidFill>
                  <a:schemeClr val="tx2"/>
                </a:solidFill>
                <a:latin typeface="Calibri" pitchFamily="34" charset="0"/>
                <a:ea typeface="Calibri" pitchFamily="34" charset="-122"/>
                <a:cs typeface="Calibri" pitchFamily="34" charset="-120"/>
              </a:rPr>
              <a:t>Add a domain agent, e.g. Palo Alto or Nutanix, without a redesign</a:t>
            </a:r>
            <a:endParaRPr lang="en-US" sz="1350" dirty="0"/>
          </a:p>
        </p:txBody>
      </p:sp>
      <p:sp>
        <p:nvSpPr>
          <p:cNvPr id="21" name="learn"/>
          <p:cNvSpPr/>
          <p:nvPr/>
        </p:nvSpPr>
        <p:spPr>
          <a:xfrm>
            <a:off x="6217920" y="1508760"/>
            <a:ext cx="5394960" cy="4663440"/>
          </a:xfrm>
          <a:prstGeom prst="roundRect">
            <a:avLst>
              <a:gd name="adj" fmla="val 1961"/>
            </a:avLst>
          </a:prstGeom>
          <a:solidFill>
            <a:schemeClr val="bg2"/>
          </a:solidFill>
          <a:ln w="15875">
            <a:solidFill>
              <a:schemeClr val="accent3"/>
            </a:solidFill>
            <a:prstDash val="solid"/>
          </a:ln>
        </p:spPr>
      </p:sp>
      <p:sp>
        <p:nvSpPr>
          <p:cNvPr id="22" name="Text 20"/>
          <p:cNvSpPr txBox="1"/>
          <p:nvPr/>
        </p:nvSpPr>
        <p:spPr>
          <a:xfrm>
            <a:off x="6492240" y="1737360"/>
            <a:ext cx="4572000" cy="274320"/>
          </a:xfrm>
          <a:prstGeom prst="rect">
            <a:avLst/>
          </a:prstGeom>
          <a:noFill/>
          <a:ln/>
        </p:spPr>
        <p:txBody>
          <a:bodyPr wrap="square" lIns="0" tIns="0" rIns="0" bIns="0" rtlCol="0" anchor="t"/>
          <a:lstStyle/>
          <a:p>
            <a:pPr indent="0" marL="0">
              <a:buNone/>
            </a:pPr>
            <a:r>
              <a:rPr lang="en-US" sz="1200" b="1" spc="200" kern="0" dirty="0">
                <a:solidFill>
                  <a:schemeClr val="accent1"/>
                </a:solidFill>
                <a:latin typeface="Calibri" pitchFamily="34" charset="0"/>
                <a:ea typeface="Calibri" pitchFamily="34" charset="-122"/>
                <a:cs typeface="Calibri" pitchFamily="34" charset="-120"/>
              </a:rPr>
              <a:t>LEARNING &amp; NEXT STEPS</a:t>
            </a:r>
            <a:endParaRPr lang="en-US" sz="1200" dirty="0"/>
          </a:p>
        </p:txBody>
      </p:sp>
      <p:sp>
        <p:nvSpPr>
          <p:cNvPr id="23" name="Text 21"/>
          <p:cNvSpPr txBox="1"/>
          <p:nvPr/>
        </p:nvSpPr>
        <p:spPr>
          <a:xfrm>
            <a:off x="6492240" y="2148840"/>
            <a:ext cx="4846320" cy="2194560"/>
          </a:xfrm>
          <a:prstGeom prst="rect">
            <a:avLst/>
          </a:prstGeom>
          <a:noFill/>
          <a:ln/>
        </p:spPr>
        <p:txBody>
          <a:bodyPr wrap="square" lIns="0" tIns="0" rIns="0" bIns="0" rtlCol="0" anchor="t"/>
          <a:lstStyle/>
          <a:p>
            <a:pPr marL="342900" indent="-342900">
              <a:spcAft>
                <a:spcPts val="600"/>
              </a:spcAft>
              <a:buSzPct val="100000"/>
              <a:buChar char="•"/>
            </a:pPr>
            <a:r>
              <a:rPr lang="en-US" sz="1500" b="1" dirty="0">
                <a:solidFill>
                  <a:schemeClr val="bg1"/>
                </a:solidFill>
                <a:latin typeface="Calibri" pitchFamily="34" charset="0"/>
                <a:ea typeface="Calibri" pitchFamily="34" charset="-122"/>
                <a:cs typeface="Calibri" pitchFamily="34" charset="-120"/>
              </a:rPr>
              <a:t>Agentic workflows can diagnose smartly from data we already have: improve the human workflow, don't reinvent the tools</a:t>
            </a:r>
            <a:endParaRPr lang="en-US" sz="1500" dirty="0"/>
          </a:p>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Keep the model's job narrow: rules ranked the right cause in all 7 recorded cases, with or without the model</a:t>
            </a:r>
            <a:endParaRPr lang="en-US" sz="1500" dirty="0"/>
          </a:p>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Position AI as a copilot that explains, not a system that predicts</a:t>
            </a:r>
            <a:endParaRPr lang="en-US" sz="1500" dirty="0"/>
          </a:p>
        </p:txBody>
      </p:sp>
      <p:sp>
        <p:nvSpPr>
          <p:cNvPr id="24" name="Text 22"/>
          <p:cNvSpPr txBox="1"/>
          <p:nvPr/>
        </p:nvSpPr>
        <p:spPr>
          <a:xfrm>
            <a:off x="6492240" y="4526280"/>
            <a:ext cx="1828800" cy="274320"/>
          </a:xfrm>
          <a:prstGeom prst="rect">
            <a:avLst/>
          </a:prstGeom>
          <a:noFill/>
          <a:ln/>
        </p:spPr>
        <p:txBody>
          <a:bodyPr wrap="square" lIns="0" tIns="0" rIns="0" bIns="0" rtlCol="0" anchor="t"/>
          <a:lstStyle/>
          <a:p>
            <a:pPr indent="0" marL="0">
              <a:buNone/>
            </a:pPr>
            <a:r>
              <a:rPr lang="en-US" sz="1200" b="1" spc="200" kern="0" dirty="0">
                <a:solidFill>
                  <a:schemeClr val="tx2"/>
                </a:solidFill>
                <a:latin typeface="Calibri" pitchFamily="34" charset="0"/>
                <a:ea typeface="Calibri" pitchFamily="34" charset="-122"/>
                <a:cs typeface="Calibri" pitchFamily="34" charset="-120"/>
              </a:rPr>
              <a:t>NEXT</a:t>
            </a:r>
            <a:endParaRPr lang="en-US" sz="1200" dirty="0"/>
          </a:p>
        </p:txBody>
      </p:sp>
      <p:sp>
        <p:nvSpPr>
          <p:cNvPr id="25" name="Text 23"/>
          <p:cNvSpPr txBox="1"/>
          <p:nvPr/>
        </p:nvSpPr>
        <p:spPr>
          <a:xfrm>
            <a:off x="6492240" y="4846320"/>
            <a:ext cx="4846320" cy="12344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Pilot on one real OpenShift cluster with real Splunk, SolarWinds and GAIA</a:t>
            </a:r>
            <a:endParaRPr lang="en-US" sz="1500" dirty="0"/>
          </a:p>
          <a:p>
            <a:pPr marL="342900" indent="-342900">
              <a:spcAft>
                <a:spcPts val="600"/>
              </a:spcAft>
              <a:buSzPct val="100000"/>
              <a:buChar char="•"/>
            </a:pPr>
            <a:r>
              <a:rPr lang="en-US" sz="1500" dirty="0">
                <a:solidFill>
                  <a:schemeClr val="bg1"/>
                </a:solidFill>
                <a:latin typeface="Calibri" pitchFamily="34" charset="0"/>
                <a:ea typeface="Calibri" pitchFamily="34" charset="-122"/>
                <a:cs typeface="Calibri" pitchFamily="34" charset="-120"/>
              </a:rPr>
              <a:t>Score GAIA with the same eval; add playbooks and domains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WatchTower Pitch">
  <a:themeElements>
    <a:clrScheme name="WatchTower Pitch">
      <a:dk1>
        <a:srgbClr val="0E1B2E"/>
      </a:dk1>
      <a:lt1>
        <a:srgbClr val="FFFFFF"/>
      </a:lt1>
      <a:dk2>
        <a:srgbClr val="9FB3C8"/>
      </a:dk2>
      <a:lt2>
        <a:srgbClr val="16273F"/>
      </a:lt2>
      <a:accent1>
        <a:srgbClr val="22D3EE"/>
      </a:accent1>
      <a:accent2>
        <a:srgbClr val="1E3A5A"/>
      </a:accent2>
      <a:accent3>
        <a:srgbClr val="2B4A6F"/>
      </a:accent3>
      <a:accent4>
        <a:srgbClr val="0B1524"/>
      </a:accent4>
      <a:accent5>
        <a:srgbClr val="CFE3EA"/>
      </a:accent5>
      <a:accent6>
        <a:srgbClr val="67E8F9"/>
      </a:accent6>
      <a:hlink>
        <a:srgbClr val="22D3EE"/>
      </a:hlink>
      <a:folHlink>
        <a:srgbClr val="9FB3C8"/>
      </a:folHlink>
    </a:clrScheme>
    <a:fontScheme name="WatchTower Pitch">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WatchTower: AI Builder's Day pitch</dc:title>
  <dc:subject>PptxGenJS Presentation</dc:subject>
  <dc:creator>YH</dc:creator>
  <cp:lastModifiedBy>YH</cp:lastModifiedBy>
  <cp:revision>1</cp:revision>
  <dcterms:created xsi:type="dcterms:W3CDTF">2026-10-13T13:10:30Z</dcterms:created>
  <dcterms:modified xsi:type="dcterms:W3CDTF">2026-10-13T13:10:30Z</dcterms:modified>
</cp:coreProperties>
</file>